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6" r:id="rId1"/>
  </p:sldMasterIdLst>
  <p:notesMasterIdLst>
    <p:notesMasterId r:id="rId31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59" r:id="rId9"/>
    <p:sldId id="266" r:id="rId10"/>
    <p:sldId id="267" r:id="rId11"/>
    <p:sldId id="268" r:id="rId12"/>
    <p:sldId id="264" r:id="rId13"/>
    <p:sldId id="269" r:id="rId14"/>
    <p:sldId id="270" r:id="rId15"/>
    <p:sldId id="276" r:id="rId16"/>
    <p:sldId id="282" r:id="rId17"/>
    <p:sldId id="277" r:id="rId18"/>
    <p:sldId id="273" r:id="rId19"/>
    <p:sldId id="274" r:id="rId20"/>
    <p:sldId id="275" r:id="rId21"/>
    <p:sldId id="283" r:id="rId22"/>
    <p:sldId id="284" r:id="rId23"/>
    <p:sldId id="278" r:id="rId24"/>
    <p:sldId id="286" r:id="rId25"/>
    <p:sldId id="279" r:id="rId26"/>
    <p:sldId id="280" r:id="rId27"/>
    <p:sldId id="281" r:id="rId28"/>
    <p:sldId id="287" r:id="rId29"/>
    <p:sldId id="288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2204CC-0591-0449-B39A-DA7C0F8B750F}" type="datetimeFigureOut">
              <a:rPr lang="en-US" smtClean="0"/>
              <a:t>8/15/24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7E57FA-5126-5244-88AB-5D6B6692A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592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6CAAA71-47E5-8246-B286-AFD2EDA13738}" type="slidenum">
              <a:rPr lang="en-US">
                <a:latin typeface="Arial" charset="0"/>
              </a:rPr>
              <a:pPr/>
              <a:t>4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</a:endParaRPr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9E368C6D-BEA0-AC41-9FF4-F0B00F3DDC36}" type="slidenum">
              <a:rPr lang="en-US">
                <a:latin typeface="Arial" charset="0"/>
              </a:rPr>
              <a:pPr/>
              <a:t>5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9A3D43B-D179-3642-B8F9-C714CA864664}" type="slidenum">
              <a:rPr lang="en-US">
                <a:latin typeface="Arial" charset="0"/>
              </a:rPr>
              <a:pPr/>
              <a:t>6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</a:endParaRP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1F9A683-7E68-AA4A-828B-BA429396833C}" type="slidenum">
              <a:rPr lang="en-US">
                <a:latin typeface="Arial" charset="0"/>
              </a:rPr>
              <a:pPr/>
              <a:t>7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</a:endParaRPr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9D1DC77-15AF-4842-8FD0-353A2B6DA840}" type="slidenum">
              <a:rPr lang="en-US">
                <a:latin typeface="Arial" charset="0"/>
              </a:rPr>
              <a:pPr/>
              <a:t>9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</a:endParaRPr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0AC39CD8-EEF4-244E-B38C-FA02FC316BFA}" type="slidenum">
              <a:rPr lang="en-US">
                <a:latin typeface="Arial" charset="0"/>
              </a:rPr>
              <a:pPr/>
              <a:t>10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947BC8A7-0976-A541-B1B8-0EABFFD151BE}" type="slidenum">
              <a:rPr lang="en-US">
                <a:latin typeface="Arial" charset="0"/>
              </a:rPr>
              <a:pPr/>
              <a:t>11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</a:endParaRPr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5D28D21B-50CA-EB4D-AFEB-978250537960}" type="slidenum">
              <a:rPr lang="en-US">
                <a:latin typeface="Arial" charset="0"/>
              </a:rPr>
              <a:pPr/>
              <a:t>12</a:t>
            </a:fld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63402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</a:endParaRPr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880DF84-588D-1E49-B765-8CEBEDAB9D5C}" type="slidenum">
              <a:rPr lang="en-US">
                <a:latin typeface="Arial" charset="0"/>
              </a:rPr>
              <a:pPr/>
              <a:t>13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997347C3-6729-0D4C-BAF5-87A73FE96FEE}" type="slidenum">
              <a:rPr lang="en-US">
                <a:latin typeface="Arial" charset="0"/>
              </a:rPr>
              <a:pPr/>
              <a:t>14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</a:endParaRPr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DF4F2E0C-04A6-B147-9A67-0C873A3B30AC}" type="slidenum">
              <a:rPr lang="en-US">
                <a:latin typeface="Arial" charset="0"/>
              </a:rPr>
              <a:pPr/>
              <a:t>15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</a:endParaRPr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DF4F2E0C-04A6-B147-9A67-0C873A3B30AC}" type="slidenum">
              <a:rPr lang="en-US">
                <a:latin typeface="Arial" charset="0"/>
              </a:rPr>
              <a:pPr/>
              <a:t>16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</a:endParaRPr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99908AC-09BD-0241-AC71-A087F2C582EA}" type="slidenum">
              <a:rPr lang="en-US">
                <a:latin typeface="Arial" charset="0"/>
              </a:rPr>
              <a:pPr/>
              <a:t>17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</a:endParaRPr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59A8D91A-5CC6-154E-AE82-5C57BB493A33}" type="slidenum">
              <a:rPr lang="en-US">
                <a:latin typeface="Arial" charset="0"/>
              </a:rPr>
              <a:pPr/>
              <a:t>18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</a:endParaRPr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4C02201-03C5-7A4A-9810-1A7970EED20C}" type="slidenum">
              <a:rPr lang="en-US">
                <a:latin typeface="Arial" charset="0"/>
              </a:rPr>
              <a:pPr/>
              <a:t>19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</a:endParaRPr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9A051E5A-46A9-004B-8B88-209AD45860C0}" type="slidenum">
              <a:rPr lang="en-US">
                <a:latin typeface="Arial" charset="0"/>
              </a:rPr>
              <a:pPr/>
              <a:t>20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</a:endParaRPr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D35CF02A-A0B7-5349-A4C2-944EC1433177}" type="slidenum">
              <a:rPr lang="en-US">
                <a:latin typeface="Arial" charset="0"/>
              </a:rPr>
              <a:pPr/>
              <a:t>23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</a:endParaRPr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E8CAEC2-6ED8-AE42-8C1C-D7F410FCB6CE}" type="slidenum">
              <a:rPr lang="en-US">
                <a:latin typeface="Arial" charset="0"/>
              </a:rPr>
              <a:pPr/>
              <a:t>24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</a:endParaRPr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E8CAEC2-6ED8-AE42-8C1C-D7F410FCB6CE}" type="slidenum">
              <a:rPr lang="en-US">
                <a:latin typeface="Arial" charset="0"/>
              </a:rPr>
              <a:pPr/>
              <a:t>25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80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</a:endParaRPr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8A46B4A5-7867-2D4C-939F-A10C2C06A66A}" type="slidenum">
              <a:rPr lang="en-US">
                <a:latin typeface="Arial" charset="0"/>
              </a:rPr>
              <a:pPr/>
              <a:t>26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</a:endParaRPr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A75CF42-A307-F84E-9484-3218861E9FFB}" type="slidenum">
              <a:rPr lang="en-US">
                <a:latin typeface="Arial" charset="0"/>
              </a:rPr>
              <a:pPr/>
              <a:t>27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85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</a:endParaRPr>
          </a:p>
        </p:txBody>
      </p:sp>
      <p:sp>
        <p:nvSpPr>
          <p:cNvPr id="1085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68E1011-CD91-5E40-832C-D0458AF6B44E}" type="slidenum">
              <a:rPr lang="en-US">
                <a:latin typeface="Arial" charset="0"/>
              </a:rPr>
              <a:pPr/>
              <a:t>28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0738" y="4155141"/>
            <a:ext cx="7542212" cy="1013012"/>
          </a:xfrm>
        </p:spPr>
        <p:txBody>
          <a:bodyPr anchor="b" anchorCtr="0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0738" y="5230906"/>
            <a:ext cx="7542212" cy="1030942"/>
          </a:xfrm>
        </p:spPr>
        <p:txBody>
          <a:bodyPr/>
          <a:lstStyle>
            <a:lvl1pPr marL="0" indent="0" algn="ctr">
              <a:spcBef>
                <a:spcPct val="30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F99B-D3BC-934B-A51C-54FDA8ECC19A}" type="datetimeFigureOut">
              <a:rPr lang="en-US" smtClean="0"/>
              <a:t>8/15/24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7B0AA-AC8E-4463-ADAC-E87D09B82E4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MoleculeTrac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019" y="224679"/>
            <a:ext cx="5795963" cy="394337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F99B-D3BC-934B-A51C-54FDA8ECC19A}" type="datetimeFigureOut">
              <a:rPr lang="en-US" smtClean="0"/>
              <a:t>8/15/24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C49D-F796-7A4A-9F19-A82226C784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0737" y="1219013"/>
            <a:ext cx="7542213" cy="1958975"/>
          </a:xfrm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5200" b="1" kern="1200">
                <a:solidFill>
                  <a:schemeClr val="tx1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0737" y="3224213"/>
            <a:ext cx="7542213" cy="1500187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FontTx/>
              <a:buNone/>
              <a:defRPr sz="2400" b="1" kern="1200">
                <a:solidFill>
                  <a:schemeClr val="tx1">
                    <a:tint val="75000"/>
                  </a:schemeClr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F99B-D3BC-934B-A51C-54FDA8ECC19A}" type="datetimeFigureOut">
              <a:rPr lang="en-US" smtClean="0"/>
              <a:t>8/15/24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C49D-F796-7A4A-9F19-A82226C784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7"/>
            <a:ext cx="7581901" cy="16539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9462" y="1892301"/>
            <a:ext cx="3657600" cy="39751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173288" indent="-344488">
              <a:defRPr sz="1800"/>
            </a:lvl6pPr>
            <a:lvl7pPr marL="2173288" indent="-344488">
              <a:defRPr sz="1800"/>
            </a:lvl7pPr>
            <a:lvl8pPr marL="2173288" indent="-344488">
              <a:defRPr sz="1800"/>
            </a:lvl8pPr>
            <a:lvl9pPr marL="2173288" indent="-344488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3763" y="1892301"/>
            <a:ext cx="3657600" cy="39751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173288" indent="-344488">
              <a:defRPr sz="1800"/>
            </a:lvl6pPr>
            <a:lvl7pPr marL="2173288" indent="-344488">
              <a:defRPr sz="1800"/>
            </a:lvl7pPr>
            <a:lvl8pPr marL="2173288" indent="-344488">
              <a:defRPr sz="1800"/>
            </a:lvl8pPr>
            <a:lvl9pPr marL="2173288" indent="-344488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F99B-D3BC-934B-A51C-54FDA8ECC19A}" type="datetimeFigureOut">
              <a:rPr lang="en-US" smtClean="0"/>
              <a:t>8/15/24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C49D-F796-7A4A-9F19-A82226C784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7"/>
            <a:ext cx="7581901" cy="16539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9462" y="1761565"/>
            <a:ext cx="3657600" cy="515469"/>
          </a:xfrm>
        </p:spPr>
        <p:txBody>
          <a:bodyPr anchor="b">
            <a:normAutofit/>
          </a:bodyPr>
          <a:lstStyle>
            <a:lvl1pPr marL="0" indent="0" algn="ctr">
              <a:spcBef>
                <a:spcPct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9462" y="2393575"/>
            <a:ext cx="3657600" cy="347382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173288" indent="-344488">
              <a:defRPr sz="1600"/>
            </a:lvl6pPr>
            <a:lvl7pPr marL="2173288" indent="-344488">
              <a:defRPr sz="1600"/>
            </a:lvl7pPr>
            <a:lvl8pPr marL="2173288" indent="-344488">
              <a:defRPr sz="1600"/>
            </a:lvl8pPr>
            <a:lvl9pPr marL="2173288" indent="-344488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3763" y="1761565"/>
            <a:ext cx="3657600" cy="515469"/>
          </a:xfrm>
        </p:spPr>
        <p:txBody>
          <a:bodyPr anchor="b">
            <a:normAutofit/>
          </a:bodyPr>
          <a:lstStyle>
            <a:lvl1pPr marL="0" indent="0" algn="ctr">
              <a:spcBef>
                <a:spcPct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3763" y="2393575"/>
            <a:ext cx="3657600" cy="347382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173288" indent="-344488">
              <a:defRPr sz="1600"/>
            </a:lvl6pPr>
            <a:lvl7pPr marL="2173288" indent="-344488">
              <a:defRPr sz="1600"/>
            </a:lvl7pPr>
            <a:lvl8pPr marL="2173288" indent="-344488">
              <a:defRPr sz="1600"/>
            </a:lvl8pPr>
            <a:lvl9pPr marL="2173288" indent="-344488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F99B-D3BC-934B-A51C-54FDA8ECC19A}" type="datetimeFigureOut">
              <a:rPr lang="en-US" smtClean="0"/>
              <a:t>8/15/24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C49D-F796-7A4A-9F19-A82226C784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F99B-D3BC-934B-A51C-54FDA8ECC19A}" type="datetimeFigureOut">
              <a:rPr lang="en-US" smtClean="0"/>
              <a:t>8/15/24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C49D-F796-7A4A-9F19-A82226C784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F99B-D3BC-934B-A51C-54FDA8ECC19A}" type="datetimeFigureOut">
              <a:rPr lang="en-US" smtClean="0"/>
              <a:t>8/15/24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C49D-F796-7A4A-9F19-A82226C784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929" y="457201"/>
            <a:ext cx="3566160" cy="1371600"/>
          </a:xfrm>
        </p:spPr>
        <p:txBody>
          <a:bodyPr anchor="b">
            <a:normAutofit/>
          </a:bodyPr>
          <a:lstStyle>
            <a:lvl1pPr algn="ctr">
              <a:defRPr sz="3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2393" y="457201"/>
            <a:ext cx="3566160" cy="5410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 marL="2173288" indent="-344488">
              <a:defRPr lang="en-US" sz="1800" b="1" kern="1200" dirty="0" smtClean="0">
                <a:solidFill>
                  <a:schemeClr val="tx1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+mn-lt"/>
                <a:ea typeface="+mn-ea"/>
                <a:cs typeface="+mn-cs"/>
              </a:defRPr>
            </a:lvl6pPr>
            <a:lvl7pPr marL="2173288" indent="-344488">
              <a:defRPr lang="en-US" sz="1800" b="1" kern="1200" dirty="0" smtClean="0">
                <a:solidFill>
                  <a:schemeClr val="tx1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+mn-lt"/>
                <a:ea typeface="+mn-ea"/>
                <a:cs typeface="+mn-cs"/>
              </a:defRPr>
            </a:lvl7pPr>
            <a:lvl8pPr marL="2173288" indent="-344488">
              <a:defRPr lang="en-US" sz="1800" b="1" kern="1200" dirty="0" smtClean="0">
                <a:solidFill>
                  <a:schemeClr val="tx1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+mn-lt"/>
                <a:ea typeface="+mn-ea"/>
                <a:cs typeface="+mn-cs"/>
              </a:defRPr>
            </a:lvl8pPr>
            <a:lvl9pPr marL="2173288" indent="-344488">
              <a:defRPr sz="1800" b="1" kern="1200" dirty="0">
                <a:solidFill>
                  <a:schemeClr val="tx1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929" y="1828801"/>
            <a:ext cx="3566160" cy="3657600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F99B-D3BC-934B-A51C-54FDA8ECC19A}" type="datetimeFigureOut">
              <a:rPr lang="en-US" smtClean="0"/>
              <a:t>8/15/24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C49D-F796-7A4A-9F19-A82226C784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457200"/>
            <a:ext cx="3566160" cy="1371600"/>
          </a:xfrm>
        </p:spPr>
        <p:txBody>
          <a:bodyPr anchor="b">
            <a:normAutofit/>
          </a:bodyPr>
          <a:lstStyle>
            <a:lvl1pPr algn="ctr">
              <a:defRPr sz="3600" b="1" kern="1200">
                <a:solidFill>
                  <a:schemeClr val="tx1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266765" y="1676400"/>
            <a:ext cx="2975610" cy="2975610"/>
          </a:xfrm>
          <a:prstGeom prst="ellipse">
            <a:avLst/>
          </a:prstGeom>
          <a:solidFill>
            <a:schemeClr val="tx1">
              <a:lumMod val="75000"/>
            </a:schemeClr>
          </a:solidFill>
          <a:ln w="63500">
            <a:solidFill>
              <a:schemeClr val="tx1"/>
            </a:solidFill>
          </a:ln>
          <a:effectLst>
            <a:outerShdw blurRad="254000" dist="152400" dir="5400000" sx="90000" sy="-19000" rotWithShape="0">
              <a:prstClr val="black">
                <a:alpha val="2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7240" y="1828800"/>
            <a:ext cx="3566160" cy="365760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spcBef>
                <a:spcPts val="600"/>
              </a:spcBef>
              <a:buNone/>
              <a:defRPr sz="2000" b="1" kern="1200">
                <a:solidFill>
                  <a:schemeClr val="tx1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F99B-D3BC-934B-A51C-54FDA8ECC19A}" type="datetimeFigureOut">
              <a:rPr lang="en-US" smtClean="0"/>
              <a:t>8/15/24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C49D-F796-7A4A-9F19-A82226C784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3962399"/>
            <a:ext cx="7585710" cy="672353"/>
          </a:xfrm>
        </p:spPr>
        <p:txBody>
          <a:bodyPr anchor="b">
            <a:normAutofit/>
          </a:bodyPr>
          <a:lstStyle>
            <a:lvl1pPr algn="ctr">
              <a:defRPr sz="3600" b="1" kern="1200">
                <a:solidFill>
                  <a:schemeClr val="tx1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101957" y="457200"/>
            <a:ext cx="2940087" cy="2940087"/>
          </a:xfrm>
          <a:prstGeom prst="ellipse">
            <a:avLst/>
          </a:prstGeom>
          <a:solidFill>
            <a:schemeClr val="tx1">
              <a:lumMod val="75000"/>
            </a:schemeClr>
          </a:solidFill>
          <a:ln w="63500">
            <a:solidFill>
              <a:schemeClr val="tx1"/>
            </a:solidFill>
          </a:ln>
          <a:effectLst>
            <a:outerShdw blurRad="254000" dist="152400" dir="5400000" sx="90000" sy="-19000" rotWithShape="0">
              <a:prstClr val="black">
                <a:alpha val="2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2000"/>
              </a:spcBef>
              <a:buFontTx/>
              <a:buNone/>
              <a:defRPr sz="2400" b="1" kern="1200">
                <a:solidFill>
                  <a:schemeClr val="tx1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7240" y="4639235"/>
            <a:ext cx="7585710" cy="137160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2000" b="1" kern="1200">
                <a:solidFill>
                  <a:schemeClr val="tx1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F99B-D3BC-934B-A51C-54FDA8ECC19A}" type="datetimeFigureOut">
              <a:rPr lang="en-US" smtClean="0"/>
              <a:t>8/15/24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C49D-F796-7A4A-9F19-A82226C784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F99B-D3BC-934B-A51C-54FDA8ECC19A}" type="datetimeFigureOut">
              <a:rPr lang="en-US" smtClean="0"/>
              <a:t>8/15/24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C49D-F796-7A4A-9F19-A82226C784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19365" y="416859"/>
            <a:ext cx="1940859" cy="5607424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20737" y="414015"/>
            <a:ext cx="6144839" cy="5610268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F99B-D3BC-934B-A51C-54FDA8ECC19A}" type="datetimeFigureOut">
              <a:rPr lang="en-US" smtClean="0"/>
              <a:t>8/15/24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C49D-F796-7A4A-9F19-A82226C784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457200" y="1981200"/>
            <a:ext cx="40386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40386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2005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Principles of Human Anatomy and Physiology, 11e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BFBCBA-5294-D548-ACAC-1FC3AC04E72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94392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82296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4114800"/>
            <a:ext cx="82296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2005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Principles of Human Anatomy and Physiology, 11e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02E47D-AD7A-5046-8A7A-BF6CCFB2601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381952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40386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2005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Principles of Human Anatomy and Physiology, 11e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A8440D-EE3A-A64E-9C47-D60DB2F887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524403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idOverlay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solidFill>
            <a:schemeClr val="bg2">
              <a:lumMod val="60000"/>
              <a:lumOff val="40000"/>
              <a:alpha val="10000"/>
            </a:schemeClr>
          </a:solidFill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9462" y="107577"/>
            <a:ext cx="7581901" cy="16539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9462" y="1882588"/>
            <a:ext cx="7581901" cy="3953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51812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</a:defRPr>
            </a:lvl1pPr>
          </a:lstStyle>
          <a:p>
            <a:fld id="{F958F99B-D3BC-934B-A51C-54FDA8ECC19A}" type="datetimeFigureOut">
              <a:rPr lang="en-US" smtClean="0"/>
              <a:t>8/15/24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06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1000" y="6356350"/>
            <a:ext cx="76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</a:defRPr>
            </a:lvl1pPr>
          </a:lstStyle>
          <a:p>
            <a:fld id="{8373C49D-F796-7A4A-9F19-A82226C784B9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  <p:sldLayoutId id="2147483888" r:id="rId12"/>
    <p:sldLayoutId id="2147483889" r:id="rId13"/>
    <p:sldLayoutId id="2147483890" r:id="rId14"/>
    <p:sldLayoutId id="2147483891" r:id="rId15"/>
  </p:sldLayoutIdLst>
  <p:txStyles>
    <p:titleStyle>
      <a:lvl1pPr algn="ctr" defTabSz="914400" rtl="0" eaLnBrk="1" latinLnBrk="0" hangingPunct="1">
        <a:spcBef>
          <a:spcPct val="0"/>
        </a:spcBef>
        <a:buNone/>
        <a:defRPr sz="5600" b="1" kern="1200">
          <a:solidFill>
            <a:schemeClr val="tx1"/>
          </a:solidFill>
          <a:effectLst>
            <a:outerShdw blurRad="101600" dist="63500" dir="2700000" algn="tl" rotWithShape="0">
              <a:prstClr val="black">
                <a:alpha val="75000"/>
              </a:prstClr>
            </a:outerShdw>
          </a:effectLst>
          <a:latin typeface="+mj-lt"/>
          <a:ea typeface="+mj-ea"/>
          <a:cs typeface="+mj-cs"/>
        </a:defRPr>
      </a:lvl1pPr>
    </p:titleStyle>
    <p:bodyStyle>
      <a:lvl1pPr marL="403225" indent="-403225" algn="l" defTabSz="914400" rtl="0" eaLnBrk="1" latinLnBrk="0" hangingPunct="1">
        <a:spcBef>
          <a:spcPts val="2000"/>
        </a:spcBef>
        <a:buFontTx/>
        <a:buBlip>
          <a:blip r:embed="rId18"/>
        </a:buBlip>
        <a:defRPr sz="2400" b="1" kern="1200">
          <a:solidFill>
            <a:schemeClr val="tx1"/>
          </a:solidFill>
          <a:effectLst>
            <a:outerShdw blurRad="101600" dist="63500" dir="2700000" algn="tl" rotWithShape="0">
              <a:prstClr val="black">
                <a:alpha val="75000"/>
              </a:prstClr>
            </a:outerShdw>
          </a:effectLst>
          <a:latin typeface="+mn-lt"/>
          <a:ea typeface="+mn-ea"/>
          <a:cs typeface="+mn-cs"/>
        </a:defRPr>
      </a:lvl1pPr>
      <a:lvl2pPr marL="806450" indent="-403225" algn="l" defTabSz="914400" rtl="0" eaLnBrk="1" latinLnBrk="0" hangingPunct="1">
        <a:spcBef>
          <a:spcPts val="600"/>
        </a:spcBef>
        <a:buFontTx/>
        <a:buBlip>
          <a:blip r:embed="rId18"/>
        </a:buBlip>
        <a:defRPr sz="2200" b="1" kern="1200">
          <a:solidFill>
            <a:schemeClr val="tx1"/>
          </a:solidFill>
          <a:effectLst>
            <a:outerShdw blurRad="101600" dist="63500" dir="2700000" algn="tl" rotWithShape="0">
              <a:prstClr val="black">
                <a:alpha val="75000"/>
              </a:prstClr>
            </a:outerShdw>
          </a:effectLst>
          <a:latin typeface="+mn-lt"/>
          <a:ea typeface="+mn-ea"/>
          <a:cs typeface="+mn-cs"/>
        </a:defRPr>
      </a:lvl2pPr>
      <a:lvl3pPr marL="1143000" indent="-336550" algn="l" defTabSz="914400" rtl="0" eaLnBrk="1" latinLnBrk="0" hangingPunct="1">
        <a:spcBef>
          <a:spcPts val="600"/>
        </a:spcBef>
        <a:buFontTx/>
        <a:buBlip>
          <a:blip r:embed="rId18"/>
        </a:buBlip>
        <a:defRPr sz="2000" b="1" kern="1200">
          <a:solidFill>
            <a:schemeClr val="tx1"/>
          </a:solidFill>
          <a:effectLst>
            <a:outerShdw blurRad="101600" dist="63500" dir="2700000" algn="tl" rotWithShape="0">
              <a:prstClr val="black">
                <a:alpha val="75000"/>
              </a:prstClr>
            </a:outerShdw>
          </a:effectLst>
          <a:latin typeface="+mn-lt"/>
          <a:ea typeface="+mn-ea"/>
          <a:cs typeface="+mn-cs"/>
        </a:defRPr>
      </a:lvl3pPr>
      <a:lvl4pPr marL="1492250" indent="-349250" algn="l" defTabSz="914400" rtl="0" eaLnBrk="1" latinLnBrk="0" hangingPunct="1">
        <a:spcBef>
          <a:spcPts val="600"/>
        </a:spcBef>
        <a:buFontTx/>
        <a:buBlip>
          <a:blip r:embed="rId18"/>
        </a:buBlip>
        <a:defRPr sz="1800" b="1" kern="1200">
          <a:solidFill>
            <a:schemeClr val="tx1"/>
          </a:solidFill>
          <a:effectLst>
            <a:outerShdw blurRad="101600" dist="63500" dir="2700000" algn="tl" rotWithShape="0">
              <a:prstClr val="black">
                <a:alpha val="75000"/>
              </a:prstClr>
            </a:outerShdw>
          </a:effectLst>
          <a:latin typeface="+mn-lt"/>
          <a:ea typeface="+mn-ea"/>
          <a:cs typeface="+mn-cs"/>
        </a:defRPr>
      </a:lvl4pPr>
      <a:lvl5pPr marL="1828800" indent="-336550" algn="l" defTabSz="914400" rtl="0" eaLnBrk="1" latinLnBrk="0" hangingPunct="1">
        <a:spcBef>
          <a:spcPts val="600"/>
        </a:spcBef>
        <a:buFontTx/>
        <a:buBlip>
          <a:blip r:embed="rId18"/>
        </a:buBlip>
        <a:defRPr sz="1800" b="1" kern="1200">
          <a:solidFill>
            <a:schemeClr val="tx1"/>
          </a:solidFill>
          <a:effectLst>
            <a:outerShdw blurRad="101600" dist="63500" dir="2700000" algn="tl" rotWithShape="0">
              <a:prstClr val="black">
                <a:alpha val="75000"/>
              </a:prstClr>
            </a:outerShdw>
          </a:effectLst>
          <a:latin typeface="+mn-lt"/>
          <a:ea typeface="+mn-ea"/>
          <a:cs typeface="+mn-cs"/>
        </a:defRPr>
      </a:lvl5pPr>
      <a:lvl6pPr marL="2173288" indent="-344488" algn="l" defTabSz="914400" rtl="0" eaLnBrk="1" latinLnBrk="0" hangingPunct="1">
        <a:spcBef>
          <a:spcPct val="20000"/>
        </a:spcBef>
        <a:buFontTx/>
        <a:buBlip>
          <a:blip r:embed="rId18"/>
        </a:buBlip>
        <a:defRPr lang="en-US" sz="1800" b="1" kern="1200" dirty="0" smtClean="0">
          <a:solidFill>
            <a:schemeClr val="tx1"/>
          </a:solidFill>
          <a:effectLst>
            <a:outerShdw blurRad="101600" dist="63500" dir="2700000" algn="tl" rotWithShape="0">
              <a:prstClr val="black">
                <a:alpha val="75000"/>
              </a:prstClr>
            </a:outerShdw>
          </a:effectLst>
          <a:latin typeface="+mn-lt"/>
          <a:ea typeface="+mn-ea"/>
          <a:cs typeface="+mn-cs"/>
        </a:defRPr>
      </a:lvl6pPr>
      <a:lvl7pPr marL="2516188" indent="-344488" algn="l" defTabSz="914400" rtl="0" eaLnBrk="1" latinLnBrk="0" hangingPunct="1">
        <a:spcBef>
          <a:spcPct val="20000"/>
        </a:spcBef>
        <a:buFontTx/>
        <a:buBlip>
          <a:blip r:embed="rId18"/>
        </a:buBlip>
        <a:defRPr lang="en-US" sz="1800" b="1" kern="1200" dirty="0" smtClean="0">
          <a:solidFill>
            <a:schemeClr val="tx1"/>
          </a:solidFill>
          <a:effectLst>
            <a:outerShdw blurRad="101600" dist="63500" dir="2700000" algn="tl" rotWithShape="0">
              <a:prstClr val="black">
                <a:alpha val="75000"/>
              </a:prstClr>
            </a:outerShdw>
          </a:effectLst>
          <a:latin typeface="+mn-lt"/>
          <a:ea typeface="+mn-ea"/>
          <a:cs typeface="+mn-cs"/>
        </a:defRPr>
      </a:lvl7pPr>
      <a:lvl8pPr marL="2860675" indent="-344488" algn="l" defTabSz="914400" rtl="0" eaLnBrk="1" latinLnBrk="0" hangingPunct="1">
        <a:spcBef>
          <a:spcPct val="20000"/>
        </a:spcBef>
        <a:buFontTx/>
        <a:buBlip>
          <a:blip r:embed="rId18"/>
        </a:buBlip>
        <a:defRPr lang="en-US" sz="1800" b="1" kern="1200" dirty="0" smtClean="0">
          <a:solidFill>
            <a:schemeClr val="tx1"/>
          </a:solidFill>
          <a:effectLst>
            <a:outerShdw blurRad="101600" dist="63500" dir="2700000" algn="tl" rotWithShape="0">
              <a:prstClr val="black">
                <a:alpha val="75000"/>
              </a:prstClr>
            </a:outerShdw>
          </a:effectLst>
          <a:latin typeface="+mn-lt"/>
          <a:ea typeface="+mn-ea"/>
          <a:cs typeface="+mn-cs"/>
        </a:defRPr>
      </a:lvl8pPr>
      <a:lvl9pPr marL="3205163" indent="-344488" algn="l" defTabSz="914400" rtl="0" eaLnBrk="1" latinLnBrk="0" hangingPunct="1">
        <a:spcBef>
          <a:spcPct val="20000"/>
        </a:spcBef>
        <a:buFontTx/>
        <a:buBlip>
          <a:blip r:embed="rId18"/>
        </a:buBlip>
        <a:defRPr lang="en-US" sz="1800" b="1" kern="1200" dirty="0">
          <a:solidFill>
            <a:schemeClr val="tx1"/>
          </a:solidFill>
          <a:effectLst>
            <a:outerShdw blurRad="101600" dist="63500" dir="2700000" algn="tl" rotWithShape="0">
              <a:prstClr val="black">
                <a:alpha val="75000"/>
              </a:prstClr>
            </a:outerShdw>
          </a:effectLst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2: Chemistry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518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this is BIOLOGY!!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524000"/>
            <a:ext cx="7620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586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Don’t Panic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363" y="2048509"/>
            <a:ext cx="7620000" cy="4419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5032" y="0"/>
            <a:ext cx="2013112" cy="2348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276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ACAE867C-C733-984C-8388-6E849D70105E}" type="slidenum">
              <a:rPr lang="en-US">
                <a:latin typeface="Arial" charset="0"/>
              </a:rPr>
              <a:pPr/>
              <a:t>4</a:t>
            </a:fld>
            <a:endParaRPr lang="en-US">
              <a:latin typeface="Arial" charset="0"/>
            </a:endParaRPr>
          </a:p>
        </p:txBody>
      </p:sp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>
                <a:latin typeface="Tahoma" charset="0"/>
              </a:rPr>
              <a:t>Basic Principles</a:t>
            </a:r>
          </a:p>
        </p:txBody>
      </p:sp>
      <p:sp>
        <p:nvSpPr>
          <p:cNvPr id="355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Char char="n"/>
              <a:defRPr/>
            </a:pPr>
            <a:r>
              <a:rPr lang="en-US" sz="2800" i="1" dirty="0">
                <a:ea typeface="+mn-ea"/>
              </a:rPr>
              <a:t>Chemistry</a:t>
            </a:r>
            <a:r>
              <a:rPr lang="en-US" sz="2800" dirty="0">
                <a:ea typeface="+mn-ea"/>
              </a:rPr>
              <a:t> is the science of the structure and interactions of matter.</a:t>
            </a:r>
          </a:p>
          <a:p>
            <a:pPr eaLnBrk="1" hangingPunct="1">
              <a:buFont typeface="Wingdings" pitchFamily="2" charset="2"/>
              <a:buChar char="n"/>
              <a:defRPr/>
            </a:pPr>
            <a:endParaRPr lang="en-US" sz="2800" dirty="0">
              <a:ea typeface="+mn-ea"/>
            </a:endParaRPr>
          </a:p>
          <a:p>
            <a:pPr eaLnBrk="1" hangingPunct="1">
              <a:buFont typeface="Wingdings" pitchFamily="2" charset="2"/>
              <a:buChar char="n"/>
              <a:defRPr/>
            </a:pPr>
            <a:r>
              <a:rPr lang="en-US" sz="2800" i="1" dirty="0">
                <a:ea typeface="+mn-ea"/>
              </a:rPr>
              <a:t>Matter</a:t>
            </a:r>
            <a:r>
              <a:rPr lang="en-US" sz="2800" dirty="0">
                <a:ea typeface="+mn-ea"/>
              </a:rPr>
              <a:t> is anything that occupies space and has mass.</a:t>
            </a:r>
            <a:endParaRPr lang="en-US" sz="2800" i="1" dirty="0">
              <a:ea typeface="+mn-ea"/>
            </a:endParaRPr>
          </a:p>
          <a:p>
            <a:pPr lvl="1" eaLnBrk="1" hangingPunct="1">
              <a:buFont typeface="Wingdings" pitchFamily="2" charset="2"/>
              <a:buChar char="n"/>
              <a:defRPr/>
            </a:pPr>
            <a:r>
              <a:rPr lang="en-US" sz="2400" i="1" dirty="0"/>
              <a:t>Mass</a:t>
            </a:r>
            <a:r>
              <a:rPr lang="en-US" sz="2400" dirty="0"/>
              <a:t> is the amount of matter a substance contains</a:t>
            </a:r>
          </a:p>
          <a:p>
            <a:pPr lvl="1" eaLnBrk="1" hangingPunct="1">
              <a:buFont typeface="Wingdings" pitchFamily="2" charset="2"/>
              <a:buChar char="n"/>
              <a:defRPr/>
            </a:pPr>
            <a:r>
              <a:rPr lang="en-US" sz="2400" i="1" dirty="0"/>
              <a:t>weight</a:t>
            </a:r>
            <a:r>
              <a:rPr lang="en-US" sz="2400" dirty="0"/>
              <a:t> is the force of gravity acting on a mass.</a:t>
            </a:r>
          </a:p>
          <a:p>
            <a:pPr lvl="1" eaLnBrk="1" hangingPunct="1">
              <a:buFont typeface="Wingdings" pitchFamily="2" charset="2"/>
              <a:buNone/>
              <a:defRPr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169446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A00945EC-4A94-264E-A26D-38A18BE43507}" type="slidenum">
              <a:rPr lang="en-US">
                <a:latin typeface="Arial" charset="0"/>
              </a:rPr>
              <a:pPr/>
              <a:t>5</a:t>
            </a:fld>
            <a:endParaRPr lang="en-US">
              <a:latin typeface="Arial" charset="0"/>
            </a:endParaRPr>
          </a:p>
        </p:txBody>
      </p:sp>
      <p:sp>
        <p:nvSpPr>
          <p:cNvPr id="3563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371600"/>
          </a:xfrm>
        </p:spPr>
        <p:txBody>
          <a:bodyPr/>
          <a:lstStyle/>
          <a:p>
            <a:pPr eaLnBrk="1" hangingPunct="1"/>
            <a:r>
              <a:rPr lang="en-US" sz="4000">
                <a:latin typeface="Tahoma" charset="0"/>
              </a:rPr>
              <a:t>HOW MATTER IS ORGANIZED</a:t>
            </a:r>
          </a:p>
        </p:txBody>
      </p:sp>
      <p:sp>
        <p:nvSpPr>
          <p:cNvPr id="356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 lnSpcReduction="10000"/>
          </a:bodyPr>
          <a:lstStyle/>
          <a:p>
            <a:pPr eaLnBrk="1" hangingPunct="1">
              <a:buFont typeface="Wingdings" pitchFamily="2" charset="2"/>
              <a:buChar char="n"/>
              <a:defRPr/>
            </a:pPr>
            <a:r>
              <a:rPr lang="en-US" sz="2800" dirty="0">
                <a:ea typeface="+mn-ea"/>
              </a:rPr>
              <a:t>Chemical Elements</a:t>
            </a:r>
          </a:p>
          <a:p>
            <a:pPr lvl="1" eaLnBrk="1" hangingPunct="1">
              <a:buFont typeface="Wingdings" pitchFamily="2" charset="2"/>
              <a:buChar char="n"/>
              <a:defRPr/>
            </a:pPr>
            <a:r>
              <a:rPr lang="en-US" sz="2400" dirty="0"/>
              <a:t>All forms of matter are composed of </a:t>
            </a:r>
            <a:r>
              <a:rPr lang="en-US" sz="2400" i="1" u="sng" dirty="0"/>
              <a:t>chemical elements</a:t>
            </a:r>
            <a:r>
              <a:rPr lang="en-US" sz="2400" u="sng" dirty="0"/>
              <a:t> </a:t>
            </a:r>
            <a:r>
              <a:rPr lang="en-US" sz="2400" dirty="0"/>
              <a:t>which are substances that cannot be split into simpler substances by ordinary chemical means.</a:t>
            </a:r>
          </a:p>
          <a:p>
            <a:pPr lvl="1" eaLnBrk="1" hangingPunct="1">
              <a:buFont typeface="Wingdings" pitchFamily="2" charset="2"/>
              <a:buChar char="n"/>
              <a:defRPr/>
            </a:pPr>
            <a:endParaRPr lang="en-US" sz="2400" dirty="0"/>
          </a:p>
          <a:p>
            <a:pPr lvl="1" eaLnBrk="1" hangingPunct="1">
              <a:buFont typeface="Wingdings" pitchFamily="2" charset="2"/>
              <a:buChar char="n"/>
              <a:defRPr/>
            </a:pPr>
            <a:r>
              <a:rPr lang="en-US" sz="2400" dirty="0"/>
              <a:t>Elements have abbreviations called </a:t>
            </a:r>
            <a:r>
              <a:rPr lang="en-US" sz="2400" i="1" dirty="0"/>
              <a:t>chemical symbols</a:t>
            </a:r>
            <a:r>
              <a:rPr lang="en-US" sz="2400" dirty="0"/>
              <a:t>.</a:t>
            </a:r>
          </a:p>
          <a:p>
            <a:pPr lvl="2" eaLnBrk="1" hangingPunct="1">
              <a:buFont typeface="Wingdings" pitchFamily="2" charset="2"/>
              <a:buChar char="n"/>
              <a:defRPr/>
            </a:pPr>
            <a:r>
              <a:rPr lang="en-US" sz="2000" dirty="0"/>
              <a:t>Oxygen (O), carbon (C), hydrogen (H), and nitrogen (N) make up 96% of body weight. </a:t>
            </a:r>
          </a:p>
          <a:p>
            <a:pPr lvl="2" eaLnBrk="1" hangingPunct="1">
              <a:buFont typeface="Wingdings" pitchFamily="2" charset="2"/>
              <a:buChar char="n"/>
              <a:defRPr/>
            </a:pPr>
            <a:r>
              <a:rPr lang="en-US" sz="2000" dirty="0"/>
              <a:t>These elements, together with calcium (Ca) and phosphorus (P) make up 98.5% of total body weight. </a:t>
            </a:r>
          </a:p>
          <a:p>
            <a:pPr lvl="2" eaLnBrk="1" hangingPunct="1">
              <a:buFont typeface="Wingdings" pitchFamily="2" charset="2"/>
              <a:buChar char="n"/>
              <a:defRPr/>
            </a:pPr>
            <a:endParaRPr lang="en-US" sz="2000" dirty="0"/>
          </a:p>
          <a:p>
            <a:pPr lvl="1" eaLnBrk="1" hangingPunct="1">
              <a:buFont typeface="Wingdings" pitchFamily="2" charset="2"/>
              <a:buChar char="n"/>
              <a:defRPr/>
            </a:pPr>
            <a:r>
              <a:rPr lang="en-US" sz="2400" dirty="0"/>
              <a:t>Trace elements are present in tiny amounts </a:t>
            </a:r>
          </a:p>
          <a:p>
            <a:pPr lvl="2" eaLnBrk="1" hangingPunct="1">
              <a:buFont typeface="Wingdings" pitchFamily="2" charset="2"/>
              <a:buChar char="n"/>
              <a:defRPr/>
            </a:pPr>
            <a:r>
              <a:rPr lang="en-US" sz="2000" dirty="0"/>
              <a:t>copper, tin, selenium &amp; zinc</a:t>
            </a:r>
          </a:p>
          <a:p>
            <a:pPr lvl="1" eaLnBrk="1" hangingPunct="1">
              <a:buFont typeface="Wingdings" pitchFamily="2" charset="2"/>
              <a:buChar char="n"/>
              <a:defRPr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10519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9267F613-7179-BC43-8C60-902D0BA8B974}" type="slidenum">
              <a:rPr lang="en-US">
                <a:latin typeface="Arial" charset="0"/>
              </a:rPr>
              <a:pPr/>
              <a:t>6</a:t>
            </a:fld>
            <a:endParaRPr lang="en-US">
              <a:latin typeface="Arial" charset="0"/>
            </a:endParaRPr>
          </a:p>
        </p:txBody>
      </p:sp>
      <p:pic>
        <p:nvPicPr>
          <p:cNvPr id="6147" name="Picture 7" descr="w0027-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333" t="29921" b="9772"/>
          <a:stretch>
            <a:fillRect/>
          </a:stretch>
        </p:blipFill>
        <p:spPr bwMode="auto">
          <a:xfrm>
            <a:off x="1219200" y="4495800"/>
            <a:ext cx="2187575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2" descr="w0027-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666" b="9772"/>
          <a:stretch>
            <a:fillRect/>
          </a:stretch>
        </p:blipFill>
        <p:spPr bwMode="auto">
          <a:xfrm>
            <a:off x="1219200" y="1447800"/>
            <a:ext cx="2209800" cy="307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3699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5562600" cy="914400"/>
          </a:xfrm>
        </p:spPr>
        <p:txBody>
          <a:bodyPr/>
          <a:lstStyle/>
          <a:p>
            <a:pPr eaLnBrk="1" hangingPunct="1"/>
            <a:r>
              <a:rPr lang="en-US" sz="4000">
                <a:latin typeface="Tahoma" charset="0"/>
              </a:rPr>
              <a:t>Structure of Atoms</a:t>
            </a:r>
          </a:p>
        </p:txBody>
      </p:sp>
      <p:sp>
        <p:nvSpPr>
          <p:cNvPr id="413700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3657600" y="914400"/>
            <a:ext cx="5486400" cy="53340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sz="2400">
                <a:latin typeface="Tahoma" charset="0"/>
              </a:rPr>
              <a:t>Atoms are the smallest units of matter that retain the properties of an element</a:t>
            </a:r>
          </a:p>
          <a:p>
            <a:pPr eaLnBrk="1" hangingPunct="1"/>
            <a:endParaRPr lang="en-US" sz="2400">
              <a:latin typeface="Tahoma" charset="0"/>
            </a:endParaRPr>
          </a:p>
          <a:p>
            <a:pPr eaLnBrk="1" hangingPunct="1"/>
            <a:r>
              <a:rPr lang="en-US" sz="2400">
                <a:latin typeface="Tahoma" charset="0"/>
              </a:rPr>
              <a:t>3 types of </a:t>
            </a:r>
            <a:r>
              <a:rPr lang="en-US" sz="2400" b="1" u="sng">
                <a:latin typeface="Tahoma" charset="0"/>
              </a:rPr>
              <a:t>subatomic particles</a:t>
            </a:r>
          </a:p>
          <a:p>
            <a:pPr lvl="1" eaLnBrk="1" hangingPunct="1"/>
            <a:r>
              <a:rPr lang="en-US" sz="2000">
                <a:latin typeface="Tahoma" charset="0"/>
              </a:rPr>
              <a:t>protons, neutrons and electrons</a:t>
            </a:r>
          </a:p>
          <a:p>
            <a:pPr lvl="1" eaLnBrk="1" hangingPunct="1"/>
            <a:endParaRPr lang="en-US" sz="2000">
              <a:latin typeface="Tahoma" charset="0"/>
            </a:endParaRPr>
          </a:p>
          <a:p>
            <a:pPr eaLnBrk="1" hangingPunct="1"/>
            <a:r>
              <a:rPr lang="en-US" sz="2400">
                <a:latin typeface="Tahoma" charset="0"/>
              </a:rPr>
              <a:t>Nucleus: protons (p+) &amp; neutrons (neutral charge)</a:t>
            </a:r>
          </a:p>
          <a:p>
            <a:pPr eaLnBrk="1" hangingPunct="1"/>
            <a:r>
              <a:rPr lang="en-US" sz="2400">
                <a:latin typeface="Tahoma" charset="0"/>
              </a:rPr>
              <a:t>Electrons (e-) surround the nucleus as a cloud (electron shells are designated regions of the cloud)</a:t>
            </a:r>
          </a:p>
        </p:txBody>
      </p:sp>
      <p:sp>
        <p:nvSpPr>
          <p:cNvPr id="6151" name="Line 5"/>
          <p:cNvSpPr>
            <a:spLocks noChangeShapeType="1"/>
          </p:cNvSpPr>
          <p:nvPr/>
        </p:nvSpPr>
        <p:spPr bwMode="auto">
          <a:xfrm flipH="1" flipV="1">
            <a:off x="2514600" y="3429000"/>
            <a:ext cx="1295400" cy="60960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2" name="Line 6"/>
          <p:cNvSpPr>
            <a:spLocks noChangeShapeType="1"/>
          </p:cNvSpPr>
          <p:nvPr/>
        </p:nvSpPr>
        <p:spPr bwMode="auto">
          <a:xfrm flipH="1">
            <a:off x="3124200" y="4648200"/>
            <a:ext cx="762000" cy="30480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90744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639E024-720E-BF42-A813-E765DA84AC94}" type="slidenum">
              <a:rPr lang="en-US">
                <a:latin typeface="Arial" charset="0"/>
              </a:rPr>
              <a:pPr/>
              <a:t>7</a:t>
            </a:fld>
            <a:endParaRPr lang="en-US">
              <a:latin typeface="Arial" charset="0"/>
            </a:endParaRPr>
          </a:p>
        </p:txBody>
      </p:sp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1143000"/>
          </a:xfrm>
        </p:spPr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Ions, Molecules, &amp; Compounds</a:t>
            </a:r>
          </a:p>
        </p:txBody>
      </p:sp>
      <p:sp>
        <p:nvSpPr>
          <p:cNvPr id="417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800600"/>
          </a:xfrm>
        </p:spPr>
        <p:txBody>
          <a:bodyPr/>
          <a:lstStyle/>
          <a:p>
            <a:pPr eaLnBrk="1" hangingPunct="1"/>
            <a:r>
              <a:rPr lang="en-US" dirty="0">
                <a:latin typeface="Tahoma" charset="0"/>
              </a:rPr>
              <a:t>Ions</a:t>
            </a:r>
          </a:p>
          <a:p>
            <a:pPr lvl="1" eaLnBrk="1" hangingPunct="1"/>
            <a:r>
              <a:rPr lang="en-US" dirty="0">
                <a:latin typeface="Tahoma" charset="0"/>
              </a:rPr>
              <a:t>an atom that gave up or gained an electron</a:t>
            </a:r>
          </a:p>
          <a:p>
            <a:pPr lvl="1" eaLnBrk="1" hangingPunct="1"/>
            <a:r>
              <a:rPr lang="en-US" dirty="0">
                <a:latin typeface="Tahoma" charset="0"/>
              </a:rPr>
              <a:t>written with its chemical symbol and (+) or (-)</a:t>
            </a:r>
          </a:p>
          <a:p>
            <a:pPr eaLnBrk="1" hangingPunct="1"/>
            <a:r>
              <a:rPr lang="en-US" dirty="0">
                <a:latin typeface="Tahoma" charset="0"/>
              </a:rPr>
              <a:t>Molecule</a:t>
            </a:r>
          </a:p>
          <a:p>
            <a:pPr lvl="1" eaLnBrk="1" hangingPunct="1"/>
            <a:r>
              <a:rPr lang="en-US" dirty="0">
                <a:latin typeface="Tahoma" charset="0"/>
              </a:rPr>
              <a:t>atoms share electrons</a:t>
            </a:r>
          </a:p>
          <a:p>
            <a:pPr lvl="1" eaLnBrk="1" hangingPunct="1"/>
            <a:r>
              <a:rPr lang="en-US" dirty="0">
                <a:latin typeface="Tahoma" charset="0"/>
              </a:rPr>
              <a:t>written as molecular formula showing the number of atoms of each element  (H</a:t>
            </a:r>
            <a:r>
              <a:rPr lang="en-US" sz="2000" baseline="-25000" dirty="0">
                <a:latin typeface="Tahoma" charset="0"/>
              </a:rPr>
              <a:t>2</a:t>
            </a:r>
            <a:r>
              <a:rPr lang="en-US" dirty="0">
                <a:latin typeface="Tahoma" charset="0"/>
              </a:rPr>
              <a:t>O)</a:t>
            </a:r>
          </a:p>
          <a:p>
            <a:pPr lvl="1" eaLnBrk="1" hangingPunct="1"/>
            <a:endParaRPr lang="en-US" dirty="0"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9612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-255247"/>
            <a:ext cx="7581901" cy="1653988"/>
          </a:xfrm>
        </p:spPr>
        <p:txBody>
          <a:bodyPr/>
          <a:lstStyle/>
          <a:p>
            <a:r>
              <a:rPr lang="en-US" dirty="0"/>
              <a:t>Chemical Bonds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1131025"/>
            <a:ext cx="5260374" cy="3953436"/>
          </a:xfrm>
        </p:spPr>
        <p:txBody>
          <a:bodyPr>
            <a:noAutofit/>
          </a:bodyPr>
          <a:lstStyle/>
          <a:p>
            <a:r>
              <a:rPr lang="en-US" sz="3200" dirty="0"/>
              <a:t>What are they?</a:t>
            </a:r>
          </a:p>
          <a:p>
            <a:r>
              <a:rPr lang="en-US" sz="3200" dirty="0"/>
              <a:t>Types</a:t>
            </a:r>
          </a:p>
          <a:p>
            <a:pPr lvl="1"/>
            <a:r>
              <a:rPr lang="en-US" sz="2800" dirty="0"/>
              <a:t>Ionic</a:t>
            </a:r>
          </a:p>
          <a:p>
            <a:pPr lvl="1"/>
            <a:r>
              <a:rPr lang="en-US" sz="2800" dirty="0"/>
              <a:t>Covalent</a:t>
            </a:r>
          </a:p>
          <a:p>
            <a:pPr lvl="1"/>
            <a:r>
              <a:rPr lang="en-US" sz="2800" dirty="0"/>
              <a:t>Polar covalent</a:t>
            </a:r>
          </a:p>
          <a:p>
            <a:pPr lvl="1"/>
            <a:r>
              <a:rPr lang="en-US" sz="2800" dirty="0"/>
              <a:t>Hydrogen</a:t>
            </a:r>
          </a:p>
          <a:p>
            <a:r>
              <a:rPr lang="en-US" sz="3200" dirty="0"/>
              <a:t>Water</a:t>
            </a:r>
          </a:p>
          <a:p>
            <a:r>
              <a:rPr lang="en-US" sz="3200" dirty="0"/>
              <a:t>pH</a:t>
            </a:r>
          </a:p>
          <a:p>
            <a:r>
              <a:rPr lang="en-US" sz="3200" dirty="0"/>
              <a:t>Chemical reactions</a:t>
            </a:r>
          </a:p>
        </p:txBody>
      </p:sp>
    </p:spTree>
    <p:extLst>
      <p:ext uri="{BB962C8B-B14F-4D97-AF65-F5344CB8AC3E}">
        <p14:creationId xmlns:p14="http://schemas.microsoft.com/office/powerpoint/2010/main" val="3476898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698689F-3F11-194D-A386-97AC71CB4A06}" type="slidenum">
              <a:rPr lang="en-US">
                <a:latin typeface="Arial" charset="0"/>
              </a:rPr>
              <a:pPr/>
              <a:t>9</a:t>
            </a:fld>
            <a:endParaRPr lang="en-US">
              <a:latin typeface="Arial" charset="0"/>
            </a:endParaRPr>
          </a:p>
        </p:txBody>
      </p:sp>
      <p:sp>
        <p:nvSpPr>
          <p:cNvPr id="36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Chemical Bonds</a:t>
            </a:r>
          </a:p>
        </p:txBody>
      </p:sp>
      <p:sp>
        <p:nvSpPr>
          <p:cNvPr id="361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9463" y="1882588"/>
            <a:ext cx="5338140" cy="3953436"/>
          </a:xfrm>
        </p:spPr>
        <p:txBody>
          <a:bodyPr>
            <a:normAutofit fontScale="92500"/>
          </a:bodyPr>
          <a:lstStyle/>
          <a:p>
            <a:pPr eaLnBrk="1" hangingPunct="1"/>
            <a:r>
              <a:rPr lang="en-US" dirty="0">
                <a:latin typeface="Tahoma" charset="0"/>
              </a:rPr>
              <a:t>The atoms of a molecule are held together by forces of attraction called </a:t>
            </a:r>
            <a:r>
              <a:rPr lang="en-US" i="1" dirty="0">
                <a:latin typeface="Tahoma" charset="0"/>
              </a:rPr>
              <a:t>chemical bonds</a:t>
            </a:r>
            <a:r>
              <a:rPr lang="en-US" dirty="0">
                <a:latin typeface="Tahoma" charset="0"/>
              </a:rPr>
              <a:t>.</a:t>
            </a:r>
          </a:p>
          <a:p>
            <a:pPr eaLnBrk="1" hangingPunct="1"/>
            <a:endParaRPr lang="en-US" dirty="0">
              <a:latin typeface="Tahoma" charset="0"/>
            </a:endParaRPr>
          </a:p>
          <a:p>
            <a:pPr eaLnBrk="1" hangingPunct="1"/>
            <a:r>
              <a:rPr lang="en-US" dirty="0">
                <a:latin typeface="Tahoma" charset="0"/>
              </a:rPr>
              <a:t>The likelihood that an atom will form a chemical bond with another atom depends on the number of electrons in its outermost shell, also called the </a:t>
            </a:r>
            <a:r>
              <a:rPr lang="en-US" i="1" dirty="0">
                <a:latin typeface="Tahoma" charset="0"/>
              </a:rPr>
              <a:t>valence</a:t>
            </a:r>
            <a:r>
              <a:rPr lang="en-US" dirty="0">
                <a:latin typeface="Tahoma" charset="0"/>
              </a:rPr>
              <a:t> shell.</a:t>
            </a:r>
          </a:p>
        </p:txBody>
      </p:sp>
    </p:spTree>
    <p:extLst>
      <p:ext uri="{BB962C8B-B14F-4D97-AF65-F5344CB8AC3E}">
        <p14:creationId xmlns:p14="http://schemas.microsoft.com/office/powerpoint/2010/main" val="2495109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D50092C-CDFB-6A49-8309-E68AA9B025F9}" type="slidenum">
              <a:rPr lang="en-US">
                <a:latin typeface="Arial" charset="0"/>
              </a:rPr>
              <a:pPr/>
              <a:t>10</a:t>
            </a:fld>
            <a:endParaRPr lang="en-US">
              <a:latin typeface="Arial" charset="0"/>
            </a:endParaRPr>
          </a:p>
        </p:txBody>
      </p:sp>
      <p:sp>
        <p:nvSpPr>
          <p:cNvPr id="3624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/>
          <a:lstStyle/>
          <a:p>
            <a:pPr eaLnBrk="1" hangingPunct="1"/>
            <a:r>
              <a:rPr lang="en-US" dirty="0"/>
              <a:t>Ionic Bonds</a:t>
            </a:r>
          </a:p>
        </p:txBody>
      </p:sp>
      <p:sp>
        <p:nvSpPr>
          <p:cNvPr id="362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3298" y="1201022"/>
            <a:ext cx="8910702" cy="4114800"/>
          </a:xfrm>
        </p:spPr>
        <p:txBody>
          <a:bodyPr>
            <a:noAutofit/>
          </a:bodyPr>
          <a:lstStyle/>
          <a:p>
            <a:pPr eaLnBrk="1" hangingPunct="1"/>
            <a:r>
              <a:rPr lang="en-US" sz="2800" dirty="0">
                <a:latin typeface="Tahoma" charset="0"/>
              </a:rPr>
              <a:t>When an atom loses or gains a valence electron, ions are formed </a:t>
            </a:r>
          </a:p>
          <a:p>
            <a:pPr eaLnBrk="1" hangingPunct="1"/>
            <a:r>
              <a:rPr lang="en-US" sz="2800" dirty="0">
                <a:latin typeface="Tahoma" charset="0"/>
              </a:rPr>
              <a:t>Positively and negatively charged ions are attracted to one another.</a:t>
            </a:r>
            <a:r>
              <a:rPr lang="en-US" sz="2800" i="1" dirty="0">
                <a:latin typeface="Tahoma" charset="0"/>
              </a:rPr>
              <a:t> </a:t>
            </a:r>
          </a:p>
          <a:p>
            <a:r>
              <a:rPr lang="en-US" sz="3200" u="sng" dirty="0" err="1">
                <a:latin typeface="Tahoma" charset="0"/>
              </a:rPr>
              <a:t>Cations</a:t>
            </a:r>
            <a:r>
              <a:rPr lang="en-US" sz="2800" dirty="0">
                <a:latin typeface="Tahoma" charset="0"/>
              </a:rPr>
              <a:t> are positively charged ions that have given up one or more electrons (they are electron donors).</a:t>
            </a:r>
          </a:p>
          <a:p>
            <a:r>
              <a:rPr lang="en-US" sz="3200" u="sng" dirty="0">
                <a:latin typeface="Tahoma" charset="0"/>
              </a:rPr>
              <a:t>Anions</a:t>
            </a:r>
            <a:r>
              <a:rPr lang="en-US" sz="2800" dirty="0">
                <a:latin typeface="Tahoma" charset="0"/>
              </a:rPr>
              <a:t> are negatively charged ions that have picked up one or more electrons that another atom has lost (they are electron acceptors).</a:t>
            </a:r>
          </a:p>
        </p:txBody>
      </p:sp>
    </p:spTree>
    <p:extLst>
      <p:ext uri="{BB962C8B-B14F-4D97-AF65-F5344CB8AC3E}">
        <p14:creationId xmlns:p14="http://schemas.microsoft.com/office/powerpoint/2010/main" val="1678118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884E1173-41D2-2B44-8E61-34D8A71421D8}" type="slidenum">
              <a:rPr lang="en-US">
                <a:latin typeface="Arial" charset="0"/>
              </a:rPr>
              <a:pPr/>
              <a:t>11</a:t>
            </a:fld>
            <a:endParaRPr lang="en-US">
              <a:latin typeface="Arial" charset="0"/>
            </a:endParaRPr>
          </a:p>
        </p:txBody>
      </p:sp>
      <p:sp>
        <p:nvSpPr>
          <p:cNvPr id="4229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dirty="0"/>
              <a:t>Covalent Bonds</a:t>
            </a:r>
          </a:p>
        </p:txBody>
      </p:sp>
      <p:sp>
        <p:nvSpPr>
          <p:cNvPr id="422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89172"/>
            <a:ext cx="4572000" cy="5067177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buFont typeface="Wingdings" pitchFamily="2" charset="2"/>
              <a:buChar char="n"/>
              <a:defRPr/>
            </a:pPr>
            <a:r>
              <a:rPr lang="en-US" sz="3200" dirty="0">
                <a:ea typeface="+mn-ea"/>
              </a:rPr>
              <a:t>Atoms share electrons to form covalent bonds</a:t>
            </a:r>
          </a:p>
          <a:p>
            <a:pPr>
              <a:lnSpc>
                <a:spcPct val="90000"/>
              </a:lnSpc>
              <a:buFont typeface="Wingdings" pitchFamily="2" charset="2"/>
              <a:buChar char="n"/>
              <a:defRPr/>
            </a:pPr>
            <a:r>
              <a:rPr lang="en-US" sz="3200" i="1" dirty="0"/>
              <a:t>Non-polar covalent bonds </a:t>
            </a:r>
            <a:r>
              <a:rPr lang="en-US" sz="3200" dirty="0"/>
              <a:t>share electrons equally</a:t>
            </a:r>
            <a:endParaRPr lang="en-US" sz="3200" b="1" dirty="0">
              <a:ea typeface="+mn-ea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Char char="n"/>
              <a:defRPr/>
            </a:pPr>
            <a:r>
              <a:rPr lang="en-US" sz="3200" b="1" i="1" dirty="0">
                <a:ea typeface="+mn-ea"/>
              </a:rPr>
              <a:t>Polar</a:t>
            </a:r>
            <a:r>
              <a:rPr lang="en-US" sz="3200" i="1" dirty="0">
                <a:ea typeface="+mn-ea"/>
              </a:rPr>
              <a:t> covalent bonds </a:t>
            </a:r>
            <a:r>
              <a:rPr lang="en-US" sz="3200" dirty="0">
                <a:ea typeface="+mn-ea"/>
              </a:rPr>
              <a:t>share electrons unequally between the atoms involved</a:t>
            </a:r>
          </a:p>
        </p:txBody>
      </p:sp>
      <p:pic>
        <p:nvPicPr>
          <p:cNvPr id="13317" name="Picture 4" descr="w0031-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2" r="12592"/>
          <a:stretch>
            <a:fillRect/>
          </a:stretch>
        </p:blipFill>
        <p:spPr bwMode="auto">
          <a:xfrm>
            <a:off x="4572000" y="1219200"/>
            <a:ext cx="4543425" cy="493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5327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FE702FA2-5C5E-724F-9207-065E553CA5EE}" type="slidenum">
              <a:rPr lang="en-US">
                <a:latin typeface="Arial" charset="0"/>
              </a:rPr>
              <a:pPr/>
              <a:t>12</a:t>
            </a:fld>
            <a:endParaRPr lang="en-US">
              <a:latin typeface="Arial" charset="0"/>
            </a:endParaRPr>
          </a:p>
        </p:txBody>
      </p:sp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>
          <a:xfrm>
            <a:off x="890588" y="152400"/>
            <a:ext cx="7362825" cy="1247060"/>
          </a:xfrm>
        </p:spPr>
        <p:txBody>
          <a:bodyPr/>
          <a:lstStyle/>
          <a:p>
            <a:pPr eaLnBrk="1" hangingPunct="1"/>
            <a:r>
              <a:rPr lang="en-US" sz="4000" dirty="0">
                <a:latin typeface="Tahoma" charset="0"/>
              </a:rPr>
              <a:t>Have you ever wondered what a free radical is?</a:t>
            </a:r>
          </a:p>
        </p:txBody>
      </p:sp>
      <p:sp>
        <p:nvSpPr>
          <p:cNvPr id="419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394222"/>
            <a:ext cx="8481206" cy="2667000"/>
          </a:xfrm>
        </p:spPr>
        <p:txBody>
          <a:bodyPr>
            <a:noAutofit/>
          </a:bodyPr>
          <a:lstStyle/>
          <a:p>
            <a:pPr eaLnBrk="1" hangingPunct="1">
              <a:buFont typeface="Wingdings" pitchFamily="2" charset="2"/>
              <a:buChar char="n"/>
              <a:defRPr/>
            </a:pPr>
            <a:r>
              <a:rPr lang="en-US" dirty="0">
                <a:ea typeface="+mn-ea"/>
              </a:rPr>
              <a:t>A </a:t>
            </a:r>
            <a:r>
              <a:rPr lang="en-US" i="1" dirty="0">
                <a:ea typeface="+mn-ea"/>
              </a:rPr>
              <a:t>free radical</a:t>
            </a:r>
            <a:r>
              <a:rPr lang="en-US" dirty="0">
                <a:ea typeface="+mn-ea"/>
              </a:rPr>
              <a:t> is an electrically charged atom or group of atoms with an unpaired electron in its outermost shell.</a:t>
            </a:r>
          </a:p>
          <a:p>
            <a:pPr eaLnBrk="1" hangingPunct="1">
              <a:buFont typeface="Wingdings" pitchFamily="2" charset="2"/>
              <a:buChar char="n"/>
              <a:defRPr/>
            </a:pPr>
            <a:r>
              <a:rPr lang="en-US" dirty="0">
                <a:ea typeface="+mn-ea"/>
              </a:rPr>
              <a:t>Unstable and highly reactive</a:t>
            </a:r>
            <a:r>
              <a:rPr lang="en-US" dirty="0"/>
              <a:t> BUT</a:t>
            </a:r>
            <a:r>
              <a:rPr lang="en-US" dirty="0">
                <a:ea typeface="+mn-ea"/>
              </a:rPr>
              <a:t> can become stable by</a:t>
            </a:r>
          </a:p>
          <a:p>
            <a:pPr lvl="1" eaLnBrk="1" hangingPunct="1">
              <a:buFont typeface="Wingdings" pitchFamily="2" charset="2"/>
              <a:buChar char="n"/>
              <a:defRPr/>
            </a:pPr>
            <a:r>
              <a:rPr lang="en-US" sz="1800" dirty="0"/>
              <a:t>  giving up an electron  OR</a:t>
            </a:r>
          </a:p>
          <a:p>
            <a:pPr lvl="1" eaLnBrk="1" hangingPunct="1">
              <a:buFont typeface="Wingdings" pitchFamily="2" charset="2"/>
              <a:buChar char="n"/>
              <a:defRPr/>
            </a:pPr>
            <a:r>
              <a:rPr lang="en-US" sz="1800" dirty="0"/>
              <a:t>taking an electron from another molecule (example: breaking apart important body molecules)</a:t>
            </a:r>
          </a:p>
          <a:p>
            <a:pPr eaLnBrk="1" hangingPunct="1">
              <a:buFont typeface="Wingdings" pitchFamily="2" charset="2"/>
              <a:buChar char="n"/>
              <a:defRPr/>
            </a:pPr>
            <a:r>
              <a:rPr lang="en-US" dirty="0">
                <a:ea typeface="+mn-ea"/>
              </a:rPr>
              <a:t>Antioxidants are substances that inactivate oxygen-derived free radicals</a:t>
            </a:r>
          </a:p>
          <a:p>
            <a:pPr eaLnBrk="1" hangingPunct="1">
              <a:buFont typeface="Wingdings" pitchFamily="2" charset="2"/>
              <a:buChar char="n"/>
              <a:defRPr/>
            </a:pPr>
            <a:endParaRPr lang="en-US" dirty="0">
              <a:ea typeface="+mn-ea"/>
            </a:endParaRPr>
          </a:p>
        </p:txBody>
      </p:sp>
      <p:pic>
        <p:nvPicPr>
          <p:cNvPr id="10245" name="Picture 4" descr="w0029-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4875213"/>
            <a:ext cx="6781800" cy="198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1602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D7D0358C-562A-8C44-80CC-9CA5ECE40467}" type="slidenum">
              <a:rPr lang="en-US">
                <a:latin typeface="Arial" charset="0"/>
              </a:rPr>
              <a:pPr/>
              <a:t>13</a:t>
            </a:fld>
            <a:endParaRPr lang="en-US">
              <a:latin typeface="Arial" charset="0"/>
            </a:endParaRPr>
          </a:p>
        </p:txBody>
      </p:sp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81454" y="152400"/>
            <a:ext cx="8962546" cy="1143000"/>
          </a:xfrm>
        </p:spPr>
        <p:txBody>
          <a:bodyPr/>
          <a:lstStyle/>
          <a:p>
            <a:pPr eaLnBrk="1" hangingPunct="1"/>
            <a:r>
              <a:rPr lang="en-US" dirty="0"/>
              <a:t>Classic Polar Covalent Bond</a:t>
            </a:r>
          </a:p>
        </p:txBody>
      </p:sp>
      <p:sp>
        <p:nvSpPr>
          <p:cNvPr id="4239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295400"/>
            <a:ext cx="8686800" cy="25908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dirty="0">
                <a:latin typeface="Tahoma" charset="0"/>
              </a:rPr>
              <a:t>In a water molecule, oxygen attracts the hydrogen electrons more strongly</a:t>
            </a:r>
            <a:endParaRPr lang="en-US" sz="3600" dirty="0">
              <a:latin typeface="Tahoma" charset="0"/>
            </a:endParaRPr>
          </a:p>
          <a:p>
            <a:pPr lvl="1" eaLnBrk="1" hangingPunct="1"/>
            <a:r>
              <a:rPr lang="en-US" sz="2800" dirty="0">
                <a:latin typeface="Tahoma" charset="0"/>
              </a:rPr>
              <a:t>Oxygen has greater electronegativity as indicated by the negative Greek delta sign.</a:t>
            </a:r>
          </a:p>
        </p:txBody>
      </p:sp>
      <p:pic>
        <p:nvPicPr>
          <p:cNvPr id="14341" name="Picture 4" descr="w0032-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810000"/>
            <a:ext cx="6781800" cy="293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024817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B5063C6-15E6-9F47-B771-CCAA29983F2A}" type="slidenum">
              <a:rPr lang="en-US">
                <a:latin typeface="Arial" charset="0"/>
              </a:rPr>
              <a:pPr/>
              <a:t>14</a:t>
            </a:fld>
            <a:endParaRPr lang="en-US">
              <a:latin typeface="Arial" charset="0"/>
            </a:endParaRPr>
          </a:p>
        </p:txBody>
      </p:sp>
      <p:sp>
        <p:nvSpPr>
          <p:cNvPr id="424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/>
          <a:lstStyle/>
          <a:p>
            <a:pPr eaLnBrk="1" hangingPunct="1"/>
            <a:r>
              <a:rPr lang="en-US" dirty="0"/>
              <a:t>Hydrogen Bonds</a:t>
            </a:r>
          </a:p>
        </p:txBody>
      </p:sp>
      <p:sp>
        <p:nvSpPr>
          <p:cNvPr id="424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699730"/>
            <a:ext cx="8382000" cy="2487928"/>
          </a:xfrm>
        </p:spPr>
        <p:txBody>
          <a:bodyPr>
            <a:normAutofit fontScale="62500" lnSpcReduction="20000"/>
          </a:bodyPr>
          <a:lstStyle/>
          <a:p>
            <a:pPr eaLnBrk="1" hangingPunct="1">
              <a:buFont typeface="Wingdings" charset="0"/>
              <a:buNone/>
            </a:pPr>
            <a:endParaRPr lang="en-US" dirty="0">
              <a:latin typeface="Tahoma" charset="0"/>
            </a:endParaRPr>
          </a:p>
          <a:p>
            <a:pPr eaLnBrk="1" hangingPunct="1"/>
            <a:r>
              <a:rPr lang="en-US" dirty="0">
                <a:latin typeface="Tahoma" charset="0"/>
              </a:rPr>
              <a:t>Approximately 5% as strong as covalent bonds</a:t>
            </a:r>
          </a:p>
          <a:p>
            <a:pPr eaLnBrk="1" hangingPunct="1"/>
            <a:r>
              <a:rPr lang="en-US" dirty="0">
                <a:latin typeface="Tahoma" charset="0"/>
              </a:rPr>
              <a:t>Large 3-D molecules are often held together by a </a:t>
            </a:r>
            <a:br>
              <a:rPr lang="en-US" dirty="0">
                <a:latin typeface="Tahoma" charset="0"/>
              </a:rPr>
            </a:br>
            <a:r>
              <a:rPr lang="en-US" dirty="0">
                <a:latin typeface="Tahoma" charset="0"/>
              </a:rPr>
              <a:t>large number of hydrogen bonds.</a:t>
            </a:r>
          </a:p>
          <a:p>
            <a:r>
              <a:rPr lang="en-US" i="1" dirty="0">
                <a:latin typeface="Tahoma" charset="0"/>
              </a:rPr>
              <a:t>Water</a:t>
            </a:r>
            <a:r>
              <a:rPr lang="en-US" dirty="0">
                <a:latin typeface="Tahoma" charset="0"/>
              </a:rPr>
              <a:t> is the most important and abundant inorganic compound in all living systems.</a:t>
            </a:r>
          </a:p>
          <a:p>
            <a:r>
              <a:rPr lang="en-US" dirty="0">
                <a:latin typeface="Tahoma" charset="0"/>
              </a:rPr>
              <a:t>An important property of water is its polarity. </a:t>
            </a:r>
          </a:p>
          <a:p>
            <a:pPr eaLnBrk="1" hangingPunct="1"/>
            <a:endParaRPr lang="en-US" dirty="0">
              <a:latin typeface="Tahoma" charset="0"/>
            </a:endParaRPr>
          </a:p>
        </p:txBody>
      </p:sp>
      <p:pic>
        <p:nvPicPr>
          <p:cNvPr id="15365" name="Picture 4" descr="w0033-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7370" y="3224372"/>
            <a:ext cx="4129259" cy="3314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19395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54AA0CC8-91D2-7A43-8CEE-0FCC1861A163}" type="slidenum">
              <a:rPr lang="en-US">
                <a:latin typeface="Arial" charset="0"/>
              </a:rPr>
              <a:pPr/>
              <a:t>15</a:t>
            </a:fld>
            <a:endParaRPr lang="en-US">
              <a:latin typeface="Arial" charset="0"/>
            </a:endParaRPr>
          </a:p>
        </p:txBody>
      </p:sp>
      <p:sp>
        <p:nvSpPr>
          <p:cNvPr id="372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Tahoma" charset="0"/>
              </a:rPr>
              <a:t>Properties of Water</a:t>
            </a:r>
          </a:p>
        </p:txBody>
      </p:sp>
      <p:sp>
        <p:nvSpPr>
          <p:cNvPr id="372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9462" y="2115832"/>
            <a:ext cx="8364537" cy="3953436"/>
          </a:xfrm>
        </p:spPr>
        <p:txBody>
          <a:bodyPr>
            <a:normAutofit/>
          </a:bodyPr>
          <a:lstStyle/>
          <a:p>
            <a:pPr eaLnBrk="1" hangingPunct="1">
              <a:buFont typeface="Wingdings" pitchFamily="2" charset="2"/>
              <a:buChar char="n"/>
              <a:defRPr/>
            </a:pPr>
            <a:r>
              <a:rPr lang="en-US" sz="3600" dirty="0">
                <a:ea typeface="+mn-ea"/>
              </a:rPr>
              <a:t>Water has a </a:t>
            </a:r>
            <a:r>
              <a:rPr lang="en-US" sz="3600" u="sng" dirty="0">
                <a:ea typeface="+mn-ea"/>
              </a:rPr>
              <a:t>high heat capacity</a:t>
            </a:r>
            <a:r>
              <a:rPr lang="en-US" sz="3600" dirty="0">
                <a:ea typeface="+mn-ea"/>
              </a:rPr>
              <a:t>.</a:t>
            </a:r>
          </a:p>
          <a:p>
            <a:pPr eaLnBrk="1" hangingPunct="1">
              <a:buFont typeface="Wingdings" pitchFamily="2" charset="2"/>
              <a:buChar char="n"/>
              <a:defRPr/>
            </a:pPr>
            <a:endParaRPr lang="en-US" sz="3600" dirty="0">
              <a:ea typeface="+mn-e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336" y="2936331"/>
            <a:ext cx="6661964" cy="367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4561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54AA0CC8-91D2-7A43-8CEE-0FCC1861A163}" type="slidenum">
              <a:rPr lang="en-US">
                <a:latin typeface="Arial" charset="0"/>
              </a:rPr>
              <a:pPr/>
              <a:t>16</a:t>
            </a:fld>
            <a:endParaRPr lang="en-US">
              <a:latin typeface="Arial" charset="0"/>
            </a:endParaRPr>
          </a:p>
        </p:txBody>
      </p:sp>
      <p:sp>
        <p:nvSpPr>
          <p:cNvPr id="372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Tahoma" charset="0"/>
              </a:rPr>
              <a:t>Properties of Water</a:t>
            </a:r>
          </a:p>
        </p:txBody>
      </p:sp>
      <p:sp>
        <p:nvSpPr>
          <p:cNvPr id="372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9463" y="2115832"/>
            <a:ext cx="4404946" cy="3953436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buFont typeface="Wingdings" pitchFamily="2" charset="2"/>
              <a:buChar char="n"/>
              <a:defRPr/>
            </a:pPr>
            <a:r>
              <a:rPr lang="en-US" sz="3600" dirty="0">
                <a:ea typeface="+mn-ea"/>
              </a:rPr>
              <a:t>Heat of </a:t>
            </a:r>
            <a:r>
              <a:rPr lang="en-US" sz="3600" i="1" dirty="0">
                <a:ea typeface="+mn-ea"/>
              </a:rPr>
              <a:t>vaporization</a:t>
            </a:r>
            <a:r>
              <a:rPr lang="en-US" sz="3600" dirty="0">
                <a:ea typeface="+mn-ea"/>
              </a:rPr>
              <a:t> is also high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Char char="n"/>
              <a:defRPr/>
            </a:pPr>
            <a:r>
              <a:rPr lang="en-US" sz="3200" dirty="0"/>
              <a:t>amount of heat needed to change from liquid to gas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n"/>
              <a:defRPr/>
            </a:pPr>
            <a:r>
              <a:rPr lang="en-US" sz="3600" dirty="0">
                <a:ea typeface="+mn-ea"/>
              </a:rPr>
              <a:t>Has high surface tension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Char char="n"/>
              <a:defRPr/>
            </a:pPr>
            <a:r>
              <a:rPr lang="en-US" sz="3200" dirty="0"/>
              <a:t>Can affect respiratory function</a:t>
            </a:r>
          </a:p>
          <a:p>
            <a:pPr eaLnBrk="1" hangingPunct="1">
              <a:buFont typeface="Wingdings" pitchFamily="2" charset="2"/>
              <a:buChar char="n"/>
              <a:defRPr/>
            </a:pPr>
            <a:endParaRPr lang="en-US" sz="3600" dirty="0">
              <a:ea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8728" y="4340605"/>
            <a:ext cx="3107271" cy="233045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3892" y="1399458"/>
            <a:ext cx="2812107" cy="296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4217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4562216-E30E-DC4E-BC9A-25B34B0F9071}" type="slidenum">
              <a:rPr lang="en-US">
                <a:latin typeface="Arial" charset="0"/>
              </a:rPr>
              <a:pPr/>
              <a:t>17</a:t>
            </a:fld>
            <a:endParaRPr lang="en-US">
              <a:latin typeface="Arial" charset="0"/>
            </a:endParaRPr>
          </a:p>
        </p:txBody>
      </p:sp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Tahoma" charset="0"/>
              </a:rPr>
              <a:t>Properties of Water</a:t>
            </a:r>
          </a:p>
        </p:txBody>
      </p:sp>
      <p:sp>
        <p:nvSpPr>
          <p:cNvPr id="373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3600" dirty="0">
                <a:latin typeface="Tahoma" charset="0"/>
              </a:rPr>
              <a:t>Water is a major part of mucus and other lubricating fluids.</a:t>
            </a:r>
          </a:p>
          <a:p>
            <a:pPr eaLnBrk="1" hangingPunct="1"/>
            <a:r>
              <a:rPr lang="en-US" sz="3600" dirty="0">
                <a:latin typeface="Tahoma" charset="0"/>
              </a:rPr>
              <a:t>It is found wherever friction needs to be reduced or eliminated</a:t>
            </a:r>
          </a:p>
        </p:txBody>
      </p:sp>
    </p:spTree>
    <p:extLst>
      <p:ext uri="{BB962C8B-B14F-4D97-AF65-F5344CB8AC3E}">
        <p14:creationId xmlns:p14="http://schemas.microsoft.com/office/powerpoint/2010/main" val="2035421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D387FC32-EB13-A242-B1A8-78F6E8CFE0BA}" type="slidenum">
              <a:rPr lang="en-US">
                <a:latin typeface="Arial" charset="0"/>
              </a:rPr>
              <a:pPr/>
              <a:t>18</a:t>
            </a:fld>
            <a:endParaRPr lang="en-US">
              <a:latin typeface="Arial" charset="0"/>
            </a:endParaRPr>
          </a:p>
        </p:txBody>
      </p:sp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Water in Chemical Reactions</a:t>
            </a:r>
          </a:p>
        </p:txBody>
      </p:sp>
      <p:sp>
        <p:nvSpPr>
          <p:cNvPr id="470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sz="3200" u="sng" dirty="0">
                <a:latin typeface="Tahoma" charset="0"/>
              </a:rPr>
              <a:t>Hydrolysis</a:t>
            </a:r>
            <a:r>
              <a:rPr lang="en-US" sz="3200" dirty="0">
                <a:latin typeface="Tahoma" charset="0"/>
              </a:rPr>
              <a:t> breaks large molecules down into simpler ones by adding a molecule of water.</a:t>
            </a:r>
          </a:p>
          <a:p>
            <a:pPr eaLnBrk="1" hangingPunct="1"/>
            <a:endParaRPr lang="en-US" sz="3200" dirty="0">
              <a:latin typeface="Tahoma" charset="0"/>
            </a:endParaRPr>
          </a:p>
          <a:p>
            <a:pPr eaLnBrk="1" hangingPunct="1"/>
            <a:r>
              <a:rPr lang="en-US" sz="3200" u="sng" dirty="0">
                <a:latin typeface="Tahoma" charset="0"/>
              </a:rPr>
              <a:t>Dehydration synthesis </a:t>
            </a:r>
            <a:r>
              <a:rPr lang="en-US" sz="3200" dirty="0">
                <a:latin typeface="Tahoma" charset="0"/>
              </a:rPr>
              <a:t>occurs when two simple molecules join together, eliminating a molecule of water in the process.</a:t>
            </a:r>
          </a:p>
        </p:txBody>
      </p:sp>
    </p:spTree>
    <p:extLst>
      <p:ext uri="{BB962C8B-B14F-4D97-AF65-F5344CB8AC3E}">
        <p14:creationId xmlns:p14="http://schemas.microsoft.com/office/powerpoint/2010/main" val="25311772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FD7EC8BF-E919-ED49-BA91-D8A48547A26E}" type="slidenum">
              <a:rPr lang="en-US">
                <a:latin typeface="Arial" charset="0"/>
              </a:rPr>
              <a:pPr/>
              <a:t>19</a:t>
            </a:fld>
            <a:endParaRPr lang="en-US">
              <a:latin typeface="Arial" charset="0"/>
            </a:endParaRPr>
          </a:p>
        </p:txBody>
      </p:sp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Water as a solvent</a:t>
            </a:r>
          </a:p>
        </p:txBody>
      </p:sp>
      <p:sp>
        <p:nvSpPr>
          <p:cNvPr id="370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Wingdings" pitchFamily="2" charset="2"/>
              <a:buChar char="n"/>
              <a:defRPr/>
            </a:pPr>
            <a:r>
              <a:rPr lang="en-US" sz="3600" dirty="0">
                <a:ea typeface="+mn-ea"/>
              </a:rPr>
              <a:t>In a solution: the </a:t>
            </a:r>
            <a:r>
              <a:rPr lang="en-US" sz="3600" i="1" u="sng" dirty="0">
                <a:ea typeface="+mn-ea"/>
              </a:rPr>
              <a:t>solvent</a:t>
            </a:r>
            <a:r>
              <a:rPr lang="en-US" sz="3600" dirty="0">
                <a:ea typeface="+mn-ea"/>
              </a:rPr>
              <a:t> dissolves the </a:t>
            </a:r>
            <a:r>
              <a:rPr lang="en-US" sz="3600" i="1" u="sng" dirty="0">
                <a:ea typeface="+mn-ea"/>
              </a:rPr>
              <a:t>solute</a:t>
            </a:r>
            <a:r>
              <a:rPr lang="en-US" sz="3600" dirty="0">
                <a:ea typeface="+mn-ea"/>
              </a:rPr>
              <a:t>.</a:t>
            </a:r>
          </a:p>
          <a:p>
            <a:pPr lvl="1">
              <a:buFont typeface="Wingdings" pitchFamily="2" charset="2"/>
              <a:buChar char="n"/>
              <a:defRPr/>
            </a:pPr>
            <a:r>
              <a:rPr lang="en-US" sz="3400" dirty="0"/>
              <a:t>Some examples</a:t>
            </a:r>
            <a:endParaRPr lang="en-US" sz="3400" dirty="0">
              <a:ea typeface="+mn-ea"/>
            </a:endParaRPr>
          </a:p>
          <a:p>
            <a:pPr eaLnBrk="1" hangingPunct="1">
              <a:buFont typeface="Wingdings" pitchFamily="2" charset="2"/>
              <a:buChar char="n"/>
              <a:defRPr/>
            </a:pPr>
            <a:r>
              <a:rPr lang="en-US" sz="3600" dirty="0">
                <a:ea typeface="+mn-ea"/>
              </a:rPr>
              <a:t>Substances that dissolve in water are </a:t>
            </a:r>
            <a:r>
              <a:rPr lang="en-US" sz="3600" u="sng" dirty="0">
                <a:ea typeface="+mn-ea"/>
              </a:rPr>
              <a:t>hydrophilic</a:t>
            </a:r>
            <a:r>
              <a:rPr lang="en-US" sz="3600" dirty="0">
                <a:ea typeface="+mn-ea"/>
              </a:rPr>
              <a:t>, while substances that do not are </a:t>
            </a:r>
            <a:r>
              <a:rPr lang="en-US" sz="3600" u="sng" dirty="0">
                <a:ea typeface="+mn-ea"/>
              </a:rPr>
              <a:t>hydrophobic</a:t>
            </a:r>
            <a:r>
              <a:rPr lang="en-US" sz="3600" i="1" dirty="0">
                <a:ea typeface="+mn-ea"/>
              </a:rPr>
              <a:t>.</a:t>
            </a:r>
            <a:endParaRPr lang="en-US" sz="3600" dirty="0"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368690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823C20AD-25C5-6F49-8CDB-2955B04EEF14}" type="slidenum">
              <a:rPr lang="en-US">
                <a:latin typeface="Arial" charset="0"/>
              </a:rPr>
              <a:pPr/>
              <a:t>20</a:t>
            </a:fld>
            <a:endParaRPr lang="en-US">
              <a:latin typeface="Arial" charset="0"/>
            </a:endParaRPr>
          </a:p>
        </p:txBody>
      </p:sp>
      <p:sp>
        <p:nvSpPr>
          <p:cNvPr id="4392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76200"/>
            <a:ext cx="7772400" cy="1143000"/>
          </a:xfrm>
        </p:spPr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Water as a Solvent</a:t>
            </a:r>
          </a:p>
        </p:txBody>
      </p:sp>
      <p:sp>
        <p:nvSpPr>
          <p:cNvPr id="439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133712"/>
            <a:ext cx="4254347" cy="5222637"/>
          </a:xfrm>
        </p:spPr>
        <p:txBody>
          <a:bodyPr>
            <a:normAutofit/>
          </a:bodyPr>
          <a:lstStyle/>
          <a:p>
            <a:pPr eaLnBrk="1" hangingPunct="1">
              <a:lnSpc>
                <a:spcPct val="130000"/>
              </a:lnSpc>
            </a:pPr>
            <a:r>
              <a:rPr lang="en-US" sz="3200" dirty="0">
                <a:latin typeface="Tahoma" charset="0"/>
              </a:rPr>
              <a:t>Most versatile solvent known</a:t>
            </a:r>
          </a:p>
          <a:p>
            <a:pPr lvl="1" eaLnBrk="1" hangingPunct="1"/>
            <a:r>
              <a:rPr lang="en-US" sz="2800" dirty="0">
                <a:latin typeface="Tahoma" charset="0"/>
              </a:rPr>
              <a:t>polar covalent bonds allow it to interact with many molecules</a:t>
            </a:r>
          </a:p>
          <a:p>
            <a:pPr eaLnBrk="1" hangingPunct="1"/>
            <a:r>
              <a:rPr lang="en-US" sz="3200" dirty="0">
                <a:latin typeface="Tahoma" charset="0"/>
              </a:rPr>
              <a:t>Water dissolves or suspends many substances</a:t>
            </a:r>
          </a:p>
        </p:txBody>
      </p:sp>
      <p:pic>
        <p:nvPicPr>
          <p:cNvPr id="25605" name="Picture 4" descr="w0037-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858" y="1499235"/>
            <a:ext cx="4249324" cy="4363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09530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-203415"/>
            <a:ext cx="7581901" cy="1653988"/>
          </a:xfrm>
        </p:spPr>
        <p:txBody>
          <a:bodyPr/>
          <a:lstStyle/>
          <a:p>
            <a:r>
              <a:rPr lang="en-US" dirty="0"/>
              <a:t>Check in Time…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776" y="1404356"/>
            <a:ext cx="5495473" cy="526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6175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-229331"/>
            <a:ext cx="7581901" cy="1653988"/>
          </a:xfrm>
        </p:spPr>
        <p:txBody>
          <a:bodyPr/>
          <a:lstStyle/>
          <a:p>
            <a:r>
              <a:rPr lang="en-US" dirty="0"/>
              <a:t>On to: pH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452" y="1238529"/>
            <a:ext cx="7510911" cy="4738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8012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7D6519FB-5F03-9448-A3C0-1FA60F6B931B}" type="slidenum">
              <a:rPr lang="en-US">
                <a:latin typeface="Arial" charset="0"/>
              </a:rPr>
              <a:pPr/>
              <a:t>23</a:t>
            </a:fld>
            <a:endParaRPr lang="en-US">
              <a:latin typeface="Arial" charset="0"/>
            </a:endParaRPr>
          </a:p>
        </p:txBody>
      </p:sp>
      <p:sp>
        <p:nvSpPr>
          <p:cNvPr id="440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-129610" y="1036638"/>
            <a:ext cx="4876799" cy="5684838"/>
          </a:xfrm>
        </p:spPr>
        <p:txBody>
          <a:bodyPr>
            <a:normAutofit lnSpcReduction="10000"/>
          </a:bodyPr>
          <a:lstStyle/>
          <a:p>
            <a:pPr lvl="1" eaLnBrk="1" hangingPunct="1">
              <a:lnSpc>
                <a:spcPct val="90000"/>
              </a:lnSpc>
              <a:spcBef>
                <a:spcPts val="1200"/>
              </a:spcBef>
              <a:spcAft>
                <a:spcPts val="300"/>
              </a:spcAft>
            </a:pPr>
            <a:r>
              <a:rPr lang="en-US" sz="2400" b="1" i="1" u="sng" dirty="0">
                <a:latin typeface="Helvetica" charset="0"/>
              </a:rPr>
              <a:t>Electrolytes</a:t>
            </a:r>
            <a:r>
              <a:rPr lang="en-US" sz="2400" b="1" i="1" dirty="0">
                <a:latin typeface="Helvetica" charset="0"/>
              </a:rPr>
              <a:t> – substances that release ions in water</a:t>
            </a:r>
          </a:p>
          <a:p>
            <a:pPr lvl="2">
              <a:lnSpc>
                <a:spcPct val="90000"/>
              </a:lnSpc>
              <a:spcBef>
                <a:spcPts val="1200"/>
              </a:spcBef>
              <a:spcAft>
                <a:spcPts val="300"/>
              </a:spcAft>
            </a:pPr>
            <a:r>
              <a:rPr lang="en-US" b="1" i="1" u="sng" dirty="0">
                <a:latin typeface="Helvetica" charset="0"/>
              </a:rPr>
              <a:t>Acids</a:t>
            </a:r>
            <a:r>
              <a:rPr lang="en-US" b="1" i="1" dirty="0">
                <a:latin typeface="Helvetica" charset="0"/>
              </a:rPr>
              <a:t> – electrolytes that release H (hydrogen) ions</a:t>
            </a:r>
          </a:p>
          <a:p>
            <a:pPr lvl="2">
              <a:lnSpc>
                <a:spcPct val="90000"/>
              </a:lnSpc>
              <a:spcBef>
                <a:spcPts val="1200"/>
              </a:spcBef>
              <a:spcAft>
                <a:spcPts val="300"/>
              </a:spcAft>
            </a:pPr>
            <a:r>
              <a:rPr lang="en-US" b="1" i="1" u="sng" dirty="0">
                <a:latin typeface="Helvetica" charset="0"/>
              </a:rPr>
              <a:t>Bases</a:t>
            </a:r>
            <a:r>
              <a:rPr lang="en-US" b="1" i="1" dirty="0">
                <a:latin typeface="Helvetica" charset="0"/>
              </a:rPr>
              <a:t> – electrolytes that release ions that combine with H ions.  Often dissociate into OH- (hydroxide ion)</a:t>
            </a:r>
          </a:p>
          <a:p>
            <a:pPr lvl="2">
              <a:lnSpc>
                <a:spcPct val="90000"/>
              </a:lnSpc>
              <a:spcBef>
                <a:spcPts val="1200"/>
              </a:spcBef>
              <a:spcAft>
                <a:spcPts val="300"/>
              </a:spcAft>
            </a:pPr>
            <a:r>
              <a:rPr lang="en-US" i="1" u="sng" dirty="0">
                <a:latin typeface="Helvetica" charset="0"/>
              </a:rPr>
              <a:t>Salt</a:t>
            </a:r>
            <a:r>
              <a:rPr lang="en-US" i="1" dirty="0">
                <a:latin typeface="Helvetica" charset="0"/>
              </a:rPr>
              <a:t> – electrolytes that releases ions that are neither H or OH</a:t>
            </a:r>
            <a:endParaRPr lang="en-US" b="1" i="1" dirty="0">
              <a:latin typeface="Helvetica" charset="0"/>
            </a:endParaRPr>
          </a:p>
          <a:p>
            <a:pPr lvl="1" eaLnBrk="1" hangingPunct="1">
              <a:lnSpc>
                <a:spcPct val="90000"/>
              </a:lnSpc>
              <a:spcBef>
                <a:spcPts val="1200"/>
              </a:spcBef>
              <a:spcAft>
                <a:spcPts val="300"/>
              </a:spcAft>
            </a:pPr>
            <a:r>
              <a:rPr lang="en-US" sz="2400" b="1" i="1" u="sng" dirty="0">
                <a:latin typeface="Helvetica" charset="0"/>
              </a:rPr>
              <a:t>pH</a:t>
            </a:r>
            <a:r>
              <a:rPr lang="en-US" sz="2400" b="1" i="1" dirty="0">
                <a:latin typeface="Helvetica" charset="0"/>
              </a:rPr>
              <a:t> </a:t>
            </a:r>
          </a:p>
          <a:p>
            <a:pPr lvl="2" eaLnBrk="1" hangingPunct="1">
              <a:lnSpc>
                <a:spcPct val="90000"/>
              </a:lnSpc>
              <a:spcBef>
                <a:spcPts val="1200"/>
              </a:spcBef>
              <a:spcAft>
                <a:spcPts val="300"/>
              </a:spcAft>
            </a:pPr>
            <a:r>
              <a:rPr lang="en-US" sz="2400" b="1" i="1" dirty="0">
                <a:latin typeface="Helvetica" charset="0"/>
              </a:rPr>
              <a:t>Concentration of H ions in solution</a:t>
            </a:r>
          </a:p>
          <a:p>
            <a:pPr lvl="2" eaLnBrk="1" hangingPunct="1">
              <a:lnSpc>
                <a:spcPct val="90000"/>
              </a:lnSpc>
              <a:spcBef>
                <a:spcPts val="1200"/>
              </a:spcBef>
              <a:spcAft>
                <a:spcPts val="300"/>
              </a:spcAft>
            </a:pPr>
            <a:r>
              <a:rPr lang="en-US" sz="2400" b="1" i="1" dirty="0">
                <a:latin typeface="Helvetica" charset="0"/>
              </a:rPr>
              <a:t>Ranges from 0-14</a:t>
            </a:r>
          </a:p>
          <a:p>
            <a:pPr lvl="1" eaLnBrk="1" hangingPunct="1">
              <a:lnSpc>
                <a:spcPct val="90000"/>
              </a:lnSpc>
            </a:pPr>
            <a:endParaRPr lang="en-US" dirty="0">
              <a:latin typeface="Tahoma" charset="0"/>
            </a:endParaRPr>
          </a:p>
        </p:txBody>
      </p:sp>
      <p:pic>
        <p:nvPicPr>
          <p:cNvPr id="28676" name="Picture 4" descr="w0038-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905000"/>
            <a:ext cx="4038600" cy="258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25" name="Rectangle 5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762000"/>
          </a:xfrm>
        </p:spPr>
        <p:txBody>
          <a:bodyPr/>
          <a:lstStyle/>
          <a:p>
            <a:pPr eaLnBrk="1" hangingPunct="1"/>
            <a:r>
              <a:rPr lang="en-US" b="1" i="1" dirty="0">
                <a:latin typeface="Helvetica" charset="0"/>
              </a:rPr>
              <a:t>Acids and bases</a:t>
            </a:r>
          </a:p>
        </p:txBody>
      </p:sp>
    </p:spTree>
    <p:extLst>
      <p:ext uri="{BB962C8B-B14F-4D97-AF65-F5344CB8AC3E}">
        <p14:creationId xmlns:p14="http://schemas.microsoft.com/office/powerpoint/2010/main" val="28534978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5BA66DA5-54F3-8F4A-B589-95375E9F7080}" type="slidenum">
              <a:rPr lang="en-US">
                <a:latin typeface="Arial" charset="0"/>
              </a:rPr>
              <a:pPr/>
              <a:t>24</a:t>
            </a:fld>
            <a:endParaRPr lang="en-US">
              <a:latin typeface="Arial" charset="0"/>
            </a:endParaRPr>
          </a:p>
        </p:txBody>
      </p:sp>
      <p:pic>
        <p:nvPicPr>
          <p:cNvPr id="29701" name="Picture 4" descr="w0039-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25377"/>
            <a:ext cx="9144000" cy="4705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5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762000"/>
          </a:xfrm>
        </p:spPr>
        <p:txBody>
          <a:bodyPr/>
          <a:lstStyle/>
          <a:p>
            <a:pPr eaLnBrk="1" hangingPunct="1"/>
            <a:r>
              <a:rPr lang="en-US" b="1" i="1" dirty="0">
                <a:latin typeface="Helvetica" charset="0"/>
              </a:rPr>
              <a:t>On to pH</a:t>
            </a:r>
          </a:p>
        </p:txBody>
      </p:sp>
    </p:spTree>
    <p:extLst>
      <p:ext uri="{BB962C8B-B14F-4D97-AF65-F5344CB8AC3E}">
        <p14:creationId xmlns:p14="http://schemas.microsoft.com/office/powerpoint/2010/main" val="2088654683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5BA66DA5-54F3-8F4A-B589-95375E9F7080}" type="slidenum">
              <a:rPr lang="en-US">
                <a:latin typeface="Arial" charset="0"/>
              </a:rPr>
              <a:pPr/>
              <a:t>25</a:t>
            </a:fld>
            <a:endParaRPr lang="en-US">
              <a:latin typeface="Arial" charset="0"/>
            </a:endParaRPr>
          </a:p>
        </p:txBody>
      </p:sp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>
          <a:xfrm>
            <a:off x="5867400" y="76200"/>
            <a:ext cx="3124200" cy="1828800"/>
          </a:xfrm>
        </p:spPr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Concept of pH</a:t>
            </a:r>
          </a:p>
        </p:txBody>
      </p:sp>
      <p:sp>
        <p:nvSpPr>
          <p:cNvPr id="441347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304800" y="2971800"/>
            <a:ext cx="8686800" cy="3505200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sz="2800">
                <a:latin typeface="Tahoma" charset="0"/>
              </a:rPr>
              <a:t>pH of 7 is neutral</a:t>
            </a:r>
          </a:p>
          <a:p>
            <a:pPr lvl="1" eaLnBrk="1" hangingPunct="1">
              <a:buFont typeface="Wingdings" charset="0"/>
              <a:buNone/>
            </a:pPr>
            <a:r>
              <a:rPr lang="en-US" sz="2400">
                <a:latin typeface="Tahoma" charset="0"/>
              </a:rPr>
              <a:t> (distilled water -- concentration of OH- and H+ are equal)</a:t>
            </a:r>
          </a:p>
          <a:p>
            <a:pPr eaLnBrk="1" hangingPunct="1"/>
            <a:r>
              <a:rPr lang="en-US" sz="2800">
                <a:latin typeface="Tahoma" charset="0"/>
              </a:rPr>
              <a:t>pH below 7 is acidic ([H</a:t>
            </a:r>
            <a:r>
              <a:rPr lang="en-US" sz="2800" baseline="30000">
                <a:latin typeface="Tahoma" charset="0"/>
              </a:rPr>
              <a:t>+</a:t>
            </a:r>
            <a:r>
              <a:rPr lang="en-US" sz="2800">
                <a:latin typeface="Tahoma" charset="0"/>
              </a:rPr>
              <a:t>] &gt; [OH</a:t>
            </a:r>
            <a:r>
              <a:rPr lang="en-US" sz="2800" baseline="30000">
                <a:latin typeface="Tahoma" charset="0"/>
              </a:rPr>
              <a:t>-</a:t>
            </a:r>
            <a:r>
              <a:rPr lang="en-US" sz="2800">
                <a:latin typeface="Tahoma" charset="0"/>
              </a:rPr>
              <a:t>]).</a:t>
            </a:r>
          </a:p>
          <a:p>
            <a:pPr eaLnBrk="1" hangingPunct="1"/>
            <a:r>
              <a:rPr lang="en-US" sz="2800">
                <a:latin typeface="Tahoma" charset="0"/>
              </a:rPr>
              <a:t>pH above 7 is alkaline ([H</a:t>
            </a:r>
            <a:r>
              <a:rPr lang="en-US" sz="2800" baseline="30000">
                <a:latin typeface="Tahoma" charset="0"/>
              </a:rPr>
              <a:t>+</a:t>
            </a:r>
            <a:r>
              <a:rPr lang="en-US" sz="2800">
                <a:latin typeface="Tahoma" charset="0"/>
              </a:rPr>
              <a:t>] &lt; [OH</a:t>
            </a:r>
            <a:r>
              <a:rPr lang="en-US" sz="2800" baseline="30000">
                <a:latin typeface="Tahoma" charset="0"/>
              </a:rPr>
              <a:t>-</a:t>
            </a:r>
            <a:r>
              <a:rPr lang="en-US" sz="2800">
                <a:latin typeface="Tahoma" charset="0"/>
              </a:rPr>
              <a:t>]).</a:t>
            </a:r>
          </a:p>
          <a:p>
            <a:pPr eaLnBrk="1" hangingPunct="1"/>
            <a:r>
              <a:rPr lang="en-US" sz="2800">
                <a:latin typeface="Tahoma" charset="0"/>
              </a:rPr>
              <a:t>pH is a logarithmic scale</a:t>
            </a:r>
          </a:p>
          <a:p>
            <a:pPr lvl="1" eaLnBrk="1" hangingPunct="1">
              <a:buFont typeface="Wingdings" charset="0"/>
              <a:buNone/>
            </a:pPr>
            <a:r>
              <a:rPr lang="en-US" sz="2400">
                <a:latin typeface="Tahoma" charset="0"/>
              </a:rPr>
              <a:t>Example:  a change of two or three pH units</a:t>
            </a:r>
          </a:p>
          <a:p>
            <a:pPr lvl="1" eaLnBrk="1" hangingPunct="1">
              <a:buFont typeface="Wingdings" charset="0"/>
              <a:buNone/>
            </a:pPr>
            <a:r>
              <a:rPr lang="en-US" sz="2400">
                <a:latin typeface="Tahoma" charset="0"/>
              </a:rPr>
              <a:t>pH of 1 contains 10x10=100 more H+ than pH of 3</a:t>
            </a:r>
          </a:p>
        </p:txBody>
      </p:sp>
      <p:pic>
        <p:nvPicPr>
          <p:cNvPr id="29701" name="Picture 4" descr="w0039-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0"/>
            <a:ext cx="5638800" cy="290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0348887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72A42094-F058-5843-9FBA-853DCC85D12A}" type="slidenum">
              <a:rPr lang="en-US">
                <a:latin typeface="Arial" charset="0"/>
              </a:rPr>
              <a:pPr/>
              <a:t>26</a:t>
            </a:fld>
            <a:endParaRPr lang="en-US">
              <a:latin typeface="Arial" charset="0"/>
            </a:endParaRPr>
          </a:p>
        </p:txBody>
      </p:sp>
      <p:sp>
        <p:nvSpPr>
          <p:cNvPr id="377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09600"/>
            <a:ext cx="4343400" cy="54864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600" dirty="0">
                <a:latin typeface="Tahoma" charset="0"/>
              </a:rPr>
              <a:t>Biochemical reactions are very sensitive to even small changes in acidity or alkalinity.</a:t>
            </a:r>
          </a:p>
          <a:p>
            <a:pPr lvl="1" eaLnBrk="1" hangingPunct="1"/>
            <a:r>
              <a:rPr lang="en-US" sz="3200" dirty="0">
                <a:latin typeface="Tahoma" charset="0"/>
              </a:rPr>
              <a:t>pH of blood is 7.35 to 7.45</a:t>
            </a:r>
          </a:p>
        </p:txBody>
      </p:sp>
      <p:pic>
        <p:nvPicPr>
          <p:cNvPr id="3072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3188" y="0"/>
            <a:ext cx="396081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36058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884DE96E-EC6A-8E4F-82B5-EB1F13EE6908}" type="slidenum">
              <a:rPr lang="en-US">
                <a:latin typeface="Arial" charset="0"/>
              </a:rPr>
              <a:pPr/>
              <a:t>27</a:t>
            </a:fld>
            <a:endParaRPr lang="en-US">
              <a:latin typeface="Arial" charset="0"/>
            </a:endParaRPr>
          </a:p>
        </p:txBody>
      </p:sp>
      <p:sp>
        <p:nvSpPr>
          <p:cNvPr id="378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Maintaining pH: Buffer Systems</a:t>
            </a:r>
          </a:p>
        </p:txBody>
      </p:sp>
      <p:sp>
        <p:nvSpPr>
          <p:cNvPr id="378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Char char="n"/>
              <a:defRPr/>
            </a:pPr>
            <a:r>
              <a:rPr lang="en-US" sz="3600" dirty="0">
                <a:ea typeface="+mn-ea"/>
              </a:rPr>
              <a:t>The pH values of different parts of the body are maintained fairly  constant by buffer systems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Char char="n"/>
              <a:defRPr/>
            </a:pPr>
            <a:r>
              <a:rPr lang="en-US" sz="3200" dirty="0"/>
              <a:t>Example: carbonic acid-bicarbonate buffer system.</a:t>
            </a:r>
          </a:p>
          <a:p>
            <a:pPr marL="0" indent="0" algn="ctr">
              <a:lnSpc>
                <a:spcPct val="90000"/>
              </a:lnSpc>
              <a:buNone/>
              <a:defRPr/>
            </a:pPr>
            <a:r>
              <a:rPr lang="en-US" sz="4000" dirty="0"/>
              <a:t>CO</a:t>
            </a:r>
            <a:r>
              <a:rPr lang="en-US" sz="4000" baseline="-25000" dirty="0"/>
              <a:t>2</a:t>
            </a:r>
            <a:r>
              <a:rPr lang="en-US" sz="4000" dirty="0"/>
              <a:t> + H</a:t>
            </a:r>
            <a:r>
              <a:rPr lang="en-US" sz="4000" baseline="-25000" dirty="0"/>
              <a:t>2</a:t>
            </a:r>
            <a:r>
              <a:rPr lang="en-US" sz="4000" dirty="0"/>
              <a:t>O </a:t>
            </a:r>
            <a:r>
              <a:rPr lang="en-US" sz="4000" dirty="0">
                <a:ea typeface="ヒラギノ角ゴ Pro W3" pitchFamily="1" charset="-128"/>
              </a:rPr>
              <a:t>↔</a:t>
            </a:r>
            <a:r>
              <a:rPr lang="en-US" sz="4000" dirty="0"/>
              <a:t> H</a:t>
            </a:r>
            <a:r>
              <a:rPr lang="en-US" sz="4000" baseline="-25000" dirty="0"/>
              <a:t>2</a:t>
            </a:r>
            <a:r>
              <a:rPr lang="en-US" sz="4000" dirty="0"/>
              <a:t>CO</a:t>
            </a:r>
            <a:r>
              <a:rPr lang="en-US" sz="4000" baseline="-25000" dirty="0"/>
              <a:t>3</a:t>
            </a:r>
            <a:r>
              <a:rPr lang="en-US" sz="4000" dirty="0"/>
              <a:t> </a:t>
            </a:r>
            <a:r>
              <a:rPr lang="en-US" sz="4000" dirty="0">
                <a:ea typeface="ヒラギノ角ゴ Pro W3" pitchFamily="1" charset="-128"/>
              </a:rPr>
              <a:t>↔</a:t>
            </a:r>
            <a:r>
              <a:rPr lang="en-US" sz="4000" dirty="0"/>
              <a:t> H</a:t>
            </a:r>
            <a:r>
              <a:rPr lang="en-US" sz="4000" baseline="30000" dirty="0"/>
              <a:t>+</a:t>
            </a:r>
            <a:r>
              <a:rPr lang="en-US" sz="4000" dirty="0"/>
              <a:t> + HCO</a:t>
            </a:r>
            <a:r>
              <a:rPr lang="en-US" sz="4000" baseline="-25000" dirty="0"/>
              <a:t>3</a:t>
            </a:r>
            <a:r>
              <a:rPr lang="en-US" sz="4000" baseline="30000" dirty="0"/>
              <a:t>-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Char char="n"/>
              <a:defRPr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364965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78497E7-DEB1-B74D-8AED-90631B9ABE33}" type="slidenum">
              <a:rPr lang="en-US">
                <a:latin typeface="Arial" charset="0"/>
              </a:rPr>
              <a:pPr/>
              <a:t>28</a:t>
            </a:fld>
            <a:endParaRPr lang="en-US">
              <a:latin typeface="Arial" charset="0"/>
            </a:endParaRPr>
          </a:p>
        </p:txBody>
      </p:sp>
      <p:sp>
        <p:nvSpPr>
          <p:cNvPr id="461826" name="Rectangle 2"/>
          <p:cNvSpPr>
            <a:spLocks noGrp="1" noChangeArrowheads="1"/>
          </p:cNvSpPr>
          <p:nvPr>
            <p:ph type="title"/>
          </p:nvPr>
        </p:nvSpPr>
        <p:spPr>
          <a:xfrm>
            <a:off x="-76200" y="152400"/>
            <a:ext cx="8991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</a:rPr>
              <a:t>Chemical Reactions - Enzymes</a:t>
            </a:r>
            <a:endParaRPr lang="en-US" b="1" u="sng" dirty="0">
              <a:ea typeface="+mj-ea"/>
            </a:endParaRPr>
          </a:p>
        </p:txBody>
      </p:sp>
      <p:sp>
        <p:nvSpPr>
          <p:cNvPr id="4618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371600"/>
            <a:ext cx="4343400" cy="4953000"/>
          </a:xfrm>
        </p:spPr>
        <p:txBody>
          <a:bodyPr>
            <a:noAutofit/>
          </a:bodyPr>
          <a:lstStyle/>
          <a:p>
            <a:pPr eaLnBrk="1" hangingPunct="1">
              <a:buFont typeface="Wingdings" pitchFamily="2" charset="2"/>
              <a:buChar char="n"/>
              <a:defRPr/>
            </a:pPr>
            <a:r>
              <a:rPr lang="en-US" sz="2800" dirty="0">
                <a:ea typeface="+mn-ea"/>
              </a:rPr>
              <a:t>Highly specific</a:t>
            </a:r>
          </a:p>
          <a:p>
            <a:pPr eaLnBrk="1" hangingPunct="1">
              <a:buFont typeface="Wingdings" pitchFamily="2" charset="2"/>
              <a:buChar char="n"/>
              <a:defRPr/>
            </a:pPr>
            <a:r>
              <a:rPr lang="en-US" sz="2800" dirty="0">
                <a:ea typeface="+mn-ea"/>
              </a:rPr>
              <a:t>Very efficient</a:t>
            </a:r>
          </a:p>
          <a:p>
            <a:pPr lvl="1" eaLnBrk="1" hangingPunct="1">
              <a:buFont typeface="Wingdings" pitchFamily="2" charset="2"/>
              <a:buChar char="n"/>
              <a:defRPr/>
            </a:pPr>
            <a:r>
              <a:rPr lang="en-US" sz="2400" dirty="0"/>
              <a:t>speed up reaction up to 10 billion times faster </a:t>
            </a:r>
          </a:p>
          <a:p>
            <a:pPr eaLnBrk="1" hangingPunct="1">
              <a:buFont typeface="Wingdings" pitchFamily="2" charset="2"/>
              <a:buChar char="n"/>
              <a:defRPr/>
            </a:pPr>
            <a:r>
              <a:rPr lang="en-US" sz="2800" dirty="0"/>
              <a:t>Are unchanged after reaction occurs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Enzymes usually end in suffix -</a:t>
            </a:r>
            <a:r>
              <a:rPr lang="en-US" sz="2800" dirty="0" err="1"/>
              <a:t>ase</a:t>
            </a:r>
            <a:r>
              <a:rPr lang="en-US" sz="2800" dirty="0"/>
              <a:t> 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protease, and lipase are examples</a:t>
            </a:r>
          </a:p>
          <a:p>
            <a:pPr eaLnBrk="1" hangingPunct="1">
              <a:buFont typeface="Wingdings" pitchFamily="2" charset="2"/>
              <a:buChar char="n"/>
              <a:defRPr/>
            </a:pPr>
            <a:endParaRPr lang="en-US" sz="2800" dirty="0">
              <a:ea typeface="+mn-ea"/>
            </a:endParaRPr>
          </a:p>
        </p:txBody>
      </p:sp>
      <p:pic>
        <p:nvPicPr>
          <p:cNvPr id="52229" name="Picture 4" descr="w0052-n"/>
          <p:cNvPicPr>
            <a:picLocks noChangeAspect="1" noChangeArrowheads="1"/>
          </p:cNvPicPr>
          <p:nvPr/>
        </p:nvPicPr>
        <p:blipFill>
          <a:blip r:embed="rId3">
            <a:lum bright="-20000" contras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125" y="1600200"/>
            <a:ext cx="4283075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4217304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Any questions?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789" y="1438336"/>
            <a:ext cx="6676801" cy="509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8996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bit">
  <a:themeElements>
    <a:clrScheme name="Orbit">
      <a:dk1>
        <a:srgbClr val="000000"/>
      </a:dk1>
      <a:lt1>
        <a:srgbClr val="FFFFFF"/>
      </a:lt1>
      <a:dk2>
        <a:srgbClr val="7C9BA5"/>
      </a:dk2>
      <a:lt2>
        <a:srgbClr val="C1D0CA"/>
      </a:lt2>
      <a:accent1>
        <a:srgbClr val="F2D908"/>
      </a:accent1>
      <a:accent2>
        <a:srgbClr val="9DE61E"/>
      </a:accent2>
      <a:accent3>
        <a:srgbClr val="0D8BE6"/>
      </a:accent3>
      <a:accent4>
        <a:srgbClr val="C61B1B"/>
      </a:accent4>
      <a:accent5>
        <a:srgbClr val="E26F08"/>
      </a:accent5>
      <a:accent6>
        <a:srgbClr val="8D35D1"/>
      </a:accent6>
      <a:hlink>
        <a:srgbClr val="ECBF0B"/>
      </a:hlink>
      <a:folHlink>
        <a:srgbClr val="F4E5A8"/>
      </a:folHlink>
    </a:clrScheme>
    <a:fontScheme name="Orbit">
      <a:majorFont>
        <a:latin typeface="Candara"/>
        <a:ea typeface=""/>
        <a:cs typeface=""/>
        <a:font script="Jpan" typeface="ＭＳ Ｐゴシック"/>
        <a:font script="Hans" typeface="宋体"/>
        <a:font script="Hant" typeface="新細明體"/>
      </a:majorFont>
      <a:minorFont>
        <a:latin typeface="Candara"/>
        <a:ea typeface=""/>
        <a:cs typeface=""/>
        <a:font script="Jpan" typeface="ＭＳ Ｐゴシック"/>
        <a:font script="Hans" typeface="宋体"/>
        <a:font script="Hant" typeface="新細明體"/>
      </a:minorFont>
    </a:fontScheme>
    <a:fmtScheme name="Orbit">
      <a:fillStyleLst>
        <a:solidFill>
          <a:schemeClr val="phClr"/>
        </a:solidFill>
        <a:solidFill>
          <a:schemeClr val="phClr">
            <a:shade val="80000"/>
          </a:schemeClr>
        </a:solidFill>
        <a:gradFill rotWithShape="1">
          <a:gsLst>
            <a:gs pos="0">
              <a:schemeClr val="phClr">
                <a:shade val="30000"/>
                <a:satMod val="100000"/>
              </a:schemeClr>
            </a:gs>
            <a:gs pos="80000">
              <a:schemeClr val="phClr">
                <a:shade val="90000"/>
                <a:satMod val="100000"/>
              </a:schemeClr>
            </a:gs>
            <a:gs pos="100000">
              <a:schemeClr val="phClr">
                <a:tint val="9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31750" cap="flat" cmpd="sng" algn="ctr">
          <a:solidFill>
            <a:schemeClr val="phClr">
              <a:shade val="90000"/>
            </a:schemeClr>
          </a:solidFill>
          <a:prstDash val="solid"/>
        </a:ln>
        <a:ln w="762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228600" dist="38100" dir="5400000" sx="104000" sy="104000" algn="ctr" rotWithShape="0">
              <a:srgbClr val="000000">
                <a:alpha val="80000"/>
              </a:srgbClr>
            </a:outerShdw>
          </a:effectLst>
        </a:effectStyle>
        <a:effectStyle>
          <a:effectLst>
            <a:outerShdw blurRad="317500" dist="381000" dir="5400000" sx="90000" sy="2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etal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1000"/>
                <a:lumMod val="80000"/>
              </a:schemeClr>
              <a:schemeClr val="phClr">
                <a:satMod val="360000"/>
                <a:lumMod val="14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Orbit.thmx</Template>
  <TotalTime>196</TotalTime>
  <Words>1007</Words>
  <Application>Microsoft Macintosh PowerPoint</Application>
  <PresentationFormat>On-screen Show (4:3)</PresentationFormat>
  <Paragraphs>171</Paragraphs>
  <Slides>29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Calibri</vt:lpstr>
      <vt:lpstr>Candara</vt:lpstr>
      <vt:lpstr>Helvetica</vt:lpstr>
      <vt:lpstr>Tahoma</vt:lpstr>
      <vt:lpstr>Wingdings</vt:lpstr>
      <vt:lpstr>ヒラギノ角ゴ Pro W3</vt:lpstr>
      <vt:lpstr>Orbit</vt:lpstr>
      <vt:lpstr>Chapter 2: Chemistry</vt:lpstr>
      <vt:lpstr>But this is BIOLOGY!!</vt:lpstr>
      <vt:lpstr>Don’t Panic</vt:lpstr>
      <vt:lpstr>Basic Principles</vt:lpstr>
      <vt:lpstr>HOW MATTER IS ORGANIZED</vt:lpstr>
      <vt:lpstr>Structure of Atoms</vt:lpstr>
      <vt:lpstr>Ions, Molecules, &amp; Compounds</vt:lpstr>
      <vt:lpstr>Chemical Bonds</vt:lpstr>
      <vt:lpstr>Chemical Bonds</vt:lpstr>
      <vt:lpstr>Ionic Bonds</vt:lpstr>
      <vt:lpstr>Covalent Bonds</vt:lpstr>
      <vt:lpstr>Have you ever wondered what a free radical is?</vt:lpstr>
      <vt:lpstr>Classic Polar Covalent Bond</vt:lpstr>
      <vt:lpstr>Hydrogen Bonds</vt:lpstr>
      <vt:lpstr>Properties of Water</vt:lpstr>
      <vt:lpstr>Properties of Water</vt:lpstr>
      <vt:lpstr>Properties of Water</vt:lpstr>
      <vt:lpstr>Water in Chemical Reactions</vt:lpstr>
      <vt:lpstr>Water as a solvent</vt:lpstr>
      <vt:lpstr>Water as a Solvent</vt:lpstr>
      <vt:lpstr>Check in Time…</vt:lpstr>
      <vt:lpstr>On to: pH</vt:lpstr>
      <vt:lpstr>Acids and bases</vt:lpstr>
      <vt:lpstr>On to pH</vt:lpstr>
      <vt:lpstr>Concept of pH</vt:lpstr>
      <vt:lpstr>PowerPoint Presentation</vt:lpstr>
      <vt:lpstr>Maintaining pH: Buffer Systems</vt:lpstr>
      <vt:lpstr>Chemical Reactions - Enzymes</vt:lpstr>
      <vt:lpstr>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Liz</dc:creator>
  <cp:lastModifiedBy>Csikar,Liz</cp:lastModifiedBy>
  <cp:revision>19</cp:revision>
  <dcterms:created xsi:type="dcterms:W3CDTF">2014-07-23T17:47:35Z</dcterms:created>
  <dcterms:modified xsi:type="dcterms:W3CDTF">2024-08-15T20:52:06Z</dcterms:modified>
</cp:coreProperties>
</file>