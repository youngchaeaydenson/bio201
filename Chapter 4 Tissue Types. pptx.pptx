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1" r:id="rId1"/>
  </p:sldMasterIdLst>
  <p:notesMasterIdLst>
    <p:notesMasterId r:id="rId28"/>
  </p:notesMasterIdLst>
  <p:handoutMasterIdLst>
    <p:handoutMasterId r:id="rId29"/>
  </p:handoutMasterIdLst>
  <p:sldIdLst>
    <p:sldId id="555" r:id="rId2"/>
    <p:sldId id="559" r:id="rId3"/>
    <p:sldId id="693" r:id="rId4"/>
    <p:sldId id="564" r:id="rId5"/>
    <p:sldId id="613" r:id="rId6"/>
    <p:sldId id="611" r:id="rId7"/>
    <p:sldId id="617" r:id="rId8"/>
    <p:sldId id="695" r:id="rId9"/>
    <p:sldId id="696" r:id="rId10"/>
    <p:sldId id="698" r:id="rId11"/>
    <p:sldId id="694" r:id="rId12"/>
    <p:sldId id="686" r:id="rId13"/>
    <p:sldId id="689" r:id="rId14"/>
    <p:sldId id="639" r:id="rId15"/>
    <p:sldId id="578" r:id="rId16"/>
    <p:sldId id="697" r:id="rId17"/>
    <p:sldId id="699" r:id="rId18"/>
    <p:sldId id="583" r:id="rId19"/>
    <p:sldId id="661" r:id="rId20"/>
    <p:sldId id="662" r:id="rId21"/>
    <p:sldId id="586" r:id="rId22"/>
    <p:sldId id="587" r:id="rId23"/>
    <p:sldId id="700" r:id="rId24"/>
    <p:sldId id="590" r:id="rId25"/>
    <p:sldId id="591" r:id="rId26"/>
    <p:sldId id="677" r:id="rId27"/>
  </p:sldIdLst>
  <p:sldSz cx="9144000" cy="6858000" type="screen4x3"/>
  <p:notesSz cx="9601200" cy="7315200"/>
  <p:defaultTextStyle>
    <a:defPPr>
      <a:defRPr lang="en-US"/>
    </a:defPPr>
    <a:lvl1pPr algn="l" rtl="0" eaLnBrk="0" fontAlgn="base" hangingPunct="0">
      <a:spcBef>
        <a:spcPct val="0"/>
      </a:spcBef>
      <a:spcAft>
        <a:spcPct val="0"/>
      </a:spcAft>
      <a:defRPr kern="1200">
        <a:solidFill>
          <a:schemeClr val="tx1"/>
        </a:solidFill>
        <a:latin typeface="Tahoma" charset="0"/>
        <a:ea typeface="ＭＳ Ｐゴシック" charset="0"/>
        <a:cs typeface="ＭＳ Ｐゴシック" charset="0"/>
      </a:defRPr>
    </a:lvl1pPr>
    <a:lvl2pPr marL="457200" algn="l" rtl="0" eaLnBrk="0" fontAlgn="base" hangingPunct="0">
      <a:spcBef>
        <a:spcPct val="0"/>
      </a:spcBef>
      <a:spcAft>
        <a:spcPct val="0"/>
      </a:spcAft>
      <a:defRPr kern="1200">
        <a:solidFill>
          <a:schemeClr val="tx1"/>
        </a:solidFill>
        <a:latin typeface="Tahoma" charset="0"/>
        <a:ea typeface="ＭＳ Ｐゴシック" charset="0"/>
        <a:cs typeface="ＭＳ Ｐゴシック" charset="0"/>
      </a:defRPr>
    </a:lvl2pPr>
    <a:lvl3pPr marL="914400" algn="l" rtl="0" eaLnBrk="0" fontAlgn="base" hangingPunct="0">
      <a:spcBef>
        <a:spcPct val="0"/>
      </a:spcBef>
      <a:spcAft>
        <a:spcPct val="0"/>
      </a:spcAft>
      <a:defRPr kern="1200">
        <a:solidFill>
          <a:schemeClr val="tx1"/>
        </a:solidFill>
        <a:latin typeface="Tahoma" charset="0"/>
        <a:ea typeface="ＭＳ Ｐゴシック" charset="0"/>
        <a:cs typeface="ＭＳ Ｐゴシック" charset="0"/>
      </a:defRPr>
    </a:lvl3pPr>
    <a:lvl4pPr marL="1371600" algn="l" rtl="0" eaLnBrk="0" fontAlgn="base" hangingPunct="0">
      <a:spcBef>
        <a:spcPct val="0"/>
      </a:spcBef>
      <a:spcAft>
        <a:spcPct val="0"/>
      </a:spcAft>
      <a:defRPr kern="1200">
        <a:solidFill>
          <a:schemeClr val="tx1"/>
        </a:solidFill>
        <a:latin typeface="Tahoma" charset="0"/>
        <a:ea typeface="ＭＳ Ｐゴシック" charset="0"/>
        <a:cs typeface="ＭＳ Ｐゴシック" charset="0"/>
      </a:defRPr>
    </a:lvl4pPr>
    <a:lvl5pPr marL="1828800" algn="l" rtl="0" eaLnBrk="0" fontAlgn="base" hangingPunct="0">
      <a:spcBef>
        <a:spcPct val="0"/>
      </a:spcBef>
      <a:spcAft>
        <a:spcPct val="0"/>
      </a:spcAft>
      <a:defRPr kern="1200">
        <a:solidFill>
          <a:schemeClr val="tx1"/>
        </a:solidFill>
        <a:latin typeface="Tahoma" charset="0"/>
        <a:ea typeface="ＭＳ Ｐゴシック" charset="0"/>
        <a:cs typeface="ＭＳ Ｐゴシック" charset="0"/>
      </a:defRPr>
    </a:lvl5pPr>
    <a:lvl6pPr marL="2286000" algn="l" defTabSz="457200" rtl="0" eaLnBrk="1" latinLnBrk="0" hangingPunct="1">
      <a:defRPr kern="1200">
        <a:solidFill>
          <a:schemeClr val="tx1"/>
        </a:solidFill>
        <a:latin typeface="Tahoma" charset="0"/>
        <a:ea typeface="ＭＳ Ｐゴシック" charset="0"/>
        <a:cs typeface="ＭＳ Ｐゴシック" charset="0"/>
      </a:defRPr>
    </a:lvl6pPr>
    <a:lvl7pPr marL="2743200" algn="l" defTabSz="457200" rtl="0" eaLnBrk="1" latinLnBrk="0" hangingPunct="1">
      <a:defRPr kern="1200">
        <a:solidFill>
          <a:schemeClr val="tx1"/>
        </a:solidFill>
        <a:latin typeface="Tahoma" charset="0"/>
        <a:ea typeface="ＭＳ Ｐゴシック" charset="0"/>
        <a:cs typeface="ＭＳ Ｐゴシック" charset="0"/>
      </a:defRPr>
    </a:lvl7pPr>
    <a:lvl8pPr marL="3200400" algn="l" defTabSz="457200" rtl="0" eaLnBrk="1" latinLnBrk="0" hangingPunct="1">
      <a:defRPr kern="1200">
        <a:solidFill>
          <a:schemeClr val="tx1"/>
        </a:solidFill>
        <a:latin typeface="Tahoma" charset="0"/>
        <a:ea typeface="ＭＳ Ｐゴシック" charset="0"/>
        <a:cs typeface="ＭＳ Ｐゴシック" charset="0"/>
      </a:defRPr>
    </a:lvl8pPr>
    <a:lvl9pPr marL="3657600" algn="l" defTabSz="457200" rtl="0" eaLnBrk="1" latinLnBrk="0" hangingPunct="1">
      <a:defRPr kern="1200">
        <a:solidFill>
          <a:schemeClr val="tx1"/>
        </a:solidFill>
        <a:latin typeface="Tahom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08"/>
    <p:restoredTop sz="94526"/>
  </p:normalViewPr>
  <p:slideViewPr>
    <p:cSldViewPr>
      <p:cViewPr varScale="1">
        <p:scale>
          <a:sx n="123" d="100"/>
          <a:sy n="123" d="100"/>
        </p:scale>
        <p:origin x="1232" y="192"/>
      </p:cViewPr>
      <p:guideLst>
        <p:guide orient="horz" pos="2160"/>
        <p:guide pos="2880"/>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25" d="100"/>
        <a:sy n="2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5618"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Arial" pitchFamily="34" charset="0"/>
                <a:ea typeface="+mn-ea"/>
                <a:cs typeface="+mn-cs"/>
              </a:defRPr>
            </a:lvl1pPr>
          </a:lstStyle>
          <a:p>
            <a:pPr>
              <a:defRPr/>
            </a:pPr>
            <a:endParaRPr lang="en-US"/>
          </a:p>
        </p:txBody>
      </p:sp>
      <p:sp>
        <p:nvSpPr>
          <p:cNvPr id="495619" name="Rectangle 3"/>
          <p:cNvSpPr>
            <a:spLocks noGrp="1" noChangeArrowheads="1"/>
          </p:cNvSpPr>
          <p:nvPr>
            <p:ph type="dt" sz="quarter" idx="1"/>
          </p:nvPr>
        </p:nvSpPr>
        <p:spPr bwMode="auto">
          <a:xfrm>
            <a:off x="5438775" y="0"/>
            <a:ext cx="4160838"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Arial" pitchFamily="34" charset="0"/>
                <a:ea typeface="+mn-ea"/>
                <a:cs typeface="+mn-cs"/>
              </a:defRPr>
            </a:lvl1pPr>
          </a:lstStyle>
          <a:p>
            <a:pPr>
              <a:defRPr/>
            </a:pPr>
            <a:endParaRPr lang="en-US"/>
          </a:p>
        </p:txBody>
      </p:sp>
      <p:sp>
        <p:nvSpPr>
          <p:cNvPr id="495620" name="Rectangle 4"/>
          <p:cNvSpPr>
            <a:spLocks noGrp="1" noChangeArrowheads="1"/>
          </p:cNvSpPr>
          <p:nvPr>
            <p:ph type="ftr" sz="quarter" idx="2"/>
          </p:nvPr>
        </p:nvSpPr>
        <p:spPr bwMode="auto">
          <a:xfrm>
            <a:off x="0" y="6948488"/>
            <a:ext cx="4160838"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Arial" pitchFamily="34" charset="0"/>
                <a:ea typeface="+mn-ea"/>
                <a:cs typeface="+mn-cs"/>
              </a:defRPr>
            </a:lvl1pPr>
          </a:lstStyle>
          <a:p>
            <a:pPr>
              <a:defRPr/>
            </a:pPr>
            <a:endParaRPr lang="en-US"/>
          </a:p>
        </p:txBody>
      </p:sp>
      <p:sp>
        <p:nvSpPr>
          <p:cNvPr id="495621" name="Rectangle 5"/>
          <p:cNvSpPr>
            <a:spLocks noGrp="1" noChangeArrowheads="1"/>
          </p:cNvSpPr>
          <p:nvPr>
            <p:ph type="sldNum" sz="quarter" idx="3"/>
          </p:nvPr>
        </p:nvSpPr>
        <p:spPr bwMode="auto">
          <a:xfrm>
            <a:off x="5438775" y="6948488"/>
            <a:ext cx="4160838"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a:latin typeface="Arial" charset="0"/>
                <a:cs typeface="+mn-cs"/>
              </a:defRPr>
            </a:lvl1pPr>
          </a:lstStyle>
          <a:p>
            <a:pPr>
              <a:defRPr/>
            </a:pPr>
            <a:fld id="{334659C0-08A3-D744-AAFB-177BAC9F7AEE}" type="slidenum">
              <a:rPr lang="en-US"/>
              <a:pPr>
                <a:defRPr/>
              </a:pPr>
              <a:t>‹#›</a:t>
            </a:fld>
            <a:endParaRPr lang="en-US"/>
          </a:p>
        </p:txBody>
      </p:sp>
    </p:spTree>
    <p:extLst>
      <p:ext uri="{BB962C8B-B14F-4D97-AF65-F5344CB8AC3E}">
        <p14:creationId xmlns:p14="http://schemas.microsoft.com/office/powerpoint/2010/main" val="2150353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0274"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Arial" pitchFamily="34" charset="0"/>
                <a:ea typeface="+mn-ea"/>
                <a:cs typeface="+mn-cs"/>
              </a:defRPr>
            </a:lvl1pPr>
          </a:lstStyle>
          <a:p>
            <a:pPr>
              <a:defRPr/>
            </a:pPr>
            <a:endParaRPr lang="en-US"/>
          </a:p>
        </p:txBody>
      </p:sp>
      <p:sp>
        <p:nvSpPr>
          <p:cNvPr id="310275" name="Rectangle 3"/>
          <p:cNvSpPr>
            <a:spLocks noGrp="1" noChangeArrowheads="1"/>
          </p:cNvSpPr>
          <p:nvPr>
            <p:ph type="dt" idx="1"/>
          </p:nvPr>
        </p:nvSpPr>
        <p:spPr bwMode="auto">
          <a:xfrm>
            <a:off x="5438775" y="0"/>
            <a:ext cx="4160838"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Arial" pitchFamily="34" charset="0"/>
                <a:ea typeface="+mn-ea"/>
                <a:cs typeface="+mn-cs"/>
              </a:defRPr>
            </a:lvl1pPr>
          </a:lstStyle>
          <a:p>
            <a:pPr>
              <a:defRPr/>
            </a:pPr>
            <a:endParaRPr lang="en-US"/>
          </a:p>
        </p:txBody>
      </p:sp>
      <p:sp>
        <p:nvSpPr>
          <p:cNvPr id="18436" name="Rectangle 4"/>
          <p:cNvSpPr>
            <a:spLocks noGrp="1" noRot="1" noChangeAspect="1" noChangeArrowheads="1" noTextEdit="1"/>
          </p:cNvSpPr>
          <p:nvPr>
            <p:ph type="sldImg" idx="2"/>
          </p:nvPr>
        </p:nvSpPr>
        <p:spPr bwMode="auto">
          <a:xfrm>
            <a:off x="2971800" y="549275"/>
            <a:ext cx="3657600" cy="27432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10277" name="Rectangle 5"/>
          <p:cNvSpPr>
            <a:spLocks noGrp="1" noChangeArrowheads="1"/>
          </p:cNvSpPr>
          <p:nvPr>
            <p:ph type="body" sz="quarter" idx="3"/>
          </p:nvPr>
        </p:nvSpPr>
        <p:spPr bwMode="auto">
          <a:xfrm>
            <a:off x="960438" y="3475038"/>
            <a:ext cx="7680325" cy="32908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0278" name="Rectangle 6"/>
          <p:cNvSpPr>
            <a:spLocks noGrp="1" noChangeArrowheads="1"/>
          </p:cNvSpPr>
          <p:nvPr>
            <p:ph type="ftr" sz="quarter" idx="4"/>
          </p:nvPr>
        </p:nvSpPr>
        <p:spPr bwMode="auto">
          <a:xfrm>
            <a:off x="0" y="6948488"/>
            <a:ext cx="4160838"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Arial" pitchFamily="34" charset="0"/>
                <a:ea typeface="+mn-ea"/>
                <a:cs typeface="+mn-cs"/>
              </a:defRPr>
            </a:lvl1pPr>
          </a:lstStyle>
          <a:p>
            <a:pPr>
              <a:defRPr/>
            </a:pPr>
            <a:endParaRPr lang="en-US"/>
          </a:p>
        </p:txBody>
      </p:sp>
      <p:sp>
        <p:nvSpPr>
          <p:cNvPr id="310279" name="Rectangle 7"/>
          <p:cNvSpPr>
            <a:spLocks noGrp="1" noChangeArrowheads="1"/>
          </p:cNvSpPr>
          <p:nvPr>
            <p:ph type="sldNum" sz="quarter" idx="5"/>
          </p:nvPr>
        </p:nvSpPr>
        <p:spPr bwMode="auto">
          <a:xfrm>
            <a:off x="5438775" y="6948488"/>
            <a:ext cx="4160838"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a:latin typeface="Arial" charset="0"/>
                <a:cs typeface="+mn-cs"/>
              </a:defRPr>
            </a:lvl1pPr>
          </a:lstStyle>
          <a:p>
            <a:pPr>
              <a:defRPr/>
            </a:pPr>
            <a:fld id="{50A87927-DCA4-084E-BA9A-2769C17ABB97}" type="slidenum">
              <a:rPr lang="en-US"/>
              <a:pPr>
                <a:defRPr/>
              </a:pPr>
              <a:t>‹#›</a:t>
            </a:fld>
            <a:endParaRPr lang="en-US"/>
          </a:p>
        </p:txBody>
      </p:sp>
    </p:spTree>
    <p:extLst>
      <p:ext uri="{BB962C8B-B14F-4D97-AF65-F5344CB8AC3E}">
        <p14:creationId xmlns:p14="http://schemas.microsoft.com/office/powerpoint/2010/main" val="177116505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92771B7D-4547-1C43-ACCA-229FDBB5BB0E}" type="slidenum">
              <a:rPr lang="en-US" sz="1300">
                <a:latin typeface="Arial" charset="0"/>
              </a:rPr>
              <a:pPr/>
              <a:t>1</a:t>
            </a:fld>
            <a:endParaRPr lang="en-US" sz="130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a:ln/>
        </p:spPr>
      </p:sp>
      <p:sp>
        <p:nvSpPr>
          <p:cNvPr id="22530"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2253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B9B83095-4EA7-7744-8D80-AFC1EE7C6245}" type="slidenum">
              <a:rPr lang="en-US" sz="1300">
                <a:latin typeface="Arial" charset="0"/>
              </a:rPr>
              <a:pPr/>
              <a:t>2</a:t>
            </a:fld>
            <a:endParaRPr lang="en-US" sz="130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a:ln/>
        </p:spPr>
      </p:sp>
      <p:sp>
        <p:nvSpPr>
          <p:cNvPr id="2457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2457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C9A13DDE-59DF-6A45-80A8-0A7591FC3A07}" type="slidenum">
              <a:rPr lang="en-US" sz="1300">
                <a:latin typeface="Arial" charset="0"/>
              </a:rPr>
              <a:pPr/>
              <a:t>3</a:t>
            </a:fld>
            <a:endParaRPr lang="en-US" sz="130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a:ln/>
        </p:spPr>
      </p:sp>
      <p:sp>
        <p:nvSpPr>
          <p:cNvPr id="4096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4096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9D0DFFCC-B407-B548-A784-1A8BABF6AA5C}" type="slidenum">
              <a:rPr lang="en-US" sz="1300">
                <a:latin typeface="Arial" charset="0"/>
              </a:rPr>
              <a:pPr/>
              <a:t>4</a:t>
            </a:fld>
            <a:endParaRPr lang="en-US" sz="130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a:ln/>
        </p:spPr>
      </p:sp>
      <p:sp>
        <p:nvSpPr>
          <p:cNvPr id="43010"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4301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07001100-DEAC-CC44-9B5A-659B711A150B}" type="slidenum">
              <a:rPr lang="en-US" sz="1300">
                <a:latin typeface="Arial" charset="0"/>
              </a:rPr>
              <a:pPr/>
              <a:t>5</a:t>
            </a:fld>
            <a:endParaRPr lang="en-US" sz="130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a:ln/>
        </p:spPr>
      </p:sp>
      <p:sp>
        <p:nvSpPr>
          <p:cNvPr id="4505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4505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9D2B730F-820F-7F44-AD8E-82BBA861D6B6}" type="slidenum">
              <a:rPr lang="en-US" sz="1300">
                <a:latin typeface="Arial" charset="0"/>
              </a:rPr>
              <a:pPr/>
              <a:t>6</a:t>
            </a:fld>
            <a:endParaRPr lang="en-US" sz="130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a:ln/>
        </p:spPr>
      </p:sp>
      <p:sp>
        <p:nvSpPr>
          <p:cNvPr id="47106"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latin typeface="Arial" charset="0"/>
            </a:endParaRPr>
          </a:p>
        </p:txBody>
      </p:sp>
      <p:sp>
        <p:nvSpPr>
          <p:cNvPr id="47107"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8E86A88F-3C26-404D-9D88-AE892411EBF5}" type="slidenum">
              <a:rPr lang="en-US" sz="1300">
                <a:latin typeface="Arial" charset="0"/>
              </a:rPr>
              <a:pPr/>
              <a:t>7</a:t>
            </a:fld>
            <a:endParaRPr lang="en-US" sz="130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0A87927-DCA4-084E-BA9A-2769C17ABB97}" type="slidenum">
              <a:rPr lang="en-US" smtClean="0"/>
              <a:pPr>
                <a:defRPr/>
              </a:pPr>
              <a:t>8</a:t>
            </a:fld>
            <a:endParaRPr lang="en-US"/>
          </a:p>
        </p:txBody>
      </p:sp>
    </p:spTree>
    <p:extLst>
      <p:ext uri="{BB962C8B-B14F-4D97-AF65-F5344CB8AC3E}">
        <p14:creationId xmlns:p14="http://schemas.microsoft.com/office/powerpoint/2010/main" val="140998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a:ln/>
        </p:spPr>
      </p:sp>
      <p:sp>
        <p:nvSpPr>
          <p:cNvPr id="7168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7168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7F89B3C1-5B02-D541-AFED-A1734355E909}" type="slidenum">
              <a:rPr lang="en-US" sz="1300">
                <a:latin typeface="Arial" charset="0"/>
              </a:rPr>
              <a:pPr/>
              <a:t>12</a:t>
            </a:fld>
            <a:endParaRPr lang="en-US" sz="130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noTextEdit="1"/>
          </p:cNvSpPr>
          <p:nvPr>
            <p:ph type="sldImg"/>
          </p:nvPr>
        </p:nvSpPr>
        <p:spPr>
          <a:ln/>
        </p:spPr>
      </p:sp>
      <p:sp>
        <p:nvSpPr>
          <p:cNvPr id="7680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7680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F6106A8B-C8BD-D34D-8BF1-5A1F26B103D0}" type="slidenum">
              <a:rPr lang="en-US" sz="1300">
                <a:latin typeface="Arial" charset="0"/>
              </a:rPr>
              <a:pPr/>
              <a:t>14</a:t>
            </a:fld>
            <a:endParaRPr lang="en-US" sz="130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noTextEdit="1"/>
          </p:cNvSpPr>
          <p:nvPr>
            <p:ph type="sldImg"/>
          </p:nvPr>
        </p:nvSpPr>
        <p:spPr>
          <a:ln/>
        </p:spPr>
      </p:sp>
      <p:sp>
        <p:nvSpPr>
          <p:cNvPr id="8089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8089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575F7638-E970-7447-B1C0-9C50581B3CCE}" type="slidenum">
              <a:rPr lang="en-US" sz="1300">
                <a:latin typeface="Arial" charset="0"/>
              </a:rPr>
              <a:pPr/>
              <a:t>15</a:t>
            </a:fld>
            <a:endParaRPr lang="en-US" sz="1300">
              <a:latin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0A87927-DCA4-084E-BA9A-2769C17ABB97}" type="slidenum">
              <a:rPr lang="en-US" smtClean="0"/>
              <a:pPr>
                <a:defRPr/>
              </a:pPr>
              <a:t>16</a:t>
            </a:fld>
            <a:endParaRPr lang="en-US"/>
          </a:p>
        </p:txBody>
      </p:sp>
    </p:spTree>
    <p:extLst>
      <p:ext uri="{BB962C8B-B14F-4D97-AF65-F5344CB8AC3E}">
        <p14:creationId xmlns:p14="http://schemas.microsoft.com/office/powerpoint/2010/main" val="2580946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AFEE-C529-43C0-7CD7-7D67D2838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1D9DB-C4A6-F501-0F8E-40E082C40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02C18-B554-4BD5-98D1-C3E26FB241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362738-9FC0-A0FE-4BC3-61DA23AC6C1F}"/>
              </a:ext>
            </a:extLst>
          </p:cNvPr>
          <p:cNvSpPr>
            <a:spLocks noGrp="1"/>
          </p:cNvSpPr>
          <p:nvPr>
            <p:ph type="sldNum" sz="quarter" idx="5"/>
          </p:nvPr>
        </p:nvSpPr>
        <p:spPr/>
        <p:txBody>
          <a:bodyPr/>
          <a:lstStyle/>
          <a:p>
            <a:pPr>
              <a:defRPr/>
            </a:pPr>
            <a:fld id="{50A87927-DCA4-084E-BA9A-2769C17ABB97}" type="slidenum">
              <a:rPr lang="en-US" smtClean="0"/>
              <a:pPr>
                <a:defRPr/>
              </a:pPr>
              <a:t>17</a:t>
            </a:fld>
            <a:endParaRPr lang="en-US"/>
          </a:p>
        </p:txBody>
      </p:sp>
    </p:spTree>
    <p:extLst>
      <p:ext uri="{BB962C8B-B14F-4D97-AF65-F5344CB8AC3E}">
        <p14:creationId xmlns:p14="http://schemas.microsoft.com/office/powerpoint/2010/main" val="974372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p:cNvSpPr>
            <a:spLocks noGrp="1" noRot="1" noChangeAspect="1" noTextEdit="1"/>
          </p:cNvSpPr>
          <p:nvPr>
            <p:ph type="sldImg"/>
          </p:nvPr>
        </p:nvSpPr>
        <p:spPr>
          <a:ln/>
        </p:spPr>
      </p:sp>
      <p:sp>
        <p:nvSpPr>
          <p:cNvPr id="9728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9728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37CD8E92-9140-8047-84DA-CA57E679EFAF}" type="slidenum">
              <a:rPr lang="en-US" sz="1300">
                <a:latin typeface="Arial" charset="0"/>
              </a:rPr>
              <a:pPr/>
              <a:t>18</a:t>
            </a:fld>
            <a:endParaRPr lang="en-US" sz="130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Image Placeholder 1"/>
          <p:cNvSpPr>
            <a:spLocks noGrp="1" noRot="1" noChangeAspect="1" noTextEdit="1"/>
          </p:cNvSpPr>
          <p:nvPr>
            <p:ph type="sldImg"/>
          </p:nvPr>
        </p:nvSpPr>
        <p:spPr>
          <a:ln/>
        </p:spPr>
      </p:sp>
      <p:sp>
        <p:nvSpPr>
          <p:cNvPr id="10547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10547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8CBB08C3-1B50-7D43-A765-50CADC000499}" type="slidenum">
              <a:rPr lang="en-US" sz="1300">
                <a:latin typeface="Arial" charset="0"/>
              </a:rPr>
              <a:pPr/>
              <a:t>19</a:t>
            </a:fld>
            <a:endParaRPr lang="en-US" sz="1300">
              <a:latin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a:ln/>
        </p:spPr>
      </p:sp>
      <p:sp>
        <p:nvSpPr>
          <p:cNvPr id="10752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10752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381BC5F9-47E6-0D42-BDB6-1D02C705C4E9}" type="slidenum">
              <a:rPr lang="en-US" sz="1300">
                <a:latin typeface="Arial" charset="0"/>
              </a:rPr>
              <a:pPr/>
              <a:t>20</a:t>
            </a:fld>
            <a:endParaRPr lang="en-US" sz="1300">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11161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F9B48BC8-84E7-1E44-B378-198588C7EDCC}" type="slidenum">
              <a:rPr lang="en-US" sz="1300">
                <a:latin typeface="Arial" charset="0"/>
              </a:rPr>
              <a:pPr/>
              <a:t>21</a:t>
            </a:fld>
            <a:endParaRPr lang="en-US" sz="130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noTextEdit="1"/>
          </p:cNvSpPr>
          <p:nvPr>
            <p:ph type="sldImg"/>
          </p:nvPr>
        </p:nvSpPr>
        <p:spPr>
          <a:ln/>
        </p:spPr>
      </p:sp>
      <p:sp>
        <p:nvSpPr>
          <p:cNvPr id="11673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latin typeface="Arial" charset="0"/>
            </a:endParaRPr>
          </a:p>
        </p:txBody>
      </p:sp>
      <p:sp>
        <p:nvSpPr>
          <p:cNvPr id="11673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B8C3485F-4225-9940-AD99-BE48E08609BD}" type="slidenum">
              <a:rPr lang="en-US" sz="1300">
                <a:latin typeface="Arial" charset="0"/>
              </a:rPr>
              <a:pPr/>
              <a:t>22</a:t>
            </a:fld>
            <a:endParaRPr lang="en-US" sz="1300">
              <a:latin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F3D42-07A6-27D6-2EFA-E740BB03DBCE}"/>
            </a:ext>
          </a:extLst>
        </p:cNvPr>
        <p:cNvGrpSpPr/>
        <p:nvPr/>
      </p:nvGrpSpPr>
      <p:grpSpPr>
        <a:xfrm>
          <a:off x="0" y="0"/>
          <a:ext cx="0" cy="0"/>
          <a:chOff x="0" y="0"/>
          <a:chExt cx="0" cy="0"/>
        </a:xfrm>
      </p:grpSpPr>
      <p:sp>
        <p:nvSpPr>
          <p:cNvPr id="116737" name="Slide Image Placeholder 1">
            <a:extLst>
              <a:ext uri="{FF2B5EF4-FFF2-40B4-BE49-F238E27FC236}">
                <a16:creationId xmlns:a16="http://schemas.microsoft.com/office/drawing/2014/main" id="{BC1F9F2A-BDBC-B0DE-2190-CA0817EF3C9A}"/>
              </a:ext>
            </a:extLst>
          </p:cNvPr>
          <p:cNvSpPr>
            <a:spLocks noGrp="1" noRot="1" noChangeAspect="1" noTextEdit="1"/>
          </p:cNvSpPr>
          <p:nvPr>
            <p:ph type="sldImg"/>
          </p:nvPr>
        </p:nvSpPr>
        <p:spPr>
          <a:ln/>
        </p:spPr>
      </p:sp>
      <p:sp>
        <p:nvSpPr>
          <p:cNvPr id="116738" name="Notes Placeholder 2">
            <a:extLst>
              <a:ext uri="{FF2B5EF4-FFF2-40B4-BE49-F238E27FC236}">
                <a16:creationId xmlns:a16="http://schemas.microsoft.com/office/drawing/2014/main" id="{6919010B-44C2-E0D6-BC6F-5417F1761A5E}"/>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latin typeface="Arial" charset="0"/>
            </a:endParaRPr>
          </a:p>
        </p:txBody>
      </p:sp>
      <p:sp>
        <p:nvSpPr>
          <p:cNvPr id="116739" name="Slide Number Placeholder 3">
            <a:extLst>
              <a:ext uri="{FF2B5EF4-FFF2-40B4-BE49-F238E27FC236}">
                <a16:creationId xmlns:a16="http://schemas.microsoft.com/office/drawing/2014/main" id="{17D7BD23-4DBF-27CD-7933-A70F237FD8ED}"/>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B8C3485F-4225-9940-AD99-BE48E08609BD}" type="slidenum">
              <a:rPr lang="en-US" sz="1300">
                <a:latin typeface="Arial" charset="0"/>
              </a:rPr>
              <a:pPr/>
              <a:t>23</a:t>
            </a:fld>
            <a:endParaRPr lang="en-US" sz="1300">
              <a:latin typeface="Arial" charset="0"/>
            </a:endParaRPr>
          </a:p>
        </p:txBody>
      </p:sp>
    </p:spTree>
    <p:extLst>
      <p:ext uri="{BB962C8B-B14F-4D97-AF65-F5344CB8AC3E}">
        <p14:creationId xmlns:p14="http://schemas.microsoft.com/office/powerpoint/2010/main" val="1616282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Slide Image Placeholder 1"/>
          <p:cNvSpPr>
            <a:spLocks noGrp="1" noRot="1" noChangeAspect="1" noTextEdit="1"/>
          </p:cNvSpPr>
          <p:nvPr>
            <p:ph type="sldImg"/>
          </p:nvPr>
        </p:nvSpPr>
        <p:spPr>
          <a:ln/>
        </p:spPr>
      </p:sp>
      <p:sp>
        <p:nvSpPr>
          <p:cNvPr id="13107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latin typeface="Arial" charset="0"/>
            </a:endParaRPr>
          </a:p>
        </p:txBody>
      </p:sp>
      <p:sp>
        <p:nvSpPr>
          <p:cNvPr id="13107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402AB3F4-8CFA-9C4A-8B09-9724104946FA}" type="slidenum">
              <a:rPr lang="en-US" sz="1300">
                <a:latin typeface="Arial" charset="0"/>
              </a:rPr>
              <a:pPr/>
              <a:t>24</a:t>
            </a:fld>
            <a:endParaRPr lang="en-US" sz="130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Slide Image Placeholder 1"/>
          <p:cNvSpPr>
            <a:spLocks noGrp="1" noRot="1" noChangeAspect="1" noTextEdit="1"/>
          </p:cNvSpPr>
          <p:nvPr>
            <p:ph type="sldImg"/>
          </p:nvPr>
        </p:nvSpPr>
        <p:spPr>
          <a:ln/>
        </p:spPr>
      </p:sp>
      <p:sp>
        <p:nvSpPr>
          <p:cNvPr id="139266"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139267"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B01BFA61-A275-2747-B4C6-528D7A5543A7}" type="slidenum">
              <a:rPr lang="en-US" sz="1300">
                <a:latin typeface="Arial" charset="0"/>
              </a:rPr>
              <a:pPr/>
              <a:t>25</a:t>
            </a:fld>
            <a:endParaRPr lang="en-US" sz="130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Slide Image Placeholder 1"/>
          <p:cNvSpPr>
            <a:spLocks noGrp="1" noRot="1" noChangeAspect="1" noTextEdit="1"/>
          </p:cNvSpPr>
          <p:nvPr>
            <p:ph type="sldImg"/>
          </p:nvPr>
        </p:nvSpPr>
        <p:spPr>
          <a:ln/>
        </p:spPr>
      </p:sp>
      <p:sp>
        <p:nvSpPr>
          <p:cNvPr id="14131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
        <p:nvSpPr>
          <p:cNvPr id="14131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a:defRPr sz="2400">
                <a:solidFill>
                  <a:schemeClr val="tx1"/>
                </a:solidFill>
                <a:latin typeface="Tahoma" charset="0"/>
                <a:ea typeface="ＭＳ Ｐゴシック" charset="0"/>
                <a:cs typeface="ＭＳ Ｐゴシック" charset="0"/>
              </a:defRPr>
            </a:lvl1pPr>
            <a:lvl2pPr marL="742950" indent="-285750" defTabSz="966788">
              <a:defRPr sz="2400">
                <a:solidFill>
                  <a:schemeClr val="tx1"/>
                </a:solidFill>
                <a:latin typeface="Tahoma" charset="0"/>
                <a:ea typeface="ＭＳ Ｐゴシック" charset="0"/>
              </a:defRPr>
            </a:lvl2pPr>
            <a:lvl3pPr marL="1143000" indent="-228600" defTabSz="966788">
              <a:defRPr sz="2400">
                <a:solidFill>
                  <a:schemeClr val="tx1"/>
                </a:solidFill>
                <a:latin typeface="Tahoma" charset="0"/>
                <a:ea typeface="ＭＳ Ｐゴシック" charset="0"/>
              </a:defRPr>
            </a:lvl3pPr>
            <a:lvl4pPr marL="1600200" indent="-228600" defTabSz="966788">
              <a:defRPr sz="2400">
                <a:solidFill>
                  <a:schemeClr val="tx1"/>
                </a:solidFill>
                <a:latin typeface="Tahoma" charset="0"/>
                <a:ea typeface="ＭＳ Ｐゴシック" charset="0"/>
              </a:defRPr>
            </a:lvl4pPr>
            <a:lvl5pPr marL="2057400" indent="-228600" defTabSz="966788">
              <a:defRPr sz="2400">
                <a:solidFill>
                  <a:schemeClr val="tx1"/>
                </a:solidFill>
                <a:latin typeface="Tahoma" charset="0"/>
                <a:ea typeface="ＭＳ Ｐゴシック" charset="0"/>
              </a:defRPr>
            </a:lvl5pPr>
            <a:lvl6pPr marL="2514600" indent="-228600" defTabSz="966788"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6788"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6788"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6788" eaLnBrk="0" fontAlgn="base" hangingPunct="0">
              <a:spcBef>
                <a:spcPct val="0"/>
              </a:spcBef>
              <a:spcAft>
                <a:spcPct val="0"/>
              </a:spcAft>
              <a:defRPr sz="2400">
                <a:solidFill>
                  <a:schemeClr val="tx1"/>
                </a:solidFill>
                <a:latin typeface="Tahoma" charset="0"/>
                <a:ea typeface="ＭＳ Ｐゴシック" charset="0"/>
              </a:defRPr>
            </a:lvl9pPr>
          </a:lstStyle>
          <a:p>
            <a:fld id="{F2994BC0-A8C8-E744-ADD5-0DC2BCAEFCCC}" type="slidenum">
              <a:rPr lang="en-US" sz="1300">
                <a:latin typeface="Arial" charset="0"/>
              </a:rPr>
              <a:pPr/>
              <a:t>26</a:t>
            </a:fld>
            <a:endParaRPr lang="en-US" sz="130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pPr>
              <a:defRPr/>
            </a:pPr>
            <a:r>
              <a:rPr lang="en-US"/>
              <a:t>2005</a:t>
            </a:r>
          </a:p>
        </p:txBody>
      </p:sp>
      <p:sp>
        <p:nvSpPr>
          <p:cNvPr id="5" name="Footer Placeholder 4"/>
          <p:cNvSpPr>
            <a:spLocks noGrp="1"/>
          </p:cNvSpPr>
          <p:nvPr>
            <p:ph type="ftr" sz="quarter" idx="11"/>
          </p:nvPr>
        </p:nvSpPr>
        <p:spPr/>
        <p:txBody>
          <a:bodyPr/>
          <a:lstStyle>
            <a:lvl1pPr>
              <a:defRPr>
                <a:solidFill>
                  <a:schemeClr val="tx2"/>
                </a:solidFill>
              </a:defRPr>
            </a:lvl1pPr>
          </a:lstStyle>
          <a:p>
            <a:pPr>
              <a:defRPr/>
            </a:pPr>
            <a:r>
              <a:rPr lang="en-US"/>
              <a:t>Principles of Human Anatomy and Physiology, 11e</a:t>
            </a: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36DD0FD-55B0-48C4-8AF2-8A69533EDFC3}" type="slidenum">
              <a:rPr lang="en-US" smtClean="0"/>
              <a:pPr/>
              <a:t>‹#›</a:t>
            </a:fld>
            <a:endParaRPr lang="en-US" dirty="0"/>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2005</a:t>
            </a:r>
          </a:p>
        </p:txBody>
      </p:sp>
      <p:sp>
        <p:nvSpPr>
          <p:cNvPr id="5" name="Footer Placeholder 4"/>
          <p:cNvSpPr>
            <a:spLocks noGrp="1"/>
          </p:cNvSpPr>
          <p:nvPr>
            <p:ph type="ftr" sz="quarter" idx="11"/>
          </p:nvPr>
        </p:nvSpPr>
        <p:spPr/>
        <p:txBody>
          <a:bodyPr/>
          <a:lstStyle/>
          <a:p>
            <a:pPr>
              <a:defRPr/>
            </a:pPr>
            <a:r>
              <a:rPr lang="en-US"/>
              <a:t>Principles of Human Anatomy and Physiology, 11e</a:t>
            </a:r>
          </a:p>
        </p:txBody>
      </p:sp>
      <p:sp>
        <p:nvSpPr>
          <p:cNvPr id="6" name="Slide Number Placeholder 5"/>
          <p:cNvSpPr>
            <a:spLocks noGrp="1"/>
          </p:cNvSpPr>
          <p:nvPr>
            <p:ph type="sldNum" sz="quarter" idx="12"/>
          </p:nvPr>
        </p:nvSpPr>
        <p:spPr/>
        <p:txBody>
          <a:bodyPr/>
          <a:lstStyle/>
          <a:p>
            <a:pPr>
              <a:defRPr/>
            </a:pPr>
            <a:fld id="{1DE3B907-E1EB-D94B-A4E9-F7AEA934C771}" type="slidenum">
              <a:rPr lang="en-US" smtClean="0"/>
              <a:pPr>
                <a:defRPr/>
              </a:pPr>
              <a:t>‹#›</a:t>
            </a:fld>
            <a:endParaRPr lang="en-US"/>
          </a:p>
        </p:txBody>
      </p:sp>
      <p:sp>
        <p:nvSpPr>
          <p:cNvPr id="11" name="Title 10"/>
          <p:cNvSpPr>
            <a:spLocks noGrp="1"/>
          </p:cNvSpPr>
          <p:nvPr>
            <p:ph type="title"/>
          </p:nvPr>
        </p:nvSpPr>
        <p:spPr/>
        <p:txBody>
          <a:bodyPr/>
          <a:lstStyle/>
          <a:p>
            <a:r>
              <a:rPr lang="en-US"/>
              <a:t>Click to edit Master title style</a:t>
            </a:r>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2005</a:t>
            </a:r>
          </a:p>
        </p:txBody>
      </p:sp>
      <p:sp>
        <p:nvSpPr>
          <p:cNvPr id="5" name="Footer Placeholder 4"/>
          <p:cNvSpPr>
            <a:spLocks noGrp="1"/>
          </p:cNvSpPr>
          <p:nvPr>
            <p:ph type="ftr" sz="quarter" idx="11"/>
          </p:nvPr>
        </p:nvSpPr>
        <p:spPr/>
        <p:txBody>
          <a:bodyPr/>
          <a:lstStyle/>
          <a:p>
            <a:pPr>
              <a:defRPr/>
            </a:pPr>
            <a:r>
              <a:rPr lang="en-US"/>
              <a:t>Principles of Human Anatomy and Physiology, 11e</a:t>
            </a:r>
          </a:p>
        </p:txBody>
      </p:sp>
      <p:sp>
        <p:nvSpPr>
          <p:cNvPr id="6" name="Slide Number Placeholder 5"/>
          <p:cNvSpPr>
            <a:spLocks noGrp="1"/>
          </p:cNvSpPr>
          <p:nvPr>
            <p:ph type="sldNum" sz="quarter" idx="12"/>
          </p:nvPr>
        </p:nvSpPr>
        <p:spPr/>
        <p:txBody>
          <a:bodyPr/>
          <a:lstStyle/>
          <a:p>
            <a:pPr>
              <a:defRPr/>
            </a:pPr>
            <a:fld id="{54A16F40-73F6-A44D-BCA1-8FFCD203086C}"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pPr>
              <a:defRPr/>
            </a:pPr>
            <a:r>
              <a:rPr lang="en-US"/>
              <a:t>2005</a:t>
            </a:r>
          </a:p>
        </p:txBody>
      </p:sp>
      <p:sp>
        <p:nvSpPr>
          <p:cNvPr id="6" name="Footer Placeholder 5"/>
          <p:cNvSpPr>
            <a:spLocks noGrp="1"/>
          </p:cNvSpPr>
          <p:nvPr>
            <p:ph type="ftr" sz="quarter" idx="11"/>
          </p:nvPr>
        </p:nvSpPr>
        <p:spPr/>
        <p:txBody>
          <a:bodyPr/>
          <a:lstStyle/>
          <a:p>
            <a:pPr>
              <a:defRPr/>
            </a:pPr>
            <a:r>
              <a:rPr lang="en-US"/>
              <a:t>Principles of Human Anatomy and Physiology, 11e</a:t>
            </a:r>
          </a:p>
        </p:txBody>
      </p:sp>
      <p:sp>
        <p:nvSpPr>
          <p:cNvPr id="7" name="Slide Number Placeholder 6"/>
          <p:cNvSpPr>
            <a:spLocks noGrp="1"/>
          </p:cNvSpPr>
          <p:nvPr>
            <p:ph type="sldNum" sz="quarter" idx="12"/>
          </p:nvPr>
        </p:nvSpPr>
        <p:spPr/>
        <p:txBody>
          <a:bodyPr/>
          <a:lstStyle/>
          <a:p>
            <a:pPr>
              <a:defRPr/>
            </a:pPr>
            <a:fld id="{98604982-2C31-FE45-B45D-2E1E6647E5C6}" type="slidenum">
              <a:rPr lang="en-US" smtClean="0"/>
              <a:pPr>
                <a:defRPr/>
              </a:pPr>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4645151"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2005</a:t>
            </a:r>
          </a:p>
        </p:txBody>
      </p:sp>
      <p:sp>
        <p:nvSpPr>
          <p:cNvPr id="8" name="Footer Placeholder 7"/>
          <p:cNvSpPr>
            <a:spLocks noGrp="1"/>
          </p:cNvSpPr>
          <p:nvPr>
            <p:ph type="ftr" sz="quarter" idx="11"/>
          </p:nvPr>
        </p:nvSpPr>
        <p:spPr/>
        <p:txBody>
          <a:bodyPr/>
          <a:lstStyle/>
          <a:p>
            <a:pPr>
              <a:defRPr/>
            </a:pPr>
            <a:r>
              <a:rPr lang="en-US"/>
              <a:t>Principles of Human Anatomy and Physiology, 11e</a:t>
            </a:r>
          </a:p>
        </p:txBody>
      </p:sp>
      <p:sp>
        <p:nvSpPr>
          <p:cNvPr id="9" name="Slide Number Placeholder 8"/>
          <p:cNvSpPr>
            <a:spLocks noGrp="1"/>
          </p:cNvSpPr>
          <p:nvPr>
            <p:ph type="sldNum" sz="quarter" idx="12"/>
          </p:nvPr>
        </p:nvSpPr>
        <p:spPr/>
        <p:txBody>
          <a:bodyPr/>
          <a:lstStyle/>
          <a:p>
            <a:pPr>
              <a:defRPr/>
            </a:pPr>
            <a:fld id="{A64A70D8-95C6-FE49-9044-525E4AA1BD47}" type="slidenum">
              <a:rPr lang="en-US" smtClean="0"/>
              <a:pPr>
                <a:defRPr/>
              </a:pPr>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r>
              <a:rPr lang="en-US"/>
              <a:t>2005</a:t>
            </a:r>
          </a:p>
        </p:txBody>
      </p:sp>
      <p:sp>
        <p:nvSpPr>
          <p:cNvPr id="4" name="Footer Placeholder 3"/>
          <p:cNvSpPr>
            <a:spLocks noGrp="1"/>
          </p:cNvSpPr>
          <p:nvPr>
            <p:ph type="ftr" sz="quarter" idx="11"/>
          </p:nvPr>
        </p:nvSpPr>
        <p:spPr/>
        <p:txBody>
          <a:bodyPr/>
          <a:lstStyle/>
          <a:p>
            <a:pPr>
              <a:defRPr/>
            </a:pPr>
            <a:r>
              <a:rPr lang="en-US"/>
              <a:t>Principles of Human Anatomy and Physiology, 11e</a:t>
            </a:r>
          </a:p>
        </p:txBody>
      </p:sp>
      <p:sp>
        <p:nvSpPr>
          <p:cNvPr id="5" name="Slide Number Placeholder 4"/>
          <p:cNvSpPr>
            <a:spLocks noGrp="1"/>
          </p:cNvSpPr>
          <p:nvPr>
            <p:ph type="sldNum" sz="quarter" idx="12"/>
          </p:nvPr>
        </p:nvSpPr>
        <p:spPr/>
        <p:txBody>
          <a:bodyPr/>
          <a:lstStyle/>
          <a:p>
            <a:pPr>
              <a:defRPr/>
            </a:pPr>
            <a:fld id="{BF659759-0843-B74F-996B-1AF386856C1D}" type="slidenum">
              <a:rPr lang="en-US" smtClean="0"/>
              <a:pPr>
                <a:defRPr/>
              </a:pPr>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2005</a:t>
            </a:r>
          </a:p>
        </p:txBody>
      </p:sp>
      <p:sp>
        <p:nvSpPr>
          <p:cNvPr id="3" name="Footer Placeholder 2"/>
          <p:cNvSpPr>
            <a:spLocks noGrp="1"/>
          </p:cNvSpPr>
          <p:nvPr>
            <p:ph type="ftr" sz="quarter" idx="11"/>
          </p:nvPr>
        </p:nvSpPr>
        <p:spPr/>
        <p:txBody>
          <a:bodyPr/>
          <a:lstStyle/>
          <a:p>
            <a:pPr>
              <a:defRPr/>
            </a:pPr>
            <a:r>
              <a:rPr lang="en-US"/>
              <a:t>Principles of Human Anatomy and Physiology, 11e</a:t>
            </a:r>
          </a:p>
        </p:txBody>
      </p:sp>
      <p:sp>
        <p:nvSpPr>
          <p:cNvPr id="4" name="Slide Number Placeholder 3"/>
          <p:cNvSpPr>
            <a:spLocks noGrp="1"/>
          </p:cNvSpPr>
          <p:nvPr>
            <p:ph type="sldNum" sz="quarter" idx="12"/>
          </p:nvPr>
        </p:nvSpPr>
        <p:spPr/>
        <p:txBody>
          <a:bodyPr/>
          <a:lstStyle/>
          <a:p>
            <a:pPr>
              <a:defRPr/>
            </a:pPr>
            <a:fld id="{BD308F85-8408-BC4A-8652-AE2048E64DFC}" type="slidenum">
              <a:rPr lang="en-US" smtClean="0"/>
              <a:pPr>
                <a:defRPr/>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a:t>Click to edit Master title style</a:t>
            </a:r>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2005</a:t>
            </a:r>
          </a:p>
        </p:txBody>
      </p:sp>
      <p:sp>
        <p:nvSpPr>
          <p:cNvPr id="6" name="Footer Placeholder 5"/>
          <p:cNvSpPr>
            <a:spLocks noGrp="1"/>
          </p:cNvSpPr>
          <p:nvPr>
            <p:ph type="ftr" sz="quarter" idx="11"/>
          </p:nvPr>
        </p:nvSpPr>
        <p:spPr/>
        <p:txBody>
          <a:bodyPr/>
          <a:lstStyle/>
          <a:p>
            <a:pPr>
              <a:defRPr/>
            </a:pPr>
            <a:r>
              <a:rPr lang="en-US"/>
              <a:t>Principles of Human Anatomy and Physiology, 11e</a:t>
            </a:r>
          </a:p>
        </p:txBody>
      </p:sp>
      <p:sp>
        <p:nvSpPr>
          <p:cNvPr id="7" name="Slide Number Placeholder 6"/>
          <p:cNvSpPr>
            <a:spLocks noGrp="1"/>
          </p:cNvSpPr>
          <p:nvPr>
            <p:ph type="sldNum" sz="quarter" idx="12"/>
          </p:nvPr>
        </p:nvSpPr>
        <p:spPr/>
        <p:txBody>
          <a:bodyPr/>
          <a:lstStyle/>
          <a:p>
            <a:pPr>
              <a:defRPr/>
            </a:pPr>
            <a:fld id="{576D2A4D-73A3-EE43-B160-B2B71BF3D524}" type="slidenum">
              <a:rPr lang="en-US" smtClean="0"/>
              <a:pPr>
                <a:defRPr/>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a:t>Click to edit Master title style</a:t>
            </a:r>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2005</a:t>
            </a:r>
          </a:p>
        </p:txBody>
      </p:sp>
      <p:sp>
        <p:nvSpPr>
          <p:cNvPr id="6" name="Footer Placeholder 5"/>
          <p:cNvSpPr>
            <a:spLocks noGrp="1"/>
          </p:cNvSpPr>
          <p:nvPr>
            <p:ph type="ftr" sz="quarter" idx="11"/>
          </p:nvPr>
        </p:nvSpPr>
        <p:spPr/>
        <p:txBody>
          <a:bodyPr/>
          <a:lstStyle/>
          <a:p>
            <a:pPr>
              <a:defRPr/>
            </a:pPr>
            <a:r>
              <a:rPr lang="en-US"/>
              <a:t>Principles of Human Anatomy and Physiology, 11e</a:t>
            </a:r>
          </a:p>
        </p:txBody>
      </p:sp>
      <p:sp>
        <p:nvSpPr>
          <p:cNvPr id="7" name="Slide Number Placeholder 6"/>
          <p:cNvSpPr>
            <a:spLocks noGrp="1"/>
          </p:cNvSpPr>
          <p:nvPr>
            <p:ph type="sldNum" sz="quarter" idx="12"/>
          </p:nvPr>
        </p:nvSpPr>
        <p:spPr/>
        <p:txBody>
          <a:bodyPr/>
          <a:lstStyle/>
          <a:p>
            <a:pPr>
              <a:defRPr/>
            </a:pPr>
            <a:fld id="{BD306FCE-C163-8A47-8F7E-89937F5E2C6A}" type="slidenum">
              <a:rPr lang="en-US" smtClean="0"/>
              <a:pPr>
                <a:defRPr/>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2005</a:t>
            </a:r>
          </a:p>
        </p:txBody>
      </p:sp>
      <p:sp>
        <p:nvSpPr>
          <p:cNvPr id="5" name="Footer Placeholder 4"/>
          <p:cNvSpPr>
            <a:spLocks noGrp="1"/>
          </p:cNvSpPr>
          <p:nvPr>
            <p:ph type="ftr" sz="quarter" idx="11"/>
          </p:nvPr>
        </p:nvSpPr>
        <p:spPr/>
        <p:txBody>
          <a:bodyPr/>
          <a:lstStyle/>
          <a:p>
            <a:pPr>
              <a:defRPr/>
            </a:pPr>
            <a:r>
              <a:rPr lang="en-US"/>
              <a:t>Principles of Human Anatomy and Physiology, 11e</a:t>
            </a:r>
          </a:p>
        </p:txBody>
      </p:sp>
      <p:sp>
        <p:nvSpPr>
          <p:cNvPr id="6" name="Slide Number Placeholder 5"/>
          <p:cNvSpPr>
            <a:spLocks noGrp="1"/>
          </p:cNvSpPr>
          <p:nvPr>
            <p:ph type="sldNum" sz="quarter" idx="12"/>
          </p:nvPr>
        </p:nvSpPr>
        <p:spPr/>
        <p:txBody>
          <a:bodyPr/>
          <a:lstStyle/>
          <a:p>
            <a:pPr>
              <a:defRPr/>
            </a:pPr>
            <a:fld id="{752A6DD4-3B04-3448-A661-0ABCA7C5EBCD}" type="slidenum">
              <a:rPr lang="en-US" smtClean="0"/>
              <a:pPr>
                <a:defRPr/>
              </a:pPr>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2005</a:t>
            </a:r>
          </a:p>
        </p:txBody>
      </p:sp>
      <p:sp>
        <p:nvSpPr>
          <p:cNvPr id="5" name="Footer Placeholder 4"/>
          <p:cNvSpPr>
            <a:spLocks noGrp="1"/>
          </p:cNvSpPr>
          <p:nvPr>
            <p:ph type="ftr" sz="quarter" idx="11"/>
          </p:nvPr>
        </p:nvSpPr>
        <p:spPr/>
        <p:txBody>
          <a:bodyPr/>
          <a:lstStyle/>
          <a:p>
            <a:pPr>
              <a:defRPr/>
            </a:pPr>
            <a:r>
              <a:rPr lang="en-US"/>
              <a:t>Principles of Human Anatomy and Physiology, 11e</a:t>
            </a:r>
          </a:p>
        </p:txBody>
      </p:sp>
      <p:sp>
        <p:nvSpPr>
          <p:cNvPr id="6" name="Slide Number Placeholder 5"/>
          <p:cNvSpPr>
            <a:spLocks noGrp="1"/>
          </p:cNvSpPr>
          <p:nvPr>
            <p:ph type="sldNum" sz="quarter" idx="12"/>
          </p:nvPr>
        </p:nvSpPr>
        <p:spPr/>
        <p:txBody>
          <a:bodyPr/>
          <a:lstStyle/>
          <a:p>
            <a:pPr>
              <a:defRPr/>
            </a:pPr>
            <a:fld id="{A1784BC6-9753-784C-8BE8-E996BC81BAD3}" type="slidenum">
              <a:rPr lang="en-US" smtClean="0"/>
              <a:pPr>
                <a:defRPr/>
              </a:pPr>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en-US"/>
              <a:t>Click to edit Master title style</a:t>
            </a:r>
          </a:p>
        </p:txBody>
      </p:sp>
      <p:sp>
        <p:nvSpPr>
          <p:cNvPr id="3" name="ClipArt Placeholder 2"/>
          <p:cNvSpPr>
            <a:spLocks noGrp="1"/>
          </p:cNvSpPr>
          <p:nvPr>
            <p:ph type="clipArt" sz="half" idx="1"/>
          </p:nvPr>
        </p:nvSpPr>
        <p:spPr>
          <a:xfrm>
            <a:off x="457200" y="1981200"/>
            <a:ext cx="4038600" cy="4114800"/>
          </a:xfrm>
        </p:spPr>
        <p:txBody>
          <a:bodyPr/>
          <a:lstStyle/>
          <a:p>
            <a:pPr lvl="0"/>
            <a:endParaRPr lang="en-US" noProof="0"/>
          </a:p>
        </p:txBody>
      </p:sp>
      <p:sp>
        <p:nvSpPr>
          <p:cNvPr id="4" name="Text Placeholder 3"/>
          <p:cNvSpPr>
            <a:spLocks noGrp="1"/>
          </p:cNvSpPr>
          <p:nvPr>
            <p:ph type="body" sz="half" idx="2"/>
          </p:nvPr>
        </p:nvSpPr>
        <p:spPr>
          <a:xfrm>
            <a:off x="4648200" y="19812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2005</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Principles of Human Anatomy and Physiology, 11e</a:t>
            </a:r>
          </a:p>
        </p:txBody>
      </p:sp>
      <p:sp>
        <p:nvSpPr>
          <p:cNvPr id="7" name="Rectangle 6"/>
          <p:cNvSpPr>
            <a:spLocks noGrp="1" noChangeArrowheads="1"/>
          </p:cNvSpPr>
          <p:nvPr>
            <p:ph type="sldNum" sz="quarter" idx="12"/>
          </p:nvPr>
        </p:nvSpPr>
        <p:spPr>
          <a:ln/>
        </p:spPr>
        <p:txBody>
          <a:bodyPr/>
          <a:lstStyle>
            <a:lvl1pPr>
              <a:defRPr/>
            </a:lvl1pPr>
          </a:lstStyle>
          <a:p>
            <a:pPr>
              <a:defRPr/>
            </a:pPr>
            <a:fld id="{371F1945-AA79-AD41-BCE5-FF4B9FF10F72}" type="slidenum">
              <a:rPr lang="en-US"/>
              <a:pPr>
                <a:defRPr/>
              </a:pPr>
              <a:t>‹#›</a:t>
            </a:fld>
            <a:endParaRPr lang="en-US"/>
          </a:p>
        </p:txBody>
      </p:sp>
    </p:spTree>
    <p:extLst>
      <p:ext uri="{BB962C8B-B14F-4D97-AF65-F5344CB8AC3E}">
        <p14:creationId xmlns:p14="http://schemas.microsoft.com/office/powerpoint/2010/main" val="83526260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en-US"/>
              <a:t>Click to edit Master title style</a:t>
            </a:r>
          </a:p>
        </p:txBody>
      </p:sp>
      <p:sp>
        <p:nvSpPr>
          <p:cNvPr id="3" name="Content Placeholder 2"/>
          <p:cNvSpPr>
            <a:spLocks noGrp="1"/>
          </p:cNvSpPr>
          <p:nvPr>
            <p:ph sz="half" idx="1"/>
          </p:nvPr>
        </p:nvSpPr>
        <p:spPr>
          <a:xfrm>
            <a:off x="457200" y="1981200"/>
            <a:ext cx="8229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4114800"/>
            <a:ext cx="8229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2005</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Principles of Human Anatomy and Physiology, 11e</a:t>
            </a:r>
          </a:p>
        </p:txBody>
      </p:sp>
      <p:sp>
        <p:nvSpPr>
          <p:cNvPr id="7" name="Rectangle 6"/>
          <p:cNvSpPr>
            <a:spLocks noGrp="1" noChangeArrowheads="1"/>
          </p:cNvSpPr>
          <p:nvPr>
            <p:ph type="sldNum" sz="quarter" idx="12"/>
          </p:nvPr>
        </p:nvSpPr>
        <p:spPr>
          <a:ln/>
        </p:spPr>
        <p:txBody>
          <a:bodyPr/>
          <a:lstStyle>
            <a:lvl1pPr>
              <a:defRPr/>
            </a:lvl1pPr>
          </a:lstStyle>
          <a:p>
            <a:pPr>
              <a:defRPr/>
            </a:pPr>
            <a:fld id="{9B68373F-49C2-C54A-85ED-340D0C90C792}" type="slidenum">
              <a:rPr lang="en-US"/>
              <a:pPr>
                <a:defRPr/>
              </a:pPr>
              <a:t>‹#›</a:t>
            </a:fld>
            <a:endParaRPr lang="en-US"/>
          </a:p>
        </p:txBody>
      </p:sp>
    </p:spTree>
    <p:extLst>
      <p:ext uri="{BB962C8B-B14F-4D97-AF65-F5344CB8AC3E}">
        <p14:creationId xmlns:p14="http://schemas.microsoft.com/office/powerpoint/2010/main" val="177972650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8229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4114800"/>
            <a:ext cx="8229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2005</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Principles of Human Anatomy and Physiology, 11e</a:t>
            </a:r>
          </a:p>
        </p:txBody>
      </p:sp>
      <p:sp>
        <p:nvSpPr>
          <p:cNvPr id="7" name="Rectangle 6"/>
          <p:cNvSpPr>
            <a:spLocks noGrp="1" noChangeArrowheads="1"/>
          </p:cNvSpPr>
          <p:nvPr>
            <p:ph type="sldNum" sz="quarter" idx="12"/>
          </p:nvPr>
        </p:nvSpPr>
        <p:spPr>
          <a:ln/>
        </p:spPr>
        <p:txBody>
          <a:bodyPr/>
          <a:lstStyle>
            <a:lvl1pPr>
              <a:defRPr/>
            </a:lvl1pPr>
          </a:lstStyle>
          <a:p>
            <a:pPr>
              <a:defRPr/>
            </a:pPr>
            <a:fld id="{09DC3BDD-74AD-8A49-A0A6-8EB391554699}" type="slidenum">
              <a:rPr lang="en-US"/>
              <a:pPr>
                <a:defRPr/>
              </a:pPr>
              <a:t>‹#›</a:t>
            </a:fld>
            <a:endParaRPr lang="en-US"/>
          </a:p>
        </p:txBody>
      </p:sp>
    </p:spTree>
    <p:extLst>
      <p:ext uri="{BB962C8B-B14F-4D97-AF65-F5344CB8AC3E}">
        <p14:creationId xmlns:p14="http://schemas.microsoft.com/office/powerpoint/2010/main" val="272376404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pPr>
              <a:defRPr/>
            </a:pPr>
            <a:r>
              <a:rPr lang="en-US"/>
              <a:t>2005</a:t>
            </a:r>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pPr>
              <a:defRPr/>
            </a:pPr>
            <a:r>
              <a:rPr lang="en-US"/>
              <a:t>Principles of Human Anatomy and Physiology, 11e</a:t>
            </a:r>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pPr>
              <a:defRPr/>
            </a:pPr>
            <a:fld id="{F03AED7C-6D04-1B48-95C9-A0E1C064066D}"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 id="2147483923" r:id="rId12"/>
    <p:sldLayoutId id="2147483924" r:id="rId13"/>
    <p:sldLayoutId id="2147483926" r:id="rId14"/>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anim calcmode="lin" valueType="num">
                                      <p:cBhvr>
                                        <p:cTn id="2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1" end="1"/>
                                            </p:txEl>
                                          </p:spTgt>
                                        </p:tgtEl>
                                        <p:attrNameLst>
                                          <p:attrName>ppt_y</p:attrName>
                                        </p:attrNameLst>
                                      </p:cBhvr>
                                      <p:tavLst>
                                        <p:tav tm="0">
                                          <p:val>
                                            <p:strVal val="#ppt_y+.05"/>
                                          </p:val>
                                        </p:tav>
                                        <p:tav tm="100000">
                                          <p:val>
                                            <p:strVal val="#ppt_y"/>
                                          </p:val>
                                        </p:tav>
                                      </p:tavLst>
                                    </p:anim>
                                  </p:childTnLst>
                                </p:cTn>
                              </p:par>
                              <p:par>
                                <p:cTn id="24" presetID="44" presetClass="entr" presetSubtype="0" fill="hold" grpId="0" nodeType="with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anim calcmode="lin" valueType="num">
                                      <p:cBhvr>
                                        <p:cTn id="2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3">
                                            <p:txEl>
                                              <p:pRg st="2" end="2"/>
                                            </p:txEl>
                                          </p:spTgt>
                                        </p:tgtEl>
                                        <p:attrNameLst>
                                          <p:attrName>ppt_y</p:attrName>
                                        </p:attrNameLst>
                                      </p:cBhvr>
                                      <p:tavLst>
                                        <p:tav tm="0">
                                          <p:val>
                                            <p:strVal val="#ppt_y+.05"/>
                                          </p:val>
                                        </p:tav>
                                        <p:tav tm="100000">
                                          <p:val>
                                            <p:strVal val="#ppt_y"/>
                                          </p:val>
                                        </p:tav>
                                      </p:tavLst>
                                    </p:anim>
                                  </p:childTnLst>
                                </p:cTn>
                              </p:par>
                              <p:par>
                                <p:cTn id="29" presetID="44" presetClass="entr" presetSubtype="0" fill="hold" grpId="0"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anim calcmode="lin" valueType="num">
                                      <p:cBhvr>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500" fill="hold"/>
                                        <p:tgtEl>
                                          <p:spTgt spid="3">
                                            <p:txEl>
                                              <p:pRg st="3" end="3"/>
                                            </p:txEl>
                                          </p:spTgt>
                                        </p:tgtEl>
                                        <p:attrNameLst>
                                          <p:attrName>ppt_y</p:attrName>
                                        </p:attrNameLst>
                                      </p:cBhvr>
                                      <p:tavLst>
                                        <p:tav tm="0">
                                          <p:val>
                                            <p:strVal val="#ppt_y+.05"/>
                                          </p:val>
                                        </p:tav>
                                        <p:tav tm="100000">
                                          <p:val>
                                            <p:strVal val="#ppt_y"/>
                                          </p:val>
                                        </p:tav>
                                      </p:tavLst>
                                    </p:anim>
                                  </p:childTnLst>
                                </p:cTn>
                              </p:par>
                              <p:par>
                                <p:cTn id="34" presetID="44" presetClass="entr" presetSubtype="0" fill="hold" grpId="0"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anim calcmode="lin" valueType="num">
                                      <p:cBhvr>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8" dur="500" fill="hold"/>
                                        <p:tgtEl>
                                          <p:spTgt spid="3">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bldLvl="3"/>
    </p:bldLst>
  </p:timing>
  <p:hf sldNum="0" hdr="0" ftr="0" dt="0"/>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ChangeArrowheads="1"/>
          </p:cNvSpPr>
          <p:nvPr>
            <p:ph type="ctrTitle"/>
          </p:nvPr>
        </p:nvSpPr>
        <p:spPr>
          <a:xfrm>
            <a:off x="685800" y="685800"/>
            <a:ext cx="7772400" cy="1828800"/>
          </a:xfrm>
        </p:spPr>
        <p:txBody>
          <a:bodyPr/>
          <a:lstStyle/>
          <a:p>
            <a:pPr eaLnBrk="1" hangingPunct="1">
              <a:defRPr/>
            </a:pPr>
            <a:r>
              <a:rPr lang="en-US" sz="6000">
                <a:latin typeface="Tahoma" charset="0"/>
                <a:cs typeface="+mj-cs"/>
              </a:rPr>
              <a:t>Chapter 4 </a:t>
            </a:r>
          </a:p>
        </p:txBody>
      </p:sp>
      <p:sp>
        <p:nvSpPr>
          <p:cNvPr id="321539" name="Rectangle 3"/>
          <p:cNvSpPr>
            <a:spLocks noGrp="1" noChangeArrowheads="1"/>
          </p:cNvSpPr>
          <p:nvPr>
            <p:ph type="subTitle" idx="1"/>
          </p:nvPr>
        </p:nvSpPr>
        <p:spPr>
          <a:xfrm>
            <a:off x="1371600" y="3657600"/>
            <a:ext cx="6400800" cy="1752600"/>
          </a:xfrm>
        </p:spPr>
        <p:txBody>
          <a:bodyPr>
            <a:normAutofit/>
          </a:bodyPr>
          <a:lstStyle/>
          <a:p>
            <a:pPr eaLnBrk="1" hangingPunct="1">
              <a:buFont typeface="Wingdings" charset="0"/>
              <a:buNone/>
              <a:defRPr/>
            </a:pPr>
            <a:r>
              <a:rPr lang="en-US" sz="4400" dirty="0">
                <a:latin typeface="Tahoma" charset="0"/>
                <a:cs typeface="+mn-cs"/>
              </a:rPr>
              <a:t>The Tissue Level of Organization</a:t>
            </a:r>
          </a:p>
          <a:p>
            <a:pPr eaLnBrk="1" hangingPunct="1">
              <a:buFont typeface="Wingdings" charset="0"/>
              <a:buNone/>
              <a:defRPr/>
            </a:pPr>
            <a:endParaRPr lang="en-US" sz="4400" dirty="0">
              <a:latin typeface="Tahoma" charset="0"/>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7" name="Rectangle 3"/>
          <p:cNvSpPr>
            <a:spLocks noGrp="1" noChangeArrowheads="1"/>
          </p:cNvSpPr>
          <p:nvPr>
            <p:ph idx="1"/>
          </p:nvPr>
        </p:nvSpPr>
        <p:spPr/>
        <p:txBody>
          <a:bodyPr/>
          <a:lstStyle/>
          <a:p>
            <a:pPr eaLnBrk="1" hangingPunct="1">
              <a:defRPr/>
            </a:pPr>
            <a:r>
              <a:rPr lang="en-US" dirty="0">
                <a:latin typeface="Tahoma" charset="0"/>
                <a:cs typeface="+mn-cs"/>
              </a:rPr>
              <a:t>A </a:t>
            </a:r>
            <a:r>
              <a:rPr lang="en-US" b="1" i="1" u="sng" dirty="0">
                <a:latin typeface="Tahoma" charset="0"/>
                <a:cs typeface="+mn-cs"/>
              </a:rPr>
              <a:t>tissue</a:t>
            </a:r>
            <a:r>
              <a:rPr lang="en-US" dirty="0">
                <a:latin typeface="Tahoma" charset="0"/>
                <a:cs typeface="+mn-cs"/>
              </a:rPr>
              <a:t> is a group of similar cells that are specialized for a particular function.</a:t>
            </a:r>
          </a:p>
          <a:p>
            <a:pPr eaLnBrk="1" hangingPunct="1">
              <a:defRPr/>
            </a:pPr>
            <a:endParaRPr lang="en-US" dirty="0">
              <a:latin typeface="Tahoma" charset="0"/>
              <a:cs typeface="+mn-cs"/>
            </a:endParaRPr>
          </a:p>
          <a:p>
            <a:pPr eaLnBrk="1" hangingPunct="1">
              <a:defRPr/>
            </a:pPr>
            <a:r>
              <a:rPr lang="en-US" dirty="0">
                <a:latin typeface="Tahoma" charset="0"/>
                <a:cs typeface="+mn-cs"/>
              </a:rPr>
              <a:t>The cells as well as the extracellular fluid in tissues determine its function</a:t>
            </a:r>
          </a:p>
        </p:txBody>
      </p:sp>
      <p:sp>
        <p:nvSpPr>
          <p:cNvPr id="354306" name="Rectangle 2"/>
          <p:cNvSpPr>
            <a:spLocks noGrp="1" noChangeArrowheads="1"/>
          </p:cNvSpPr>
          <p:nvPr>
            <p:ph type="title"/>
          </p:nvPr>
        </p:nvSpPr>
        <p:spPr/>
        <p:txBody>
          <a:bodyPr/>
          <a:lstStyle/>
          <a:p>
            <a:pPr eaLnBrk="1" hangingPunct="1">
              <a:defRPr/>
            </a:pPr>
            <a:r>
              <a:rPr lang="en-US">
                <a:latin typeface="Tahoma" charset="0"/>
                <a:cs typeface="+mj-cs"/>
              </a:rPr>
              <a:t>INTRODUCTION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1" name="Rectangle 3"/>
          <p:cNvSpPr>
            <a:spLocks noGrp="1" noChangeArrowheads="1"/>
          </p:cNvSpPr>
          <p:nvPr>
            <p:ph idx="1"/>
          </p:nvPr>
        </p:nvSpPr>
        <p:spPr>
          <a:xfrm>
            <a:off x="457200" y="2133600"/>
            <a:ext cx="8229600" cy="4114800"/>
          </a:xfrm>
        </p:spPr>
        <p:txBody>
          <a:bodyPr>
            <a:normAutofit/>
          </a:bodyPr>
          <a:lstStyle/>
          <a:p>
            <a:pPr eaLnBrk="1" hangingPunct="1">
              <a:lnSpc>
                <a:spcPct val="90000"/>
              </a:lnSpc>
              <a:buFont typeface="Wingdings" charset="0"/>
              <a:buNone/>
              <a:defRPr/>
            </a:pPr>
            <a:r>
              <a:rPr lang="en-US" dirty="0">
                <a:latin typeface="Tahoma" charset="0"/>
                <a:cs typeface="+mn-cs"/>
              </a:rPr>
              <a:t>Four principal types based on function and structure</a:t>
            </a:r>
          </a:p>
          <a:p>
            <a:pPr marL="457200" indent="-457200" eaLnBrk="1" hangingPunct="1">
              <a:lnSpc>
                <a:spcPct val="90000"/>
              </a:lnSpc>
              <a:buFont typeface="+mj-lt"/>
              <a:buAutoNum type="arabicPeriod"/>
              <a:defRPr/>
            </a:pPr>
            <a:r>
              <a:rPr lang="en-US" b="1" dirty="0">
                <a:latin typeface="Tahoma" charset="0"/>
                <a:cs typeface="+mn-cs"/>
              </a:rPr>
              <a:t>Epithelial tissue </a:t>
            </a:r>
          </a:p>
          <a:p>
            <a:pPr lvl="1" eaLnBrk="1" hangingPunct="1">
              <a:lnSpc>
                <a:spcPct val="90000"/>
              </a:lnSpc>
              <a:defRPr/>
            </a:pPr>
            <a:r>
              <a:rPr lang="en-US" dirty="0">
                <a:latin typeface="Tahoma" charset="0"/>
              </a:rPr>
              <a:t>covering, lining, and forms glands.</a:t>
            </a:r>
          </a:p>
          <a:p>
            <a:pPr marL="457200" indent="-457200" eaLnBrk="1" hangingPunct="1">
              <a:lnSpc>
                <a:spcPct val="90000"/>
              </a:lnSpc>
              <a:buFont typeface="+mj-lt"/>
              <a:buAutoNum type="arabicPeriod"/>
              <a:defRPr/>
            </a:pPr>
            <a:r>
              <a:rPr lang="en-US" b="1" dirty="0">
                <a:latin typeface="Tahoma" charset="0"/>
                <a:cs typeface="+mn-cs"/>
              </a:rPr>
              <a:t>Connective tissue </a:t>
            </a:r>
          </a:p>
          <a:p>
            <a:pPr lvl="1" eaLnBrk="1" hangingPunct="1">
              <a:lnSpc>
                <a:spcPct val="90000"/>
              </a:lnSpc>
              <a:defRPr/>
            </a:pPr>
            <a:r>
              <a:rPr lang="en-US" dirty="0">
                <a:latin typeface="Tahoma" charset="0"/>
              </a:rPr>
              <a:t>protects and supports, binds tissues, stores energy, and provides immunity.</a:t>
            </a:r>
          </a:p>
          <a:p>
            <a:pPr marL="457200" indent="-457200" eaLnBrk="1" hangingPunct="1">
              <a:lnSpc>
                <a:spcPct val="90000"/>
              </a:lnSpc>
              <a:buFont typeface="+mj-lt"/>
              <a:buAutoNum type="arabicPeriod"/>
              <a:defRPr/>
            </a:pPr>
            <a:r>
              <a:rPr lang="en-US" b="1" dirty="0">
                <a:latin typeface="Tahoma" charset="0"/>
                <a:cs typeface="+mn-cs"/>
              </a:rPr>
              <a:t>Muscle tissue </a:t>
            </a:r>
          </a:p>
          <a:p>
            <a:pPr lvl="1" eaLnBrk="1" hangingPunct="1">
              <a:lnSpc>
                <a:spcPct val="90000"/>
              </a:lnSpc>
              <a:defRPr/>
            </a:pPr>
            <a:r>
              <a:rPr lang="en-US" dirty="0">
                <a:latin typeface="Tahoma" charset="0"/>
              </a:rPr>
              <a:t>movement and generation of force.</a:t>
            </a:r>
          </a:p>
          <a:p>
            <a:pPr marL="457200" indent="-457200" eaLnBrk="1" hangingPunct="1">
              <a:lnSpc>
                <a:spcPct val="90000"/>
              </a:lnSpc>
              <a:buFont typeface="+mj-lt"/>
              <a:buAutoNum type="arabicPeriod"/>
              <a:defRPr/>
            </a:pPr>
            <a:r>
              <a:rPr lang="en-US" b="1" dirty="0">
                <a:latin typeface="Tahoma" charset="0"/>
                <a:cs typeface="+mn-cs"/>
              </a:rPr>
              <a:t>Nervous tissue </a:t>
            </a:r>
          </a:p>
          <a:p>
            <a:pPr lvl="1" eaLnBrk="1" hangingPunct="1">
              <a:lnSpc>
                <a:spcPct val="90000"/>
              </a:lnSpc>
              <a:defRPr/>
            </a:pPr>
            <a:r>
              <a:rPr lang="en-US" dirty="0">
                <a:latin typeface="Tahoma" charset="0"/>
              </a:rPr>
              <a:t>communication and control</a:t>
            </a:r>
          </a:p>
        </p:txBody>
      </p:sp>
      <p:sp>
        <p:nvSpPr>
          <p:cNvPr id="355330" name="Rectangle 2"/>
          <p:cNvSpPr>
            <a:spLocks noGrp="1" noChangeArrowheads="1"/>
          </p:cNvSpPr>
          <p:nvPr>
            <p:ph type="title"/>
          </p:nvPr>
        </p:nvSpPr>
        <p:spPr>
          <a:xfrm>
            <a:off x="457200" y="152400"/>
            <a:ext cx="8229600" cy="838200"/>
          </a:xfrm>
        </p:spPr>
        <p:txBody>
          <a:bodyPr/>
          <a:lstStyle/>
          <a:p>
            <a:pPr eaLnBrk="1" hangingPunct="1">
              <a:defRPr/>
            </a:pPr>
            <a:r>
              <a:rPr lang="en-US">
                <a:latin typeface="Tahoma" charset="0"/>
                <a:cs typeface="+mj-cs"/>
              </a:rPr>
              <a:t>BASIC TISSUE TYPES</a:t>
            </a:r>
          </a:p>
        </p:txBody>
      </p:sp>
    </p:spTree>
    <p:extLst>
      <p:ext uri="{BB962C8B-B14F-4D97-AF65-F5344CB8AC3E}">
        <p14:creationId xmlns:p14="http://schemas.microsoft.com/office/powerpoint/2010/main" val="201715203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pPr eaLnBrk="1" hangingPunct="1">
              <a:defRPr/>
            </a:pPr>
            <a:r>
              <a:rPr lang="en-US">
                <a:latin typeface="Tahoma" charset="0"/>
                <a:cs typeface="+mj-cs"/>
              </a:rPr>
              <a:t>EPITHELIAL TISSUES</a:t>
            </a:r>
          </a:p>
        </p:txBody>
      </p:sp>
      <p:pic>
        <p:nvPicPr>
          <p:cNvPr id="2" name="Picture 1"/>
          <p:cNvPicPr>
            <a:picLocks noChangeAspect="1"/>
          </p:cNvPicPr>
          <p:nvPr/>
        </p:nvPicPr>
        <p:blipFill>
          <a:blip r:embed="rId3"/>
          <a:stretch>
            <a:fillRect/>
          </a:stretch>
        </p:blipFill>
        <p:spPr>
          <a:xfrm>
            <a:off x="1371600" y="1981200"/>
            <a:ext cx="6553200" cy="4639666"/>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3" name="Rectangle 3"/>
          <p:cNvSpPr>
            <a:spLocks noGrp="1" noChangeArrowheads="1"/>
          </p:cNvSpPr>
          <p:nvPr>
            <p:ph idx="1"/>
          </p:nvPr>
        </p:nvSpPr>
        <p:spPr>
          <a:xfrm>
            <a:off x="381000" y="2133600"/>
            <a:ext cx="4876800" cy="4419600"/>
          </a:xfrm>
        </p:spPr>
        <p:txBody>
          <a:bodyPr>
            <a:normAutofit lnSpcReduction="10000"/>
          </a:bodyPr>
          <a:lstStyle/>
          <a:p>
            <a:pPr eaLnBrk="1" hangingPunct="1">
              <a:lnSpc>
                <a:spcPct val="90000"/>
              </a:lnSpc>
              <a:defRPr/>
            </a:pPr>
            <a:r>
              <a:rPr lang="en-US" dirty="0">
                <a:latin typeface="Tahoma" charset="0"/>
                <a:cs typeface="+mn-cs"/>
              </a:rPr>
              <a:t>Closely packed cells with little extracellular material</a:t>
            </a:r>
          </a:p>
          <a:p>
            <a:pPr eaLnBrk="1" hangingPunct="1">
              <a:lnSpc>
                <a:spcPct val="90000"/>
              </a:lnSpc>
              <a:defRPr/>
            </a:pPr>
            <a:r>
              <a:rPr lang="en-US" dirty="0">
                <a:latin typeface="Tahoma" charset="0"/>
                <a:cs typeface="+mn-cs"/>
              </a:rPr>
              <a:t>Polarity</a:t>
            </a:r>
          </a:p>
          <a:p>
            <a:pPr lvl="1" eaLnBrk="1" hangingPunct="1">
              <a:lnSpc>
                <a:spcPct val="90000"/>
              </a:lnSpc>
              <a:defRPr/>
            </a:pPr>
            <a:r>
              <a:rPr lang="en-US" b="1" dirty="0">
                <a:latin typeface="Tahoma" charset="0"/>
              </a:rPr>
              <a:t>Apical</a:t>
            </a:r>
            <a:r>
              <a:rPr lang="en-US" dirty="0">
                <a:latin typeface="Tahoma" charset="0"/>
              </a:rPr>
              <a:t> (upper) free surface</a:t>
            </a:r>
          </a:p>
          <a:p>
            <a:pPr lvl="1" eaLnBrk="1" hangingPunct="1">
              <a:lnSpc>
                <a:spcPct val="90000"/>
              </a:lnSpc>
              <a:defRPr/>
            </a:pPr>
            <a:r>
              <a:rPr lang="en-US" b="1" dirty="0">
                <a:latin typeface="Tahoma" charset="0"/>
              </a:rPr>
              <a:t>Basal</a:t>
            </a:r>
            <a:r>
              <a:rPr lang="en-US" dirty="0">
                <a:latin typeface="Tahoma" charset="0"/>
              </a:rPr>
              <a:t> surface against basement membrane</a:t>
            </a:r>
          </a:p>
          <a:p>
            <a:pPr eaLnBrk="1" hangingPunct="1">
              <a:lnSpc>
                <a:spcPct val="90000"/>
              </a:lnSpc>
              <a:defRPr/>
            </a:pPr>
            <a:r>
              <a:rPr lang="en-US" dirty="0">
                <a:latin typeface="Tahoma" charset="0"/>
                <a:cs typeface="+mn-cs"/>
              </a:rPr>
              <a:t>Avascular---without blood vessels</a:t>
            </a:r>
          </a:p>
          <a:p>
            <a:pPr lvl="1" eaLnBrk="1" hangingPunct="1">
              <a:lnSpc>
                <a:spcPct val="90000"/>
              </a:lnSpc>
              <a:defRPr/>
            </a:pPr>
            <a:r>
              <a:rPr lang="en-US" dirty="0">
                <a:latin typeface="Tahoma" charset="0"/>
              </a:rPr>
              <a:t>nutrients and waste must move by diffusion</a:t>
            </a:r>
          </a:p>
          <a:p>
            <a:pPr eaLnBrk="1" hangingPunct="1">
              <a:lnSpc>
                <a:spcPct val="90000"/>
              </a:lnSpc>
              <a:defRPr/>
            </a:pPr>
            <a:r>
              <a:rPr lang="en-US" dirty="0">
                <a:latin typeface="Tahoma" charset="0"/>
                <a:cs typeface="+mn-cs"/>
              </a:rPr>
              <a:t>Good nerve supply</a:t>
            </a:r>
          </a:p>
          <a:p>
            <a:pPr eaLnBrk="1" hangingPunct="1">
              <a:lnSpc>
                <a:spcPct val="90000"/>
              </a:lnSpc>
              <a:defRPr/>
            </a:pPr>
            <a:r>
              <a:rPr lang="en-US" dirty="0">
                <a:latin typeface="Tahoma" charset="0"/>
                <a:cs typeface="+mn-cs"/>
              </a:rPr>
              <a:t>Rapid cell division (high mitotic rate)</a:t>
            </a:r>
          </a:p>
        </p:txBody>
      </p:sp>
      <p:sp>
        <p:nvSpPr>
          <p:cNvPr id="409602" name="Rectangle 2"/>
          <p:cNvSpPr>
            <a:spLocks noGrp="1" noChangeArrowheads="1"/>
          </p:cNvSpPr>
          <p:nvPr>
            <p:ph type="title"/>
          </p:nvPr>
        </p:nvSpPr>
        <p:spPr>
          <a:xfrm>
            <a:off x="0" y="304800"/>
            <a:ext cx="9144000" cy="1143000"/>
          </a:xfrm>
        </p:spPr>
        <p:txBody>
          <a:bodyPr/>
          <a:lstStyle/>
          <a:p>
            <a:pPr eaLnBrk="1" hangingPunct="1">
              <a:defRPr/>
            </a:pPr>
            <a:r>
              <a:rPr lang="en-US" dirty="0">
                <a:solidFill>
                  <a:schemeClr val="tx1"/>
                </a:solidFill>
                <a:latin typeface="Tahoma" charset="0"/>
                <a:cs typeface="+mj-cs"/>
              </a:rPr>
              <a:t> Epithelial Tissue --</a:t>
            </a:r>
            <a:r>
              <a:rPr lang="en-US" dirty="0">
                <a:latin typeface="Tahoma" charset="0"/>
                <a:cs typeface="+mj-cs"/>
              </a:rPr>
              <a:t> General Features</a:t>
            </a:r>
          </a:p>
        </p:txBody>
      </p:sp>
      <p:pic>
        <p:nvPicPr>
          <p:cNvPr id="2" name="Picture 1"/>
          <p:cNvPicPr>
            <a:picLocks noChangeAspect="1"/>
          </p:cNvPicPr>
          <p:nvPr/>
        </p:nvPicPr>
        <p:blipFill>
          <a:blip r:embed="rId3"/>
          <a:stretch>
            <a:fillRect/>
          </a:stretch>
        </p:blipFill>
        <p:spPr>
          <a:xfrm>
            <a:off x="5271145" y="2590800"/>
            <a:ext cx="3766949" cy="266700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a:xfrm>
            <a:off x="457200" y="152400"/>
            <a:ext cx="8229600" cy="914400"/>
          </a:xfrm>
        </p:spPr>
        <p:txBody>
          <a:bodyPr/>
          <a:lstStyle/>
          <a:p>
            <a:pPr eaLnBrk="1" hangingPunct="1">
              <a:defRPr/>
            </a:pPr>
            <a:r>
              <a:rPr lang="en-US">
                <a:latin typeface="Tahoma" charset="0"/>
                <a:cs typeface="+mj-cs"/>
              </a:rPr>
              <a:t>Basement Membrane</a:t>
            </a:r>
          </a:p>
        </p:txBody>
      </p:sp>
      <p:sp>
        <p:nvSpPr>
          <p:cNvPr id="407555" name="Rectangle 3"/>
          <p:cNvSpPr>
            <a:spLocks noGrp="1" noChangeArrowheads="1"/>
          </p:cNvSpPr>
          <p:nvPr>
            <p:ph type="body" sz="half" idx="2"/>
          </p:nvPr>
        </p:nvSpPr>
        <p:spPr>
          <a:xfrm>
            <a:off x="4495800" y="1066800"/>
            <a:ext cx="4495800" cy="5105400"/>
          </a:xfrm>
        </p:spPr>
        <p:txBody>
          <a:bodyPr/>
          <a:lstStyle/>
          <a:p>
            <a:pPr eaLnBrk="1" hangingPunct="1">
              <a:lnSpc>
                <a:spcPct val="90000"/>
              </a:lnSpc>
              <a:buFont typeface="Wingdings" pitchFamily="2" charset="2"/>
              <a:buChar char="n"/>
              <a:defRPr/>
            </a:pPr>
            <a:r>
              <a:rPr lang="en-US" sz="2800" dirty="0">
                <a:ea typeface="+mn-ea"/>
                <a:cs typeface="+mn-cs"/>
              </a:rPr>
              <a:t>Basal lamina</a:t>
            </a:r>
          </a:p>
          <a:p>
            <a:pPr lvl="1" eaLnBrk="1" hangingPunct="1">
              <a:lnSpc>
                <a:spcPct val="90000"/>
              </a:lnSpc>
              <a:buFont typeface="Wingdings" pitchFamily="2" charset="2"/>
              <a:buChar char="n"/>
              <a:defRPr/>
            </a:pPr>
            <a:r>
              <a:rPr lang="en-US" sz="2400" dirty="0"/>
              <a:t> from epithelial cells</a:t>
            </a:r>
          </a:p>
          <a:p>
            <a:pPr lvl="1" eaLnBrk="1" hangingPunct="1">
              <a:lnSpc>
                <a:spcPct val="90000"/>
              </a:lnSpc>
              <a:buFont typeface="Wingdings" pitchFamily="2" charset="2"/>
              <a:buChar char="n"/>
              <a:defRPr/>
            </a:pPr>
            <a:r>
              <a:rPr lang="en-US" sz="2400" dirty="0"/>
              <a:t>collagen fibers</a:t>
            </a:r>
          </a:p>
          <a:p>
            <a:pPr eaLnBrk="1" hangingPunct="1">
              <a:lnSpc>
                <a:spcPct val="90000"/>
              </a:lnSpc>
              <a:buFont typeface="Wingdings" pitchFamily="2" charset="2"/>
              <a:buChar char="n"/>
              <a:defRPr/>
            </a:pPr>
            <a:endParaRPr lang="en-US" sz="2800" dirty="0">
              <a:ea typeface="+mn-ea"/>
              <a:cs typeface="+mn-cs"/>
            </a:endParaRPr>
          </a:p>
          <a:p>
            <a:pPr eaLnBrk="1" hangingPunct="1">
              <a:lnSpc>
                <a:spcPct val="90000"/>
              </a:lnSpc>
              <a:buFont typeface="Wingdings" pitchFamily="2" charset="2"/>
              <a:buChar char="n"/>
              <a:defRPr/>
            </a:pPr>
            <a:r>
              <a:rPr lang="en-US" sz="2800" dirty="0">
                <a:ea typeface="+mn-ea"/>
                <a:cs typeface="+mn-cs"/>
              </a:rPr>
              <a:t>Reticular lamina</a:t>
            </a:r>
          </a:p>
          <a:p>
            <a:pPr lvl="1" eaLnBrk="1" hangingPunct="1">
              <a:lnSpc>
                <a:spcPct val="90000"/>
              </a:lnSpc>
              <a:buFont typeface="Wingdings" pitchFamily="2" charset="2"/>
              <a:buChar char="n"/>
              <a:defRPr/>
            </a:pPr>
            <a:r>
              <a:rPr lang="en-US" sz="2400" dirty="0"/>
              <a:t>secreted by connective tissue cells</a:t>
            </a:r>
          </a:p>
          <a:p>
            <a:pPr lvl="1" eaLnBrk="1" hangingPunct="1">
              <a:lnSpc>
                <a:spcPct val="90000"/>
              </a:lnSpc>
              <a:buFont typeface="Wingdings" pitchFamily="2" charset="2"/>
              <a:buChar char="n"/>
              <a:defRPr/>
            </a:pPr>
            <a:r>
              <a:rPr lang="en-US" sz="2400" dirty="0"/>
              <a:t>reticular fibers</a:t>
            </a:r>
          </a:p>
          <a:p>
            <a:pPr eaLnBrk="1" hangingPunct="1">
              <a:lnSpc>
                <a:spcPct val="90000"/>
              </a:lnSpc>
              <a:buFont typeface="Wingdings" pitchFamily="2" charset="2"/>
              <a:buChar char="n"/>
              <a:defRPr/>
            </a:pPr>
            <a:endParaRPr lang="en-US" sz="2800" dirty="0">
              <a:ea typeface="+mn-ea"/>
              <a:cs typeface="+mn-cs"/>
            </a:endParaRPr>
          </a:p>
        </p:txBody>
      </p:sp>
      <p:pic>
        <p:nvPicPr>
          <p:cNvPr id="44036" name="Picture 4" descr="w0092-n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0"/>
            <a:ext cx="4213225" cy="449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4037" name="Picture 4" descr="w0091-nc"/>
          <p:cNvPicPr>
            <a:picLocks noChangeAspect="1" noChangeArrowheads="1"/>
          </p:cNvPicPr>
          <p:nvPr/>
        </p:nvPicPr>
        <p:blipFill>
          <a:blip r:embed="rId4">
            <a:extLst>
              <a:ext uri="{28A0092B-C50C-407E-A947-70E740481C1C}">
                <a14:useLocalDpi xmlns:a14="http://schemas.microsoft.com/office/drawing/2010/main" val="0"/>
              </a:ext>
            </a:extLst>
          </a:blip>
          <a:srcRect t="56230" r="66190" b="5431"/>
          <a:stretch>
            <a:fillRect/>
          </a:stretch>
        </p:blipFill>
        <p:spPr bwMode="auto">
          <a:xfrm>
            <a:off x="6400800" y="4475163"/>
            <a:ext cx="2514600" cy="2357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9" name="Rectangle 3"/>
          <p:cNvSpPr>
            <a:spLocks noGrp="1" noChangeArrowheads="1"/>
          </p:cNvSpPr>
          <p:nvPr>
            <p:ph idx="1"/>
          </p:nvPr>
        </p:nvSpPr>
        <p:spPr/>
        <p:txBody>
          <a:bodyPr>
            <a:normAutofit lnSpcReduction="10000"/>
          </a:bodyPr>
          <a:lstStyle/>
          <a:p>
            <a:pPr marL="457200" indent="-457200" eaLnBrk="1" hangingPunct="1">
              <a:buFont typeface="+mj-lt"/>
              <a:buAutoNum type="arabicPeriod"/>
              <a:defRPr/>
            </a:pPr>
            <a:r>
              <a:rPr lang="en-US" dirty="0">
                <a:ea typeface="+mn-ea"/>
                <a:cs typeface="+mn-cs"/>
              </a:rPr>
              <a:t>Covering and lining epithelium</a:t>
            </a:r>
          </a:p>
          <a:p>
            <a:pPr lvl="1" eaLnBrk="1" hangingPunct="1">
              <a:buFont typeface="Wingdings" pitchFamily="2" charset="2"/>
              <a:buChar char="n"/>
              <a:defRPr/>
            </a:pPr>
            <a:r>
              <a:rPr lang="en-US" dirty="0"/>
              <a:t>These are the types we saw in lab</a:t>
            </a:r>
          </a:p>
          <a:p>
            <a:pPr lvl="1" eaLnBrk="1" hangingPunct="1">
              <a:buFont typeface="Wingdings" pitchFamily="2" charset="2"/>
              <a:buChar char="n"/>
              <a:defRPr/>
            </a:pPr>
            <a:r>
              <a:rPr lang="en-US" dirty="0"/>
              <a:t>May be “simple” or multi-layered</a:t>
            </a:r>
          </a:p>
          <a:p>
            <a:pPr lvl="1" eaLnBrk="1" hangingPunct="1">
              <a:buFont typeface="Wingdings" pitchFamily="2" charset="2"/>
              <a:buChar char="n"/>
              <a:defRPr/>
            </a:pPr>
            <a:endParaRPr lang="en-US" dirty="0"/>
          </a:p>
          <a:p>
            <a:pPr marL="457200" indent="-457200" eaLnBrk="1" hangingPunct="1">
              <a:buFont typeface="+mj-lt"/>
              <a:buAutoNum type="arabicPeriod"/>
              <a:defRPr/>
            </a:pPr>
            <a:r>
              <a:rPr lang="en-US" dirty="0">
                <a:ea typeface="+mn-ea"/>
                <a:cs typeface="+mn-cs"/>
              </a:rPr>
              <a:t>Glandular epithelium</a:t>
            </a:r>
          </a:p>
          <a:p>
            <a:pPr lvl="1" eaLnBrk="1" hangingPunct="1">
              <a:buFont typeface="Wingdings" pitchFamily="2" charset="2"/>
              <a:buChar char="n"/>
              <a:defRPr/>
            </a:pPr>
            <a:r>
              <a:rPr lang="en-US" dirty="0"/>
              <a:t>Two types:</a:t>
            </a:r>
          </a:p>
          <a:p>
            <a:pPr lvl="2">
              <a:buFont typeface="Wingdings" pitchFamily="2" charset="2"/>
              <a:buChar char="n"/>
              <a:defRPr/>
            </a:pPr>
            <a:r>
              <a:rPr lang="en-US" b="1" dirty="0"/>
              <a:t>Exocrine</a:t>
            </a:r>
            <a:r>
              <a:rPr lang="en-US" dirty="0"/>
              <a:t> - connected to the surface by tubes (ducts)</a:t>
            </a:r>
          </a:p>
          <a:p>
            <a:pPr lvl="3">
              <a:buFont typeface="Wingdings" pitchFamily="2" charset="2"/>
              <a:buChar char="n"/>
              <a:defRPr/>
            </a:pPr>
            <a:r>
              <a:rPr lang="en-US" dirty="0"/>
              <a:t>May be classified either by structure or function</a:t>
            </a:r>
          </a:p>
          <a:p>
            <a:pPr lvl="3">
              <a:buFont typeface="Wingdings" pitchFamily="2" charset="2"/>
              <a:buChar char="n"/>
              <a:defRPr/>
            </a:pPr>
            <a:r>
              <a:rPr lang="en-US" dirty="0" err="1"/>
              <a:t>Eg.</a:t>
            </a:r>
            <a:r>
              <a:rPr lang="en-US" dirty="0"/>
              <a:t> sweat, ear wax, saliva, digestive enzymes </a:t>
            </a:r>
          </a:p>
          <a:p>
            <a:pPr lvl="2">
              <a:buFont typeface="Wingdings" pitchFamily="2" charset="2"/>
              <a:buChar char="n"/>
              <a:defRPr/>
            </a:pPr>
            <a:r>
              <a:rPr lang="en-US" b="1" dirty="0"/>
              <a:t>Endocrine</a:t>
            </a:r>
            <a:r>
              <a:rPr lang="en-US" dirty="0"/>
              <a:t> - secrete hormones into the bloodstream</a:t>
            </a:r>
          </a:p>
          <a:p>
            <a:pPr lvl="3">
              <a:buFont typeface="Wingdings" pitchFamily="2" charset="2"/>
              <a:buChar char="n"/>
              <a:defRPr/>
            </a:pPr>
            <a:r>
              <a:rPr lang="en-US" dirty="0" err="1"/>
              <a:t>Eg.</a:t>
            </a:r>
            <a:r>
              <a:rPr lang="en-US" dirty="0"/>
              <a:t> Thyroid, adrenal, anterior pituitary </a:t>
            </a:r>
          </a:p>
          <a:p>
            <a:pPr lvl="2">
              <a:buFont typeface="Wingdings" pitchFamily="2" charset="2"/>
              <a:buChar char="n"/>
              <a:defRPr/>
            </a:pPr>
            <a:endParaRPr lang="en-US" dirty="0"/>
          </a:p>
        </p:txBody>
      </p:sp>
      <p:sp>
        <p:nvSpPr>
          <p:cNvPr id="413698" name="Rectangle 2"/>
          <p:cNvSpPr>
            <a:spLocks noGrp="1" noChangeArrowheads="1"/>
          </p:cNvSpPr>
          <p:nvPr>
            <p:ph type="title"/>
          </p:nvPr>
        </p:nvSpPr>
        <p:spPr/>
        <p:txBody>
          <a:bodyPr/>
          <a:lstStyle/>
          <a:p>
            <a:pPr eaLnBrk="1" hangingPunct="1">
              <a:defRPr/>
            </a:pPr>
            <a:r>
              <a:rPr lang="en-US" dirty="0">
                <a:latin typeface="Tahoma" charset="0"/>
                <a:cs typeface="+mj-cs"/>
              </a:rPr>
              <a:t>Epithelial Tissue either</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673107-C81F-E06C-0F57-DA60C30BA582}"/>
              </a:ext>
            </a:extLst>
          </p:cNvPr>
          <p:cNvSpPr>
            <a:spLocks noGrp="1"/>
          </p:cNvSpPr>
          <p:nvPr>
            <p:ph idx="1"/>
          </p:nvPr>
        </p:nvSpPr>
        <p:spPr>
          <a:xfrm>
            <a:off x="699247" y="2248347"/>
            <a:ext cx="7745505" cy="4278220"/>
          </a:xfrm>
        </p:spPr>
        <p:txBody>
          <a:bodyPr>
            <a:normAutofit fontScale="77500" lnSpcReduction="20000"/>
          </a:bodyPr>
          <a:lstStyle/>
          <a:p>
            <a:r>
              <a:rPr lang="en-US" sz="2300" b="1" dirty="0"/>
              <a:t>Simple Squamous Epithelium –flat cells</a:t>
            </a:r>
          </a:p>
          <a:p>
            <a:pPr lvl="2">
              <a:defRPr/>
            </a:pPr>
            <a:r>
              <a:rPr lang="en-US" sz="1600" dirty="0">
                <a:latin typeface="Tahoma" charset="0"/>
              </a:rPr>
              <a:t>very thin --- controls diffusion, osmosis and filtration</a:t>
            </a:r>
          </a:p>
          <a:p>
            <a:pPr lvl="2">
              <a:defRPr/>
            </a:pPr>
            <a:r>
              <a:rPr lang="en-US" sz="1600" dirty="0">
                <a:latin typeface="Tahoma" charset="0"/>
              </a:rPr>
              <a:t>Examples: alveoli, outer layer of intestine</a:t>
            </a:r>
            <a:endParaRPr lang="en-US" dirty="0"/>
          </a:p>
          <a:p>
            <a:r>
              <a:rPr lang="en-US" sz="2300" b="1" dirty="0"/>
              <a:t>Simple Cuboidal Epithelium – square-</a:t>
            </a:r>
            <a:r>
              <a:rPr lang="en-US" sz="2300" b="1" dirty="0" err="1"/>
              <a:t>ish</a:t>
            </a:r>
            <a:endParaRPr lang="en-US" sz="2300" b="1" dirty="0"/>
          </a:p>
          <a:p>
            <a:pPr lvl="2">
              <a:defRPr/>
            </a:pPr>
            <a:r>
              <a:rPr lang="en-US" sz="1600" dirty="0">
                <a:latin typeface="Tahoma" charset="0"/>
              </a:rPr>
              <a:t>adapted for absorption or secretion</a:t>
            </a:r>
          </a:p>
          <a:p>
            <a:pPr lvl="2">
              <a:defRPr/>
            </a:pPr>
            <a:r>
              <a:rPr lang="en-US" sz="1600" dirty="0">
                <a:latin typeface="Tahoma" charset="0"/>
              </a:rPr>
              <a:t>Examples: tubules, ducts, glands</a:t>
            </a:r>
            <a:endParaRPr lang="en-US" dirty="0"/>
          </a:p>
          <a:p>
            <a:r>
              <a:rPr lang="en-US" sz="2300" b="1" dirty="0"/>
              <a:t>Simple Columnar Epithelium – rectangular</a:t>
            </a:r>
          </a:p>
          <a:p>
            <a:pPr lvl="2">
              <a:defRPr/>
            </a:pPr>
            <a:r>
              <a:rPr lang="en-US" sz="1600" dirty="0">
                <a:latin typeface="Tahoma" charset="0"/>
              </a:rPr>
              <a:t>Include unicellular glands (goblet cells) secrete mucus</a:t>
            </a:r>
          </a:p>
          <a:p>
            <a:pPr lvl="2">
              <a:defRPr/>
            </a:pPr>
            <a:r>
              <a:rPr lang="en-US" sz="1600" dirty="0">
                <a:latin typeface="Tahoma" charset="0"/>
              </a:rPr>
              <a:t>Cells often have Microvilli – adapted for absorption</a:t>
            </a:r>
          </a:p>
          <a:p>
            <a:pPr lvl="2">
              <a:defRPr/>
            </a:pPr>
            <a:r>
              <a:rPr lang="en-US" sz="1600" dirty="0">
                <a:latin typeface="Tahoma" charset="0"/>
              </a:rPr>
              <a:t>Examples: lining the inside of the GI, respiratory, reproductive and urinary systems</a:t>
            </a:r>
            <a:endParaRPr lang="en-US" dirty="0"/>
          </a:p>
          <a:p>
            <a:r>
              <a:rPr lang="en-US" sz="2300" b="1" dirty="0"/>
              <a:t>Ciliated Simple Columnar Epithelium</a:t>
            </a:r>
          </a:p>
          <a:p>
            <a:pPr lvl="2">
              <a:defRPr/>
            </a:pPr>
            <a:r>
              <a:rPr lang="en-US" sz="1800" dirty="0">
                <a:latin typeface="Tahoma" charset="0"/>
              </a:rPr>
              <a:t>Cilia (motile membrane extensions) move mucous</a:t>
            </a:r>
          </a:p>
          <a:p>
            <a:pPr lvl="2">
              <a:defRPr/>
            </a:pPr>
            <a:r>
              <a:rPr lang="en-US" sz="1800" dirty="0">
                <a:latin typeface="Tahoma" charset="0"/>
              </a:rPr>
              <a:t>Examples: found in respiratory system and in uterine tubes</a:t>
            </a:r>
            <a:endParaRPr lang="en-US" dirty="0"/>
          </a:p>
          <a:p>
            <a:r>
              <a:rPr lang="en-US" sz="2300" b="1" dirty="0"/>
              <a:t>Pseudostratified Ciliated Columnar Epithelium</a:t>
            </a:r>
          </a:p>
          <a:p>
            <a:pPr lvl="2">
              <a:defRPr/>
            </a:pPr>
            <a:r>
              <a:rPr lang="en-US" dirty="0">
                <a:latin typeface="Tahoma" charset="0"/>
              </a:rPr>
              <a:t>Single cell layer of cells with nuclei located at varying depths (appear layered.)</a:t>
            </a:r>
          </a:p>
          <a:p>
            <a:pPr lvl="2">
              <a:defRPr/>
            </a:pPr>
            <a:r>
              <a:rPr lang="en-US" dirty="0">
                <a:latin typeface="Tahoma" charset="0"/>
              </a:rPr>
              <a:t>Examples: trachea, male urethra &amp; epididymis</a:t>
            </a:r>
          </a:p>
          <a:p>
            <a:pPr lvl="2"/>
            <a:endParaRPr lang="en-US" dirty="0"/>
          </a:p>
          <a:p>
            <a:endParaRPr lang="en-US" dirty="0"/>
          </a:p>
        </p:txBody>
      </p:sp>
      <p:sp>
        <p:nvSpPr>
          <p:cNvPr id="4" name="Title 3">
            <a:extLst>
              <a:ext uri="{FF2B5EF4-FFF2-40B4-BE49-F238E27FC236}">
                <a16:creationId xmlns:a16="http://schemas.microsoft.com/office/drawing/2014/main" id="{D645C39B-8CA8-2EA7-493A-5434721CB5AD}"/>
              </a:ext>
            </a:extLst>
          </p:cNvPr>
          <p:cNvSpPr>
            <a:spLocks noGrp="1"/>
          </p:cNvSpPr>
          <p:nvPr>
            <p:ph type="title"/>
          </p:nvPr>
        </p:nvSpPr>
        <p:spPr>
          <a:xfrm>
            <a:off x="688490" y="457200"/>
            <a:ext cx="7756263" cy="1054250"/>
          </a:xfrm>
        </p:spPr>
        <p:txBody>
          <a:bodyPr/>
          <a:lstStyle/>
          <a:p>
            <a:r>
              <a:rPr lang="en-US" sz="4400" dirty="0"/>
              <a:t>Specific Types of Simple Epithelium</a:t>
            </a:r>
          </a:p>
        </p:txBody>
      </p:sp>
    </p:spTree>
    <p:extLst>
      <p:ext uri="{BB962C8B-B14F-4D97-AF65-F5344CB8AC3E}">
        <p14:creationId xmlns:p14="http://schemas.microsoft.com/office/powerpoint/2010/main" val="143022648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05E0AA-F590-0546-434E-3F606624534A}"/>
              </a:ext>
            </a:extLst>
          </p:cNvPr>
          <p:cNvSpPr>
            <a:spLocks noGrp="1"/>
          </p:cNvSpPr>
          <p:nvPr>
            <p:ph idx="1"/>
          </p:nvPr>
        </p:nvSpPr>
        <p:spPr>
          <a:xfrm>
            <a:off x="699247" y="2248347"/>
            <a:ext cx="8073617" cy="3877815"/>
          </a:xfrm>
        </p:spPr>
        <p:txBody>
          <a:bodyPr>
            <a:normAutofit/>
          </a:bodyPr>
          <a:lstStyle/>
          <a:p>
            <a:r>
              <a:rPr lang="en-US" sz="1800" dirty="0"/>
              <a:t>Non-keratinized stratified squamous epithelium - Cells on surface are flat</a:t>
            </a:r>
          </a:p>
          <a:p>
            <a:pPr lvl="2"/>
            <a:r>
              <a:rPr lang="en-US" sz="1400" dirty="0"/>
              <a:t>Mitosis occurs at the basal layer</a:t>
            </a:r>
          </a:p>
          <a:p>
            <a:pPr lvl="2"/>
            <a:r>
              <a:rPr lang="en-US" sz="1400" dirty="0"/>
              <a:t>E.g. Inside of cheek, vagina, esophagus</a:t>
            </a:r>
          </a:p>
          <a:p>
            <a:r>
              <a:rPr lang="en-US" sz="1800" dirty="0"/>
              <a:t>Keratinized stratified squamous epithelium - Cells on surface are flat</a:t>
            </a:r>
          </a:p>
          <a:p>
            <a:pPr lvl="2"/>
            <a:r>
              <a:rPr lang="en-US" sz="1400" dirty="0"/>
              <a:t>Mitosis occurs at the basal layer</a:t>
            </a:r>
          </a:p>
          <a:p>
            <a:pPr lvl="2"/>
            <a:r>
              <a:rPr lang="en-US" sz="1400" dirty="0"/>
              <a:t>Cells (especially at the top layer) are filled with keratin</a:t>
            </a:r>
          </a:p>
          <a:p>
            <a:pPr lvl="2"/>
            <a:r>
              <a:rPr lang="en-US" sz="1400" dirty="0"/>
              <a:t>E.g. epidermis</a:t>
            </a:r>
            <a:endParaRPr lang="en-US" dirty="0"/>
          </a:p>
          <a:p>
            <a:r>
              <a:rPr lang="en-US" sz="1800" dirty="0"/>
              <a:t>Transitional epithelium – variable shape</a:t>
            </a:r>
          </a:p>
          <a:p>
            <a:pPr lvl="2"/>
            <a:r>
              <a:rPr lang="en-US" sz="1400" dirty="0"/>
              <a:t>surface cells varying in shape - round to flat (if stretched)</a:t>
            </a:r>
          </a:p>
          <a:p>
            <a:pPr lvl="2"/>
            <a:r>
              <a:rPr lang="en-US" sz="1400" dirty="0"/>
              <a:t>E.g. – urinary bladder, ureter</a:t>
            </a:r>
          </a:p>
          <a:p>
            <a:r>
              <a:rPr lang="en-US" sz="1800" dirty="0"/>
              <a:t>Stratified cuboidal epithelium</a:t>
            </a:r>
            <a:endParaRPr lang="en-US" sz="1400" dirty="0"/>
          </a:p>
          <a:p>
            <a:r>
              <a:rPr lang="en-US" sz="1800" dirty="0"/>
              <a:t>Stratified columnar epithelium</a:t>
            </a:r>
          </a:p>
        </p:txBody>
      </p:sp>
      <p:sp>
        <p:nvSpPr>
          <p:cNvPr id="4" name="Title 3">
            <a:extLst>
              <a:ext uri="{FF2B5EF4-FFF2-40B4-BE49-F238E27FC236}">
                <a16:creationId xmlns:a16="http://schemas.microsoft.com/office/drawing/2014/main" id="{E9022C60-8AB4-A6D3-F2B8-57F6B009D8B3}"/>
              </a:ext>
            </a:extLst>
          </p:cNvPr>
          <p:cNvSpPr>
            <a:spLocks noGrp="1"/>
          </p:cNvSpPr>
          <p:nvPr>
            <p:ph type="title"/>
          </p:nvPr>
        </p:nvSpPr>
        <p:spPr>
          <a:xfrm>
            <a:off x="688490" y="381000"/>
            <a:ext cx="7756263" cy="1054250"/>
          </a:xfrm>
        </p:spPr>
        <p:txBody>
          <a:bodyPr/>
          <a:lstStyle/>
          <a:p>
            <a:r>
              <a:rPr lang="en-US" sz="4800" dirty="0"/>
              <a:t>Specific Types of Multi-layered Epithelium</a:t>
            </a:r>
          </a:p>
        </p:txBody>
      </p:sp>
    </p:spTree>
    <p:extLst>
      <p:ext uri="{BB962C8B-B14F-4D97-AF65-F5344CB8AC3E}">
        <p14:creationId xmlns:p14="http://schemas.microsoft.com/office/powerpoint/2010/main" val="82169529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4570E-3379-FF4A-26EC-053FE1F361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727984-709F-138A-C8A4-24FD53F19073}"/>
              </a:ext>
            </a:extLst>
          </p:cNvPr>
          <p:cNvSpPr>
            <a:spLocks noGrp="1"/>
          </p:cNvSpPr>
          <p:nvPr>
            <p:ph idx="1"/>
          </p:nvPr>
        </p:nvSpPr>
        <p:spPr>
          <a:xfrm>
            <a:off x="699247" y="2248347"/>
            <a:ext cx="8073617" cy="3877815"/>
          </a:xfrm>
        </p:spPr>
        <p:txBody>
          <a:bodyPr>
            <a:normAutofit/>
          </a:bodyPr>
          <a:lstStyle/>
          <a:p>
            <a:r>
              <a:rPr lang="en-US" sz="1800" dirty="0"/>
              <a:t>Exocrine Glands</a:t>
            </a:r>
          </a:p>
          <a:p>
            <a:pPr>
              <a:buFont typeface="Wingdings" pitchFamily="2" charset="2"/>
              <a:buChar char="Ø"/>
            </a:pPr>
            <a:r>
              <a:rPr lang="en-US" sz="1800" dirty="0"/>
              <a:t>Secrete ---sweat, ear wax, saliva, digestive enzymes onto free surface of epithelial layer </a:t>
            </a:r>
          </a:p>
          <a:p>
            <a:endParaRPr lang="en-US" sz="1800" dirty="0"/>
          </a:p>
          <a:p>
            <a:endParaRPr lang="en-US" sz="1800" dirty="0"/>
          </a:p>
          <a:p>
            <a:pPr marL="0" indent="0">
              <a:buNone/>
            </a:pPr>
            <a:endParaRPr lang="en-US" sz="1800" dirty="0"/>
          </a:p>
          <a:p>
            <a:r>
              <a:rPr lang="en-US" sz="1800" dirty="0"/>
              <a:t>Endocrine Glands </a:t>
            </a:r>
          </a:p>
          <a:p>
            <a:pPr>
              <a:buFont typeface="Wingdings" pitchFamily="2" charset="2"/>
              <a:buChar char="Ø"/>
            </a:pPr>
            <a:r>
              <a:rPr lang="en-US" sz="1800" dirty="0"/>
              <a:t>Secrete hormones into the bloodstream</a:t>
            </a:r>
          </a:p>
        </p:txBody>
      </p:sp>
      <p:sp>
        <p:nvSpPr>
          <p:cNvPr id="4" name="Title 3">
            <a:extLst>
              <a:ext uri="{FF2B5EF4-FFF2-40B4-BE49-F238E27FC236}">
                <a16:creationId xmlns:a16="http://schemas.microsoft.com/office/drawing/2014/main" id="{C4B5CDB1-1A0B-942B-1E3E-192ED7A9B99C}"/>
              </a:ext>
            </a:extLst>
          </p:cNvPr>
          <p:cNvSpPr>
            <a:spLocks noGrp="1"/>
          </p:cNvSpPr>
          <p:nvPr>
            <p:ph type="title"/>
          </p:nvPr>
        </p:nvSpPr>
        <p:spPr>
          <a:xfrm>
            <a:off x="688490" y="381000"/>
            <a:ext cx="7756263" cy="1054250"/>
          </a:xfrm>
        </p:spPr>
        <p:txBody>
          <a:bodyPr/>
          <a:lstStyle/>
          <a:p>
            <a:r>
              <a:rPr lang="en-US" sz="4800" dirty="0"/>
              <a:t>Glandular Epithelium </a:t>
            </a:r>
          </a:p>
        </p:txBody>
      </p:sp>
    </p:spTree>
    <p:extLst>
      <p:ext uri="{BB962C8B-B14F-4D97-AF65-F5344CB8AC3E}">
        <p14:creationId xmlns:p14="http://schemas.microsoft.com/office/powerpoint/2010/main" val="44850533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057400"/>
            <a:ext cx="7745506" cy="2150001"/>
          </a:xfrm>
        </p:spPr>
        <p:txBody>
          <a:bodyPr>
            <a:noAutofit/>
          </a:bodyPr>
          <a:lstStyle/>
          <a:p>
            <a:r>
              <a:rPr lang="en-US" sz="1800" dirty="0"/>
              <a:t>Structural Classification</a:t>
            </a:r>
          </a:p>
          <a:p>
            <a:pPr lvl="1">
              <a:defRPr/>
            </a:pPr>
            <a:r>
              <a:rPr lang="en-US" sz="1600" dirty="0">
                <a:latin typeface="Tahoma" charset="0"/>
              </a:rPr>
              <a:t>Unicellular (single-celled) glands</a:t>
            </a:r>
          </a:p>
          <a:p>
            <a:pPr lvl="2">
              <a:defRPr/>
            </a:pPr>
            <a:r>
              <a:rPr lang="en-US" sz="1600" dirty="0">
                <a:latin typeface="Tahoma" charset="0"/>
              </a:rPr>
              <a:t>goblet cells</a:t>
            </a:r>
          </a:p>
          <a:p>
            <a:pPr lvl="1">
              <a:defRPr/>
            </a:pPr>
            <a:r>
              <a:rPr lang="en-US" sz="1600" dirty="0">
                <a:latin typeface="Tahoma" charset="0"/>
              </a:rPr>
              <a:t>Multicellular glands</a:t>
            </a:r>
          </a:p>
          <a:p>
            <a:pPr lvl="2">
              <a:defRPr/>
            </a:pPr>
            <a:r>
              <a:rPr lang="en-US" sz="1600" dirty="0">
                <a:latin typeface="Tahoma" charset="0"/>
              </a:rPr>
              <a:t>branched (compound) or unbranched (simple)</a:t>
            </a:r>
          </a:p>
          <a:p>
            <a:pPr lvl="2">
              <a:defRPr/>
            </a:pPr>
            <a:r>
              <a:rPr lang="en-US" sz="1600" dirty="0">
                <a:latin typeface="Tahoma" charset="0"/>
              </a:rPr>
              <a:t>tubular or acinar (flask-like) shape</a:t>
            </a:r>
          </a:p>
          <a:p>
            <a:pPr lvl="1"/>
            <a:endParaRPr lang="en-US" sz="1800" dirty="0"/>
          </a:p>
        </p:txBody>
      </p:sp>
      <p:sp>
        <p:nvSpPr>
          <p:cNvPr id="4" name="Title 3"/>
          <p:cNvSpPr>
            <a:spLocks noGrp="1"/>
          </p:cNvSpPr>
          <p:nvPr>
            <p:ph type="title"/>
          </p:nvPr>
        </p:nvSpPr>
        <p:spPr/>
        <p:txBody>
          <a:bodyPr/>
          <a:lstStyle/>
          <a:p>
            <a:r>
              <a:rPr lang="en-US" dirty="0"/>
              <a:t>Exocrine Glands</a:t>
            </a:r>
          </a:p>
        </p:txBody>
      </p:sp>
      <p:pic>
        <p:nvPicPr>
          <p:cNvPr id="6" name="Picture 5">
            <a:extLst>
              <a:ext uri="{FF2B5EF4-FFF2-40B4-BE49-F238E27FC236}">
                <a16:creationId xmlns:a16="http://schemas.microsoft.com/office/drawing/2014/main" id="{1B43DAD3-7355-A390-E91D-E1ECE1DF060D}"/>
              </a:ext>
            </a:extLst>
          </p:cNvPr>
          <p:cNvPicPr>
            <a:picLocks noChangeAspect="1"/>
          </p:cNvPicPr>
          <p:nvPr/>
        </p:nvPicPr>
        <p:blipFill rotWithShape="1">
          <a:blip r:embed="rId2"/>
          <a:srcRect b="47327"/>
          <a:stretch/>
        </p:blipFill>
        <p:spPr>
          <a:xfrm>
            <a:off x="1632921" y="4419600"/>
            <a:ext cx="5867400" cy="2319166"/>
          </a:xfrm>
          <a:prstGeom prst="rect">
            <a:avLst/>
          </a:prstGeom>
        </p:spPr>
      </p:pic>
    </p:spTree>
    <p:extLst>
      <p:ext uri="{BB962C8B-B14F-4D97-AF65-F5344CB8AC3E}">
        <p14:creationId xmlns:p14="http://schemas.microsoft.com/office/powerpoint/2010/main" val="333194534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7" name="Rectangle 3"/>
          <p:cNvSpPr>
            <a:spLocks noGrp="1" noChangeArrowheads="1"/>
          </p:cNvSpPr>
          <p:nvPr>
            <p:ph idx="1"/>
          </p:nvPr>
        </p:nvSpPr>
        <p:spPr>
          <a:xfrm>
            <a:off x="495301" y="2133600"/>
            <a:ext cx="5105400" cy="3810000"/>
          </a:xfrm>
        </p:spPr>
        <p:txBody>
          <a:bodyPr>
            <a:normAutofit fontScale="70000" lnSpcReduction="20000"/>
          </a:bodyPr>
          <a:lstStyle/>
          <a:p>
            <a:r>
              <a:rPr lang="en-US" b="1" dirty="0"/>
              <a:t>Merocrine glands:</a:t>
            </a:r>
            <a:r>
              <a:rPr lang="en-US" dirty="0"/>
              <a:t> The most common subtype, merocrine gland secretions exit the cell via exocytosis. This method of secretion does not damage the cell. An example of merocrine secretion is the eccrine sweat gland. </a:t>
            </a:r>
            <a:br>
              <a:rPr lang="en-US" dirty="0"/>
            </a:br>
            <a:endParaRPr lang="en-US" dirty="0"/>
          </a:p>
          <a:p>
            <a:r>
              <a:rPr lang="en-US" b="1" dirty="0"/>
              <a:t>Apocrine glands: </a:t>
            </a:r>
            <a:r>
              <a:rPr lang="en-US" dirty="0"/>
              <a:t>These form buds of the membrane that break off into the duct, losing part of the cellular membrane in the process. A well-known apocrine gland is the breastmilk-producing mammary gland. </a:t>
            </a:r>
            <a:br>
              <a:rPr lang="en-US" dirty="0"/>
            </a:br>
            <a:endParaRPr lang="en-US" dirty="0"/>
          </a:p>
          <a:p>
            <a:r>
              <a:rPr lang="en-US" b="1" dirty="0"/>
              <a:t>Holocrine glands:</a:t>
            </a:r>
            <a:r>
              <a:rPr lang="en-US" dirty="0"/>
              <a:t> The cellular membrane of holocrine glands ruptures to release its product into the duct. Sebaceous (oil) glands represent holocrine secretion.</a:t>
            </a:r>
          </a:p>
          <a:p>
            <a:pPr eaLnBrk="1" hangingPunct="1">
              <a:buFont typeface="Wingdings" pitchFamily="2" charset="2"/>
              <a:buChar char="n"/>
              <a:defRPr/>
            </a:pPr>
            <a:endParaRPr lang="en-US" sz="1600" dirty="0">
              <a:ea typeface="+mn-ea"/>
              <a:cs typeface="+mn-cs"/>
            </a:endParaRPr>
          </a:p>
        </p:txBody>
      </p:sp>
      <p:sp>
        <p:nvSpPr>
          <p:cNvPr id="487426" name="Rectangle 2"/>
          <p:cNvSpPr>
            <a:spLocks noGrp="1" noChangeArrowheads="1"/>
          </p:cNvSpPr>
          <p:nvPr>
            <p:ph type="title"/>
          </p:nvPr>
        </p:nvSpPr>
        <p:spPr>
          <a:xfrm>
            <a:off x="0" y="533400"/>
            <a:ext cx="9144000" cy="685800"/>
          </a:xfrm>
        </p:spPr>
        <p:txBody>
          <a:bodyPr/>
          <a:lstStyle/>
          <a:p>
            <a:pPr eaLnBrk="1" hangingPunct="1">
              <a:defRPr/>
            </a:pPr>
            <a:r>
              <a:rPr lang="en-US" sz="3600" dirty="0">
                <a:latin typeface="Tahoma" charset="0"/>
                <a:cs typeface="+mj-cs"/>
              </a:rPr>
              <a:t>Exocrine Glands – Functional Classification</a:t>
            </a:r>
          </a:p>
        </p:txBody>
      </p:sp>
      <p:pic>
        <p:nvPicPr>
          <p:cNvPr id="3" name="Picture 4" descr="w0095-nc">
            <a:extLst>
              <a:ext uri="{FF2B5EF4-FFF2-40B4-BE49-F238E27FC236}">
                <a16:creationId xmlns:a16="http://schemas.microsoft.com/office/drawing/2014/main" id="{7C93BC38-B885-0A00-1DC5-79EB4F8D6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981200"/>
            <a:ext cx="2260311" cy="46860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cs typeface="+mj-cs"/>
              </a:rPr>
              <a:t>Connective Tissue</a:t>
            </a:r>
          </a:p>
        </p:txBody>
      </p:sp>
      <p:pic>
        <p:nvPicPr>
          <p:cNvPr id="6" name="Picture 5"/>
          <p:cNvPicPr>
            <a:picLocks noChangeAspect="1"/>
          </p:cNvPicPr>
          <p:nvPr/>
        </p:nvPicPr>
        <p:blipFill>
          <a:blip r:embed="rId2"/>
          <a:stretch>
            <a:fillRect/>
          </a:stretch>
        </p:blipFill>
        <p:spPr>
          <a:xfrm>
            <a:off x="1219200" y="1619250"/>
            <a:ext cx="6781800" cy="5086350"/>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a:xfrm>
            <a:off x="457200" y="457200"/>
            <a:ext cx="8229600" cy="533400"/>
          </a:xfrm>
        </p:spPr>
        <p:txBody>
          <a:bodyPr/>
          <a:lstStyle/>
          <a:p>
            <a:pPr eaLnBrk="1" hangingPunct="1">
              <a:defRPr/>
            </a:pPr>
            <a:r>
              <a:rPr lang="en-US" sz="4400" dirty="0">
                <a:latin typeface="Tahoma" charset="0"/>
                <a:cs typeface="+mj-cs"/>
              </a:rPr>
              <a:t> Connective Tissues – General Features</a:t>
            </a:r>
          </a:p>
        </p:txBody>
      </p:sp>
      <p:sp>
        <p:nvSpPr>
          <p:cNvPr id="438275" name="Rectangle 3"/>
          <p:cNvSpPr>
            <a:spLocks noGrp="1" noChangeArrowheads="1"/>
          </p:cNvSpPr>
          <p:nvPr>
            <p:ph type="body" sz="half" idx="1"/>
          </p:nvPr>
        </p:nvSpPr>
        <p:spPr>
          <a:xfrm>
            <a:off x="228600" y="1741842"/>
            <a:ext cx="8915400" cy="4419600"/>
          </a:xfrm>
        </p:spPr>
        <p:txBody>
          <a:bodyPr>
            <a:normAutofit fontScale="92500" lnSpcReduction="10000"/>
          </a:bodyPr>
          <a:lstStyle/>
          <a:p>
            <a:pPr eaLnBrk="1" hangingPunct="1">
              <a:defRPr/>
            </a:pPr>
            <a:r>
              <a:rPr lang="en-US" dirty="0">
                <a:latin typeface="Tahoma" charset="0"/>
                <a:cs typeface="+mn-cs"/>
              </a:rPr>
              <a:t>Cells rarely touch due to </a:t>
            </a:r>
            <a:r>
              <a:rPr lang="ja-JP" altLang="en-US">
                <a:latin typeface="Tahoma" charset="0"/>
                <a:cs typeface="+mn-cs"/>
              </a:rPr>
              <a:t>“</a:t>
            </a:r>
            <a:r>
              <a:rPr lang="en-US" dirty="0">
                <a:latin typeface="Tahoma" charset="0"/>
                <a:cs typeface="+mn-cs"/>
              </a:rPr>
              <a:t>extracellular matrix.</a:t>
            </a:r>
            <a:r>
              <a:rPr lang="ja-JP" altLang="en-US">
                <a:latin typeface="Tahoma" charset="0"/>
                <a:cs typeface="+mn-cs"/>
              </a:rPr>
              <a:t>”</a:t>
            </a:r>
            <a:endParaRPr lang="en-US" dirty="0">
              <a:latin typeface="Tahoma" charset="0"/>
              <a:cs typeface="+mn-cs"/>
            </a:endParaRPr>
          </a:p>
          <a:p>
            <a:pPr eaLnBrk="1" hangingPunct="1">
              <a:defRPr/>
            </a:pPr>
            <a:r>
              <a:rPr lang="en-US" dirty="0">
                <a:latin typeface="Tahoma" charset="0"/>
                <a:cs typeface="+mn-cs"/>
              </a:rPr>
              <a:t>Matrix (fibers &amp; ground substance) is secreted by cells</a:t>
            </a:r>
          </a:p>
          <a:p>
            <a:pPr marL="868680" lvl="1" indent="-457200">
              <a:buFont typeface="+mj-lt"/>
              <a:buAutoNum type="arabicPeriod"/>
              <a:defRPr/>
            </a:pPr>
            <a:r>
              <a:rPr lang="en-US" b="1" dirty="0">
                <a:latin typeface="Tahoma" charset="0"/>
              </a:rPr>
              <a:t>Collagen fibers</a:t>
            </a:r>
          </a:p>
          <a:p>
            <a:pPr lvl="2">
              <a:defRPr/>
            </a:pPr>
            <a:r>
              <a:rPr lang="en-US" dirty="0">
                <a:latin typeface="Tahoma" charset="0"/>
              </a:rPr>
              <a:t>composed of the protein collagen</a:t>
            </a:r>
          </a:p>
          <a:p>
            <a:pPr lvl="2">
              <a:defRPr/>
            </a:pPr>
            <a:r>
              <a:rPr lang="en-US" dirty="0">
                <a:latin typeface="Tahoma" charset="0"/>
              </a:rPr>
              <a:t>tough and resistant to stretching</a:t>
            </a:r>
          </a:p>
          <a:p>
            <a:pPr marL="868680" lvl="1" indent="-457200">
              <a:buFont typeface="+mj-lt"/>
              <a:buAutoNum type="arabicPeriod"/>
              <a:defRPr/>
            </a:pPr>
            <a:r>
              <a:rPr lang="en-US" b="1" dirty="0">
                <a:latin typeface="Tahoma" charset="0"/>
              </a:rPr>
              <a:t>Elastic fibers</a:t>
            </a:r>
          </a:p>
          <a:p>
            <a:pPr lvl="2">
              <a:defRPr/>
            </a:pPr>
            <a:r>
              <a:rPr lang="en-US" dirty="0">
                <a:latin typeface="Tahoma" charset="0"/>
              </a:rPr>
              <a:t>composed of the protein elastin </a:t>
            </a:r>
          </a:p>
          <a:p>
            <a:pPr lvl="2">
              <a:defRPr/>
            </a:pPr>
            <a:r>
              <a:rPr lang="en-US" dirty="0">
                <a:latin typeface="Tahoma" charset="0"/>
              </a:rPr>
              <a:t>provide strength and stretching capacity</a:t>
            </a:r>
          </a:p>
          <a:p>
            <a:pPr marL="868680" lvl="1" indent="-457200">
              <a:buFont typeface="+mj-lt"/>
              <a:buAutoNum type="arabicPeriod"/>
              <a:defRPr/>
            </a:pPr>
            <a:r>
              <a:rPr lang="en-US" b="1" dirty="0">
                <a:latin typeface="Tahoma" charset="0"/>
              </a:rPr>
              <a:t>Reticular fibers</a:t>
            </a:r>
          </a:p>
          <a:p>
            <a:pPr lvl="2">
              <a:defRPr/>
            </a:pPr>
            <a:r>
              <a:rPr lang="en-US" dirty="0">
                <a:latin typeface="Tahoma" charset="0"/>
              </a:rPr>
              <a:t>composed of collagen  and glycoprotein</a:t>
            </a:r>
          </a:p>
          <a:p>
            <a:pPr lvl="2">
              <a:defRPr/>
            </a:pPr>
            <a:r>
              <a:rPr lang="en-US" dirty="0">
                <a:latin typeface="Tahoma" charset="0"/>
              </a:rPr>
              <a:t>supporting network</a:t>
            </a:r>
          </a:p>
          <a:p>
            <a:pPr lvl="1">
              <a:defRPr/>
            </a:pPr>
            <a:endParaRPr lang="en-US" dirty="0">
              <a:latin typeface="Tahoma" charset="0"/>
              <a:cs typeface="+mn-cs"/>
            </a:endParaRPr>
          </a:p>
          <a:p>
            <a:pPr eaLnBrk="1" hangingPunct="1">
              <a:defRPr/>
            </a:pPr>
            <a:r>
              <a:rPr lang="en-US" dirty="0">
                <a:latin typeface="Tahoma" charset="0"/>
                <a:cs typeface="+mn-cs"/>
              </a:rPr>
              <a:t>Good nerve &amp; blood supply except in cartilage &amp; tendons</a:t>
            </a:r>
          </a:p>
          <a:p>
            <a:pPr eaLnBrk="1" hangingPunct="1">
              <a:defRPr/>
            </a:pPr>
            <a:endParaRPr lang="en-US" dirty="0">
              <a:latin typeface="Tahoma" charset="0"/>
              <a:cs typeface="+mn-cs"/>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3" name="Rectangle 3"/>
          <p:cNvSpPr>
            <a:spLocks noGrp="1" noChangeArrowheads="1"/>
          </p:cNvSpPr>
          <p:nvPr>
            <p:ph idx="1"/>
          </p:nvPr>
        </p:nvSpPr>
        <p:spPr>
          <a:xfrm>
            <a:off x="457200" y="2438400"/>
            <a:ext cx="8229600" cy="4114800"/>
          </a:xfrm>
        </p:spPr>
        <p:txBody>
          <a:bodyPr>
            <a:normAutofit/>
          </a:bodyPr>
          <a:lstStyle/>
          <a:p>
            <a:pPr marL="514350" indent="-514350" eaLnBrk="1" hangingPunct="1">
              <a:buFont typeface="Wingdings" pitchFamily="2" charset="2"/>
              <a:buAutoNum type="romanUcPeriod"/>
              <a:defRPr/>
            </a:pPr>
            <a:r>
              <a:rPr lang="en-US" sz="2000" dirty="0"/>
              <a:t>Proper c</a:t>
            </a:r>
            <a:r>
              <a:rPr lang="en-US" sz="2000" dirty="0">
                <a:ea typeface="+mn-ea"/>
                <a:cs typeface="+mn-cs"/>
              </a:rPr>
              <a:t>onnective tissue</a:t>
            </a:r>
          </a:p>
          <a:p>
            <a:pPr marL="514350" indent="-514350" eaLnBrk="1" hangingPunct="1">
              <a:buFont typeface="Wingdings" pitchFamily="2" charset="2"/>
              <a:buAutoNum type="romanUcPeriod"/>
              <a:defRPr/>
            </a:pPr>
            <a:r>
              <a:rPr lang="en-US" sz="2000" dirty="0">
                <a:ea typeface="+mn-ea"/>
                <a:cs typeface="+mn-cs"/>
              </a:rPr>
              <a:t>Cartilage</a:t>
            </a:r>
            <a:endParaRPr lang="en-US" sz="2000" dirty="0"/>
          </a:p>
          <a:p>
            <a:pPr lvl="1">
              <a:defRPr/>
            </a:pPr>
            <a:r>
              <a:rPr lang="en-US" sz="1800" dirty="0"/>
              <a:t>Hyaline, elastic, and fibrocartilage</a:t>
            </a:r>
          </a:p>
          <a:p>
            <a:pPr marL="514350" indent="-514350">
              <a:buFont typeface="Wingdings" pitchFamily="2" charset="2"/>
              <a:buAutoNum type="romanUcPeriod"/>
              <a:defRPr/>
            </a:pPr>
            <a:r>
              <a:rPr lang="en-US" sz="2000" dirty="0"/>
              <a:t>Bone</a:t>
            </a:r>
            <a:r>
              <a:rPr lang="en-US" sz="2000" dirty="0">
                <a:ea typeface="+mn-ea"/>
                <a:cs typeface="+mn-cs"/>
              </a:rPr>
              <a:t> tissue</a:t>
            </a:r>
          </a:p>
          <a:p>
            <a:pPr lvl="1">
              <a:defRPr/>
            </a:pPr>
            <a:r>
              <a:rPr lang="en-US" sz="1800" dirty="0"/>
              <a:t>Compact and </a:t>
            </a:r>
            <a:r>
              <a:rPr lang="en-US" sz="1800" dirty="0">
                <a:solidFill>
                  <a:schemeClr val="tx1"/>
                </a:solidFill>
              </a:rPr>
              <a:t>spongy (sometimes called trabecular)</a:t>
            </a:r>
          </a:p>
          <a:p>
            <a:pPr marL="514350" indent="-514350">
              <a:buFont typeface="Wingdings" pitchFamily="2" charset="2"/>
              <a:buAutoNum type="romanUcPeriod"/>
              <a:defRPr/>
            </a:pPr>
            <a:r>
              <a:rPr lang="en-US" sz="2000" dirty="0">
                <a:ea typeface="+mn-ea"/>
                <a:cs typeface="+mn-cs"/>
              </a:rPr>
              <a:t>Blood and Lymph</a:t>
            </a:r>
          </a:p>
        </p:txBody>
      </p:sp>
      <p:sp>
        <p:nvSpPr>
          <p:cNvPr id="373762" name="Rectangle 2"/>
          <p:cNvSpPr>
            <a:spLocks noGrp="1" noChangeArrowheads="1"/>
          </p:cNvSpPr>
          <p:nvPr>
            <p:ph type="title"/>
          </p:nvPr>
        </p:nvSpPr>
        <p:spPr>
          <a:xfrm>
            <a:off x="0" y="381000"/>
            <a:ext cx="9144000" cy="990600"/>
          </a:xfrm>
        </p:spPr>
        <p:txBody>
          <a:bodyPr/>
          <a:lstStyle/>
          <a:p>
            <a:pPr eaLnBrk="1" hangingPunct="1">
              <a:defRPr/>
            </a:pPr>
            <a:r>
              <a:rPr lang="en-US" dirty="0">
                <a:latin typeface="Tahoma" charset="0"/>
                <a:cs typeface="+mj-cs"/>
              </a:rPr>
              <a:t>Types of Mature Connective Tissue</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096B80-1560-4A23-DA3C-F6BC375B5196}"/>
              </a:ext>
            </a:extLst>
          </p:cNvPr>
          <p:cNvSpPr>
            <a:spLocks noGrp="1"/>
          </p:cNvSpPr>
          <p:nvPr>
            <p:ph idx="1"/>
          </p:nvPr>
        </p:nvSpPr>
        <p:spPr>
          <a:xfrm>
            <a:off x="699247" y="2248347"/>
            <a:ext cx="8073617" cy="4278220"/>
          </a:xfrm>
        </p:spPr>
        <p:txBody>
          <a:bodyPr>
            <a:normAutofit fontScale="92500"/>
          </a:bodyPr>
          <a:lstStyle/>
          <a:p>
            <a:pPr>
              <a:defRPr/>
            </a:pPr>
            <a:r>
              <a:rPr lang="en-US" sz="2200" b="1" dirty="0"/>
              <a:t>Loose connective tissue </a:t>
            </a:r>
            <a:r>
              <a:rPr lang="en-US" sz="2200" dirty="0"/>
              <a:t>- Loosely woven fibers throughout tissues </a:t>
            </a:r>
          </a:p>
          <a:p>
            <a:pPr lvl="1">
              <a:defRPr/>
            </a:pPr>
            <a:r>
              <a:rPr lang="en-US" sz="2000" dirty="0">
                <a:solidFill>
                  <a:srgbClr val="C00000"/>
                </a:solidFill>
              </a:rPr>
              <a:t>Areolar connective tissue  </a:t>
            </a:r>
          </a:p>
          <a:p>
            <a:pPr lvl="2">
              <a:defRPr/>
            </a:pPr>
            <a:r>
              <a:rPr lang="en-US" sz="1800" dirty="0"/>
              <a:t>Elastic and collagen fibers</a:t>
            </a:r>
          </a:p>
          <a:p>
            <a:pPr lvl="2">
              <a:defRPr/>
            </a:pPr>
            <a:r>
              <a:rPr lang="en-US" sz="1800" dirty="0" err="1"/>
              <a:t>eg.</a:t>
            </a:r>
            <a:r>
              <a:rPr lang="en-US" sz="1800" dirty="0"/>
              <a:t> Subcutaneous layer</a:t>
            </a:r>
          </a:p>
          <a:p>
            <a:pPr lvl="1">
              <a:defRPr/>
            </a:pPr>
            <a:r>
              <a:rPr lang="en-US" sz="2000" dirty="0">
                <a:solidFill>
                  <a:srgbClr val="C00000"/>
                </a:solidFill>
              </a:rPr>
              <a:t>Adipose</a:t>
            </a:r>
            <a:r>
              <a:rPr lang="en-US" sz="2000" dirty="0"/>
              <a:t> – fat</a:t>
            </a:r>
          </a:p>
          <a:p>
            <a:pPr lvl="2">
              <a:defRPr/>
            </a:pPr>
            <a:r>
              <a:rPr lang="en-US" sz="1800" dirty="0"/>
              <a:t>Yellow fat - Example: Deeper layer of skin, organ padding, yellow marrow</a:t>
            </a:r>
          </a:p>
          <a:p>
            <a:pPr lvl="3">
              <a:defRPr/>
            </a:pPr>
            <a:r>
              <a:rPr lang="en-US" sz="1400" dirty="0"/>
              <a:t>Peripheral nuclei due to large fat storage droplet</a:t>
            </a:r>
          </a:p>
          <a:p>
            <a:pPr lvl="2">
              <a:defRPr/>
            </a:pPr>
            <a:r>
              <a:rPr lang="en-US" sz="1800" dirty="0"/>
              <a:t>Brown fat – found in infants</a:t>
            </a:r>
          </a:p>
          <a:p>
            <a:pPr lvl="1">
              <a:defRPr/>
            </a:pPr>
            <a:r>
              <a:rPr lang="en-US" sz="2000" dirty="0">
                <a:solidFill>
                  <a:srgbClr val="C00000"/>
                </a:solidFill>
              </a:rPr>
              <a:t>Reticular connective tissue</a:t>
            </a:r>
          </a:p>
          <a:p>
            <a:pPr lvl="2">
              <a:defRPr/>
            </a:pPr>
            <a:r>
              <a:rPr lang="en-US" dirty="0"/>
              <a:t>Network of fibers &amp; cells that produce framework of organ</a:t>
            </a:r>
          </a:p>
          <a:p>
            <a:pPr lvl="2">
              <a:defRPr/>
            </a:pPr>
            <a:r>
              <a:rPr lang="en-US" dirty="0"/>
              <a:t>Holds organ together </a:t>
            </a:r>
          </a:p>
          <a:p>
            <a:pPr lvl="2">
              <a:defRPr/>
            </a:pPr>
            <a:r>
              <a:rPr lang="en-US" dirty="0"/>
              <a:t>Examples: liver, spleen, lymph nodes, bone marrow</a:t>
            </a:r>
          </a:p>
          <a:p>
            <a:pPr lvl="2">
              <a:defRPr/>
            </a:pPr>
            <a:endParaRPr lang="en-US" sz="1800" dirty="0"/>
          </a:p>
          <a:p>
            <a:pPr lvl="1">
              <a:defRPr/>
            </a:pPr>
            <a:endParaRPr lang="en-US" sz="2000" dirty="0"/>
          </a:p>
          <a:p>
            <a:endParaRPr lang="en-US" dirty="0"/>
          </a:p>
        </p:txBody>
      </p:sp>
      <p:sp>
        <p:nvSpPr>
          <p:cNvPr id="4" name="Title 3">
            <a:extLst>
              <a:ext uri="{FF2B5EF4-FFF2-40B4-BE49-F238E27FC236}">
                <a16:creationId xmlns:a16="http://schemas.microsoft.com/office/drawing/2014/main" id="{BA829DAE-4D66-7302-4E66-F231892B81D5}"/>
              </a:ext>
            </a:extLst>
          </p:cNvPr>
          <p:cNvSpPr>
            <a:spLocks noGrp="1"/>
          </p:cNvSpPr>
          <p:nvPr>
            <p:ph type="title"/>
          </p:nvPr>
        </p:nvSpPr>
        <p:spPr/>
        <p:txBody>
          <a:bodyPr/>
          <a:lstStyle/>
          <a:p>
            <a:r>
              <a:rPr lang="en-US" sz="4800" dirty="0"/>
              <a:t>I. Proper Connective Tissue </a:t>
            </a:r>
          </a:p>
        </p:txBody>
      </p:sp>
    </p:spTree>
    <p:extLst>
      <p:ext uri="{BB962C8B-B14F-4D97-AF65-F5344CB8AC3E}">
        <p14:creationId xmlns:p14="http://schemas.microsoft.com/office/powerpoint/2010/main" val="397601079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D20F4-0059-2298-2952-7CE205F6A7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54CFE1-B96A-8A44-1B12-8BA68C7339EF}"/>
              </a:ext>
            </a:extLst>
          </p:cNvPr>
          <p:cNvSpPr>
            <a:spLocks noGrp="1"/>
          </p:cNvSpPr>
          <p:nvPr>
            <p:ph idx="1"/>
          </p:nvPr>
        </p:nvSpPr>
        <p:spPr>
          <a:xfrm>
            <a:off x="699247" y="2248347"/>
            <a:ext cx="8073617" cy="4278220"/>
          </a:xfrm>
        </p:spPr>
        <p:txBody>
          <a:bodyPr>
            <a:normAutofit/>
          </a:bodyPr>
          <a:lstStyle/>
          <a:p>
            <a:pPr marL="777240" lvl="2" indent="0">
              <a:buNone/>
              <a:defRPr/>
            </a:pPr>
            <a:endParaRPr lang="en-US" sz="1800" dirty="0"/>
          </a:p>
          <a:p>
            <a:pPr>
              <a:defRPr/>
            </a:pPr>
            <a:r>
              <a:rPr lang="en-US" sz="2200" b="1" dirty="0"/>
              <a:t>Dense connective tissue </a:t>
            </a:r>
            <a:r>
              <a:rPr lang="en-US" sz="2200" dirty="0"/>
              <a:t>– Densely woven fibers throughout tissues</a:t>
            </a:r>
          </a:p>
          <a:p>
            <a:pPr lvl="1">
              <a:defRPr/>
            </a:pPr>
            <a:r>
              <a:rPr lang="en-US" sz="2000" dirty="0">
                <a:solidFill>
                  <a:srgbClr val="C00000"/>
                </a:solidFill>
              </a:rPr>
              <a:t>Dense regular connective tissue </a:t>
            </a:r>
            <a:r>
              <a:rPr lang="en-US" sz="2000" dirty="0"/>
              <a:t>– </a:t>
            </a:r>
            <a:r>
              <a:rPr lang="en-US" sz="2000" dirty="0" err="1"/>
              <a:t>eg.</a:t>
            </a:r>
            <a:r>
              <a:rPr lang="en-US" sz="2000" dirty="0"/>
              <a:t> Tendons and ligaments</a:t>
            </a:r>
          </a:p>
          <a:p>
            <a:pPr lvl="1">
              <a:defRPr/>
            </a:pPr>
            <a:r>
              <a:rPr lang="en-US" sz="2000" dirty="0">
                <a:solidFill>
                  <a:srgbClr val="C00000"/>
                </a:solidFill>
              </a:rPr>
              <a:t>Dense irregular connective tissue </a:t>
            </a:r>
            <a:r>
              <a:rPr lang="en-US" sz="2000" dirty="0"/>
              <a:t>– </a:t>
            </a:r>
            <a:r>
              <a:rPr lang="en-US" sz="2000" dirty="0" err="1"/>
              <a:t>eg.</a:t>
            </a:r>
            <a:r>
              <a:rPr lang="en-US" sz="2000" dirty="0"/>
              <a:t> White of eyeball, dermis of skin</a:t>
            </a:r>
          </a:p>
          <a:p>
            <a:pPr lvl="1">
              <a:defRPr/>
            </a:pPr>
            <a:r>
              <a:rPr lang="en-US" sz="2000" dirty="0">
                <a:solidFill>
                  <a:srgbClr val="C00000"/>
                </a:solidFill>
              </a:rPr>
              <a:t>Elastic connective tissue </a:t>
            </a:r>
          </a:p>
          <a:p>
            <a:pPr lvl="2">
              <a:defRPr/>
            </a:pPr>
            <a:r>
              <a:rPr lang="en-US" dirty="0"/>
              <a:t>Branching elastic fibers and fibroblasts</a:t>
            </a:r>
          </a:p>
          <a:p>
            <a:pPr lvl="2">
              <a:defRPr/>
            </a:pPr>
            <a:r>
              <a:rPr lang="en-US" dirty="0"/>
              <a:t>Can stretch &amp; still return to original shape</a:t>
            </a:r>
          </a:p>
          <a:p>
            <a:pPr lvl="2">
              <a:defRPr/>
            </a:pPr>
            <a:r>
              <a:rPr lang="en-US" dirty="0"/>
              <a:t>Examples: Lung tissue, vocal cords, ligament between vertebrae</a:t>
            </a:r>
          </a:p>
          <a:p>
            <a:pPr lvl="1">
              <a:defRPr/>
            </a:pPr>
            <a:endParaRPr lang="en-US" sz="2000" dirty="0"/>
          </a:p>
          <a:p>
            <a:endParaRPr lang="en-US" dirty="0"/>
          </a:p>
        </p:txBody>
      </p:sp>
      <p:sp>
        <p:nvSpPr>
          <p:cNvPr id="4" name="Title 3">
            <a:extLst>
              <a:ext uri="{FF2B5EF4-FFF2-40B4-BE49-F238E27FC236}">
                <a16:creationId xmlns:a16="http://schemas.microsoft.com/office/drawing/2014/main" id="{8EC33196-8512-18A9-9A21-15B9757E4977}"/>
              </a:ext>
            </a:extLst>
          </p:cNvPr>
          <p:cNvSpPr>
            <a:spLocks noGrp="1"/>
          </p:cNvSpPr>
          <p:nvPr>
            <p:ph type="title"/>
          </p:nvPr>
        </p:nvSpPr>
        <p:spPr/>
        <p:txBody>
          <a:bodyPr/>
          <a:lstStyle/>
          <a:p>
            <a:r>
              <a:rPr lang="en-US" sz="4800" dirty="0"/>
              <a:t>I. Proper Connective Tissue </a:t>
            </a:r>
          </a:p>
        </p:txBody>
      </p:sp>
    </p:spTree>
    <p:extLst>
      <p:ext uri="{BB962C8B-B14F-4D97-AF65-F5344CB8AC3E}">
        <p14:creationId xmlns:p14="http://schemas.microsoft.com/office/powerpoint/2010/main" val="244461593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3" name="Rectangle 3"/>
          <p:cNvSpPr>
            <a:spLocks noGrp="1" noChangeArrowheads="1"/>
          </p:cNvSpPr>
          <p:nvPr>
            <p:ph idx="1"/>
          </p:nvPr>
        </p:nvSpPr>
        <p:spPr>
          <a:xfrm>
            <a:off x="381000" y="2209800"/>
            <a:ext cx="8229600" cy="4495800"/>
          </a:xfrm>
        </p:spPr>
        <p:txBody>
          <a:bodyPr>
            <a:normAutofit fontScale="77500" lnSpcReduction="20000"/>
          </a:bodyPr>
          <a:lstStyle/>
          <a:p>
            <a:pPr eaLnBrk="1" hangingPunct="1">
              <a:defRPr/>
            </a:pPr>
            <a:r>
              <a:rPr lang="en-US" b="1" i="1" dirty="0">
                <a:cs typeface="+mn-cs"/>
              </a:rPr>
              <a:t>Cartilage</a:t>
            </a:r>
            <a:r>
              <a:rPr lang="en-US" dirty="0">
                <a:cs typeface="+mn-cs"/>
              </a:rPr>
              <a:t> consists of a dense network of collagen fibers and elastic fibers embedded in chondroitin sulfate.</a:t>
            </a:r>
          </a:p>
          <a:p>
            <a:pPr lvl="1" eaLnBrk="1" hangingPunct="1">
              <a:defRPr/>
            </a:pPr>
            <a:r>
              <a:rPr lang="en-US" dirty="0"/>
              <a:t>Chondrocytes occur with spaces called lacunae in the matrix.</a:t>
            </a:r>
            <a:br>
              <a:rPr lang="en-US" dirty="0"/>
            </a:br>
            <a:endParaRPr lang="en-US" dirty="0"/>
          </a:p>
          <a:p>
            <a:pPr eaLnBrk="1" hangingPunct="1">
              <a:defRPr/>
            </a:pPr>
            <a:r>
              <a:rPr lang="en-US" dirty="0">
                <a:cs typeface="+mn-cs"/>
              </a:rPr>
              <a:t>It is surrounded by </a:t>
            </a:r>
            <a:r>
              <a:rPr lang="en-US" i="1" dirty="0">
                <a:cs typeface="+mn-cs"/>
              </a:rPr>
              <a:t>perichondrium.</a:t>
            </a:r>
            <a:br>
              <a:rPr lang="en-US" i="1" dirty="0">
                <a:cs typeface="+mn-cs"/>
              </a:rPr>
            </a:br>
            <a:endParaRPr lang="en-US" dirty="0">
              <a:cs typeface="+mn-cs"/>
            </a:endParaRPr>
          </a:p>
          <a:p>
            <a:pPr eaLnBrk="1" hangingPunct="1">
              <a:defRPr/>
            </a:pPr>
            <a:r>
              <a:rPr lang="en-US" dirty="0">
                <a:cs typeface="+mn-cs"/>
              </a:rPr>
              <a:t>Unlike other connective tissues, cartilage has no blood vessels or nerves (except in the perichondrium).</a:t>
            </a:r>
            <a:br>
              <a:rPr lang="en-US" dirty="0">
                <a:cs typeface="+mn-cs"/>
              </a:rPr>
            </a:br>
            <a:endParaRPr lang="en-US" dirty="0">
              <a:cs typeface="+mn-cs"/>
            </a:endParaRPr>
          </a:p>
          <a:p>
            <a:pPr eaLnBrk="1" hangingPunct="1">
              <a:defRPr/>
            </a:pPr>
            <a:r>
              <a:rPr lang="en-US" dirty="0"/>
              <a:t>3 types:</a:t>
            </a:r>
          </a:p>
          <a:p>
            <a:pPr lvl="1">
              <a:defRPr/>
            </a:pPr>
            <a:r>
              <a:rPr lang="en-US" dirty="0">
                <a:solidFill>
                  <a:srgbClr val="7030A0"/>
                </a:solidFill>
                <a:cs typeface="+mn-cs"/>
              </a:rPr>
              <a:t>Hyaline cartilage </a:t>
            </a:r>
            <a:r>
              <a:rPr lang="en-US" dirty="0">
                <a:cs typeface="+mn-cs"/>
              </a:rPr>
              <a:t>- </a:t>
            </a:r>
            <a:r>
              <a:rPr lang="en-US" dirty="0"/>
              <a:t>Reduces friction at joints as articular cartilage</a:t>
            </a:r>
            <a:endParaRPr lang="en-US" dirty="0">
              <a:cs typeface="+mn-cs"/>
            </a:endParaRPr>
          </a:p>
          <a:p>
            <a:pPr lvl="1">
              <a:defRPr/>
            </a:pPr>
            <a:r>
              <a:rPr lang="en-US" dirty="0">
                <a:solidFill>
                  <a:srgbClr val="7030A0"/>
                </a:solidFill>
              </a:rPr>
              <a:t>Elastic cartilage</a:t>
            </a:r>
          </a:p>
          <a:p>
            <a:pPr lvl="2">
              <a:defRPr/>
            </a:pPr>
            <a:r>
              <a:rPr lang="en-US" sz="1700" dirty="0"/>
              <a:t>Elastic fibers help maintain shape</a:t>
            </a:r>
          </a:p>
          <a:p>
            <a:pPr lvl="2">
              <a:defRPr/>
            </a:pPr>
            <a:r>
              <a:rPr lang="en-US" sz="1700" dirty="0"/>
              <a:t>Ear, epiglottis</a:t>
            </a:r>
            <a:r>
              <a:rPr lang="en-US" dirty="0"/>
              <a:t>, eustachian tube</a:t>
            </a:r>
          </a:p>
          <a:p>
            <a:pPr lvl="1">
              <a:defRPr/>
            </a:pPr>
            <a:r>
              <a:rPr lang="en-US" dirty="0">
                <a:solidFill>
                  <a:srgbClr val="7030A0"/>
                </a:solidFill>
                <a:cs typeface="+mn-cs"/>
              </a:rPr>
              <a:t>Fibrocartilage</a:t>
            </a:r>
          </a:p>
          <a:p>
            <a:pPr lvl="2">
              <a:defRPr/>
            </a:pPr>
            <a:r>
              <a:rPr lang="en-US" sz="1600" dirty="0"/>
              <a:t>Many more collagen fibers causes rigidity &amp; stiffness</a:t>
            </a:r>
          </a:p>
          <a:p>
            <a:pPr lvl="2">
              <a:defRPr/>
            </a:pPr>
            <a:r>
              <a:rPr lang="en-US" sz="1600" dirty="0"/>
              <a:t>Strongest type of cartilage (intervertebral discs)</a:t>
            </a:r>
          </a:p>
          <a:p>
            <a:pPr lvl="1">
              <a:defRPr/>
            </a:pPr>
            <a:endParaRPr lang="en-US" dirty="0">
              <a:cs typeface="+mn-cs"/>
            </a:endParaRPr>
          </a:p>
        </p:txBody>
      </p:sp>
      <p:sp>
        <p:nvSpPr>
          <p:cNvPr id="378882" name="Rectangle 2"/>
          <p:cNvSpPr>
            <a:spLocks noGrp="1" noChangeArrowheads="1"/>
          </p:cNvSpPr>
          <p:nvPr>
            <p:ph type="title"/>
          </p:nvPr>
        </p:nvSpPr>
        <p:spPr>
          <a:xfrm>
            <a:off x="457200" y="152400"/>
            <a:ext cx="8229600" cy="838200"/>
          </a:xfrm>
        </p:spPr>
        <p:txBody>
          <a:bodyPr/>
          <a:lstStyle/>
          <a:p>
            <a:pPr eaLnBrk="1" hangingPunct="1">
              <a:defRPr/>
            </a:pPr>
            <a:r>
              <a:rPr lang="en-US">
                <a:latin typeface="Tahoma" charset="0"/>
                <a:cs typeface="+mj-cs"/>
              </a:rPr>
              <a:t>II.  Cartilage</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7" name="Rectangle 3"/>
          <p:cNvSpPr>
            <a:spLocks noGrp="1" noChangeArrowheads="1"/>
          </p:cNvSpPr>
          <p:nvPr>
            <p:ph idx="1"/>
          </p:nvPr>
        </p:nvSpPr>
        <p:spPr>
          <a:xfrm>
            <a:off x="685800" y="2362200"/>
            <a:ext cx="8013700" cy="3367088"/>
          </a:xfrm>
        </p:spPr>
        <p:txBody>
          <a:bodyPr/>
          <a:lstStyle/>
          <a:p>
            <a:pPr eaLnBrk="1" hangingPunct="1">
              <a:defRPr/>
            </a:pPr>
            <a:r>
              <a:rPr lang="en-US" dirty="0">
                <a:latin typeface="Tahoma" charset="0"/>
                <a:cs typeface="+mn-cs"/>
              </a:rPr>
              <a:t>Grows and repairs slowly because it is avascular</a:t>
            </a:r>
          </a:p>
          <a:p>
            <a:pPr eaLnBrk="1" hangingPunct="1">
              <a:defRPr/>
            </a:pPr>
            <a:r>
              <a:rPr lang="en-US" dirty="0">
                <a:latin typeface="Tahoma" charset="0"/>
                <a:cs typeface="+mn-cs"/>
              </a:rPr>
              <a:t>Interstitial growth</a:t>
            </a:r>
          </a:p>
          <a:p>
            <a:pPr lvl="1" eaLnBrk="1" hangingPunct="1">
              <a:defRPr/>
            </a:pPr>
            <a:r>
              <a:rPr lang="en-US" dirty="0">
                <a:latin typeface="Tahoma" charset="0"/>
              </a:rPr>
              <a:t>chondro</a:t>
            </a:r>
            <a:r>
              <a:rPr lang="en-US" u="sng" dirty="0">
                <a:latin typeface="Tahoma" charset="0"/>
              </a:rPr>
              <a:t>cytes</a:t>
            </a:r>
            <a:r>
              <a:rPr lang="en-US" dirty="0">
                <a:latin typeface="Tahoma" charset="0"/>
              </a:rPr>
              <a:t> divide and form new matrix</a:t>
            </a:r>
          </a:p>
          <a:p>
            <a:pPr lvl="1" eaLnBrk="1" hangingPunct="1">
              <a:defRPr/>
            </a:pPr>
            <a:r>
              <a:rPr lang="en-US" dirty="0">
                <a:latin typeface="Tahoma" charset="0"/>
              </a:rPr>
              <a:t>occurs in childhood and adolescence</a:t>
            </a:r>
          </a:p>
          <a:p>
            <a:pPr eaLnBrk="1" hangingPunct="1">
              <a:defRPr/>
            </a:pPr>
            <a:r>
              <a:rPr lang="en-US" dirty="0">
                <a:latin typeface="Tahoma" charset="0"/>
                <a:cs typeface="+mn-cs"/>
              </a:rPr>
              <a:t>Appositional growth – growth in width</a:t>
            </a:r>
          </a:p>
          <a:p>
            <a:pPr lvl="1" eaLnBrk="1" hangingPunct="1">
              <a:defRPr/>
            </a:pPr>
            <a:r>
              <a:rPr lang="en-US" dirty="0">
                <a:latin typeface="Tahoma" charset="0"/>
              </a:rPr>
              <a:t>chondro</a:t>
            </a:r>
            <a:r>
              <a:rPr lang="en-US" u="sng" dirty="0">
                <a:latin typeface="Tahoma" charset="0"/>
              </a:rPr>
              <a:t>blasts</a:t>
            </a:r>
            <a:r>
              <a:rPr lang="en-US" dirty="0">
                <a:latin typeface="Tahoma" charset="0"/>
              </a:rPr>
              <a:t> secrete matrix onto surface</a:t>
            </a:r>
          </a:p>
        </p:txBody>
      </p:sp>
      <p:sp>
        <p:nvSpPr>
          <p:cNvPr id="461826" name="Rectangle 2"/>
          <p:cNvSpPr>
            <a:spLocks noGrp="1" noChangeArrowheads="1"/>
          </p:cNvSpPr>
          <p:nvPr>
            <p:ph type="title"/>
          </p:nvPr>
        </p:nvSpPr>
        <p:spPr/>
        <p:txBody>
          <a:bodyPr/>
          <a:lstStyle/>
          <a:p>
            <a:pPr eaLnBrk="1" hangingPunct="1">
              <a:defRPr/>
            </a:pPr>
            <a:r>
              <a:rPr lang="en-US" dirty="0">
                <a:latin typeface="Tahoma" charset="0"/>
                <a:cs typeface="+mj-cs"/>
              </a:rPr>
              <a:t>Growth &amp; Repair of Cartilage</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2850" name="Rectangle 2"/>
          <p:cNvSpPr>
            <a:spLocks noGrp="1" noChangeArrowheads="1"/>
          </p:cNvSpPr>
          <p:nvPr>
            <p:ph type="body" idx="4294967295"/>
          </p:nvPr>
        </p:nvSpPr>
        <p:spPr>
          <a:xfrm>
            <a:off x="457200" y="1253326"/>
            <a:ext cx="7848600" cy="3394874"/>
          </a:xfrm>
        </p:spPr>
        <p:txBody>
          <a:bodyPr/>
          <a:lstStyle/>
          <a:p>
            <a:pPr eaLnBrk="1" hangingPunct="1">
              <a:lnSpc>
                <a:spcPct val="90000"/>
              </a:lnSpc>
              <a:defRPr/>
            </a:pPr>
            <a:r>
              <a:rPr lang="en-US" dirty="0">
                <a:latin typeface="Tahoma" charset="0"/>
                <a:cs typeface="+mn-cs"/>
              </a:rPr>
              <a:t>Protects, provides for movement, stores minerals, site of blood cell formation</a:t>
            </a:r>
          </a:p>
          <a:p>
            <a:pPr eaLnBrk="1" hangingPunct="1">
              <a:lnSpc>
                <a:spcPct val="90000"/>
              </a:lnSpc>
              <a:defRPr/>
            </a:pPr>
            <a:r>
              <a:rPr lang="en-US" dirty="0">
                <a:latin typeface="Tahoma" charset="0"/>
                <a:cs typeface="+mn-cs"/>
              </a:rPr>
              <a:t>consists of a matrix containing mineral salts and collagenous fibers and cells called </a:t>
            </a:r>
            <a:r>
              <a:rPr lang="en-US" b="1" dirty="0">
                <a:latin typeface="Tahoma" charset="0"/>
                <a:cs typeface="+mn-cs"/>
              </a:rPr>
              <a:t>osteocytes</a:t>
            </a:r>
            <a:r>
              <a:rPr lang="en-US" dirty="0">
                <a:latin typeface="Tahoma" charset="0"/>
                <a:cs typeface="+mn-cs"/>
              </a:rPr>
              <a:t>.</a:t>
            </a:r>
          </a:p>
          <a:p>
            <a:pPr lvl="1" eaLnBrk="1" hangingPunct="1">
              <a:lnSpc>
                <a:spcPct val="90000"/>
              </a:lnSpc>
              <a:defRPr/>
            </a:pPr>
            <a:r>
              <a:rPr lang="en-US" b="1" dirty="0">
                <a:latin typeface="Tahoma" charset="0"/>
              </a:rPr>
              <a:t>Spongy bone</a:t>
            </a:r>
          </a:p>
          <a:p>
            <a:pPr lvl="2" eaLnBrk="1" hangingPunct="1">
              <a:lnSpc>
                <a:spcPct val="90000"/>
              </a:lnSpc>
              <a:defRPr/>
            </a:pPr>
            <a:r>
              <a:rPr lang="en-US" dirty="0">
                <a:latin typeface="Tahoma" charset="0"/>
              </a:rPr>
              <a:t>sponge-like with spaces and </a:t>
            </a:r>
            <a:r>
              <a:rPr lang="en-US" dirty="0" err="1">
                <a:latin typeface="Tahoma" charset="0"/>
              </a:rPr>
              <a:t>trabeculae</a:t>
            </a:r>
            <a:endParaRPr lang="en-US" dirty="0">
              <a:latin typeface="Tahoma" charset="0"/>
            </a:endParaRPr>
          </a:p>
          <a:p>
            <a:pPr lvl="1" eaLnBrk="1" hangingPunct="1">
              <a:lnSpc>
                <a:spcPct val="90000"/>
              </a:lnSpc>
              <a:defRPr/>
            </a:pPr>
            <a:r>
              <a:rPr lang="en-US" b="1" dirty="0">
                <a:latin typeface="Tahoma" charset="0"/>
              </a:rPr>
              <a:t>Compact bone </a:t>
            </a:r>
          </a:p>
          <a:p>
            <a:pPr lvl="2" eaLnBrk="1" hangingPunct="1">
              <a:lnSpc>
                <a:spcPct val="90000"/>
              </a:lnSpc>
              <a:defRPr/>
            </a:pPr>
            <a:r>
              <a:rPr lang="en-US" dirty="0">
                <a:latin typeface="Tahoma" charset="0"/>
              </a:rPr>
              <a:t>solid, dense bone</a:t>
            </a:r>
          </a:p>
          <a:p>
            <a:pPr lvl="2" eaLnBrk="1" hangingPunct="1">
              <a:lnSpc>
                <a:spcPct val="90000"/>
              </a:lnSpc>
              <a:defRPr/>
            </a:pPr>
            <a:r>
              <a:rPr lang="en-US" dirty="0">
                <a:latin typeface="Tahoma" charset="0"/>
              </a:rPr>
              <a:t>basic unit of structure is </a:t>
            </a:r>
            <a:r>
              <a:rPr lang="en-US" b="1" dirty="0">
                <a:latin typeface="Tahoma" charset="0"/>
              </a:rPr>
              <a:t>osteon</a:t>
            </a:r>
            <a:r>
              <a:rPr lang="en-US" dirty="0">
                <a:latin typeface="Tahoma" charset="0"/>
              </a:rPr>
              <a:t> (Haversian system)</a:t>
            </a:r>
          </a:p>
        </p:txBody>
      </p:sp>
      <p:sp>
        <p:nvSpPr>
          <p:cNvPr id="462851" name="Rectangle 3"/>
          <p:cNvSpPr>
            <a:spLocks noGrp="1" noChangeArrowheads="1"/>
          </p:cNvSpPr>
          <p:nvPr>
            <p:ph type="title" idx="4294967295"/>
          </p:nvPr>
        </p:nvSpPr>
        <p:spPr>
          <a:xfrm>
            <a:off x="0" y="152400"/>
            <a:ext cx="8229600" cy="685800"/>
          </a:xfrm>
        </p:spPr>
        <p:txBody>
          <a:bodyPr/>
          <a:lstStyle/>
          <a:p>
            <a:pPr eaLnBrk="1" hangingPunct="1">
              <a:defRPr/>
            </a:pPr>
            <a:r>
              <a:rPr lang="en-US" sz="4000">
                <a:latin typeface="Tahoma" charset="0"/>
                <a:cs typeface="+mj-cs"/>
              </a:rPr>
              <a:t>III. Bone (Osseous) Tissue</a:t>
            </a:r>
          </a:p>
        </p:txBody>
      </p:sp>
      <p:pic>
        <p:nvPicPr>
          <p:cNvPr id="2" name="Picture 4" descr="w0109b-nc">
            <a:extLst>
              <a:ext uri="{FF2B5EF4-FFF2-40B4-BE49-F238E27FC236}">
                <a16:creationId xmlns:a16="http://schemas.microsoft.com/office/drawing/2014/main" id="{0D7AF806-7E19-E47F-52E3-9DA36C7FDB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4467219"/>
            <a:ext cx="5825290" cy="22749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462851"/>
                                        </p:tgtEl>
                                        <p:attrNameLst>
                                          <p:attrName>style.visibility</p:attrName>
                                        </p:attrNameLst>
                                      </p:cBhvr>
                                      <p:to>
                                        <p:strVal val="visible"/>
                                      </p:to>
                                    </p:set>
                                    <p:anim calcmode="lin" valueType="num">
                                      <p:cBhvr>
                                        <p:cTn id="7" dur="1000" fill="hold"/>
                                        <p:tgtEl>
                                          <p:spTgt spid="462851"/>
                                        </p:tgtEl>
                                        <p:attrNameLst>
                                          <p:attrName>ppt_x</p:attrName>
                                        </p:attrNameLst>
                                      </p:cBhvr>
                                      <p:tavLst>
                                        <p:tav tm="0">
                                          <p:val>
                                            <p:strVal val="#ppt_x-.2"/>
                                          </p:val>
                                        </p:tav>
                                        <p:tav tm="100000">
                                          <p:val>
                                            <p:strVal val="#ppt_x"/>
                                          </p:val>
                                        </p:tav>
                                      </p:tavLst>
                                    </p:anim>
                                    <p:anim calcmode="lin" valueType="num">
                                      <p:cBhvr>
                                        <p:cTn id="8" dur="1000" fill="hold"/>
                                        <p:tgtEl>
                                          <p:spTgt spid="462851"/>
                                        </p:tgtEl>
                                        <p:attrNameLst>
                                          <p:attrName>ppt_y</p:attrName>
                                        </p:attrNameLst>
                                      </p:cBhvr>
                                      <p:tavLst>
                                        <p:tav tm="0">
                                          <p:val>
                                            <p:strVal val="#ppt_y"/>
                                          </p:val>
                                        </p:tav>
                                        <p:tav tm="100000">
                                          <p:val>
                                            <p:strVal val="#ppt_y"/>
                                          </p:val>
                                        </p:tav>
                                      </p:tavLst>
                                    </p:anim>
                                    <p:animEffect transition="in" filter="wipe(right)" prLst="gradientSize: 0.1">
                                      <p:cBhvr>
                                        <p:cTn id="9" dur="1000"/>
                                        <p:tgtEl>
                                          <p:spTgt spid="46285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62850">
                                            <p:txEl>
                                              <p:pRg st="0" end="0"/>
                                            </p:txEl>
                                          </p:spTgt>
                                        </p:tgtEl>
                                        <p:attrNameLst>
                                          <p:attrName>style.visibility</p:attrName>
                                        </p:attrNameLst>
                                      </p:cBhvr>
                                      <p:to>
                                        <p:strVal val="visible"/>
                                      </p:to>
                                    </p:set>
                                    <p:animEffect transition="in" filter="fade">
                                      <p:cBhvr>
                                        <p:cTn id="14" dur="500"/>
                                        <p:tgtEl>
                                          <p:spTgt spid="462850">
                                            <p:txEl>
                                              <p:pRg st="0" end="0"/>
                                            </p:txEl>
                                          </p:spTgt>
                                        </p:tgtEl>
                                      </p:cBhvr>
                                    </p:animEffect>
                                    <p:anim calcmode="lin" valueType="num">
                                      <p:cBhvr>
                                        <p:cTn id="15" dur="500" fill="hold"/>
                                        <p:tgtEl>
                                          <p:spTgt spid="462850">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62850">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62850">
                                            <p:txEl>
                                              <p:pRg st="1" end="1"/>
                                            </p:txEl>
                                          </p:spTgt>
                                        </p:tgtEl>
                                        <p:attrNameLst>
                                          <p:attrName>style.visibility</p:attrName>
                                        </p:attrNameLst>
                                      </p:cBhvr>
                                      <p:to>
                                        <p:strVal val="visible"/>
                                      </p:to>
                                    </p:set>
                                    <p:animEffect transition="in" filter="fade">
                                      <p:cBhvr>
                                        <p:cTn id="21" dur="500"/>
                                        <p:tgtEl>
                                          <p:spTgt spid="462850">
                                            <p:txEl>
                                              <p:pRg st="1" end="1"/>
                                            </p:txEl>
                                          </p:spTgt>
                                        </p:tgtEl>
                                      </p:cBhvr>
                                    </p:animEffect>
                                    <p:anim calcmode="lin" valueType="num">
                                      <p:cBhvr>
                                        <p:cTn id="22" dur="500" fill="hold"/>
                                        <p:tgtEl>
                                          <p:spTgt spid="462850">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62850">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62850">
                                            <p:txEl>
                                              <p:pRg st="2" end="2"/>
                                            </p:txEl>
                                          </p:spTgt>
                                        </p:tgtEl>
                                        <p:attrNameLst>
                                          <p:attrName>style.visibility</p:attrName>
                                        </p:attrNameLst>
                                      </p:cBhvr>
                                      <p:to>
                                        <p:strVal val="visible"/>
                                      </p:to>
                                    </p:set>
                                    <p:animEffect transition="in" filter="fade">
                                      <p:cBhvr>
                                        <p:cTn id="28" dur="500"/>
                                        <p:tgtEl>
                                          <p:spTgt spid="462850">
                                            <p:txEl>
                                              <p:pRg st="2" end="2"/>
                                            </p:txEl>
                                          </p:spTgt>
                                        </p:tgtEl>
                                      </p:cBhvr>
                                    </p:animEffect>
                                    <p:anim calcmode="lin" valueType="num">
                                      <p:cBhvr>
                                        <p:cTn id="29" dur="500" fill="hold"/>
                                        <p:tgtEl>
                                          <p:spTgt spid="462850">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62850">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462850">
                                            <p:txEl>
                                              <p:pRg st="3" end="3"/>
                                            </p:txEl>
                                          </p:spTgt>
                                        </p:tgtEl>
                                        <p:attrNameLst>
                                          <p:attrName>style.visibility</p:attrName>
                                        </p:attrNameLst>
                                      </p:cBhvr>
                                      <p:to>
                                        <p:strVal val="visible"/>
                                      </p:to>
                                    </p:set>
                                    <p:animEffect transition="in" filter="fade">
                                      <p:cBhvr>
                                        <p:cTn id="35" dur="500"/>
                                        <p:tgtEl>
                                          <p:spTgt spid="462850">
                                            <p:txEl>
                                              <p:pRg st="3" end="3"/>
                                            </p:txEl>
                                          </p:spTgt>
                                        </p:tgtEl>
                                      </p:cBhvr>
                                    </p:animEffect>
                                    <p:anim calcmode="lin" valueType="num">
                                      <p:cBhvr>
                                        <p:cTn id="36" dur="500" fill="hold"/>
                                        <p:tgtEl>
                                          <p:spTgt spid="462850">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62850">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462850">
                                            <p:txEl>
                                              <p:pRg st="4" end="4"/>
                                            </p:txEl>
                                          </p:spTgt>
                                        </p:tgtEl>
                                        <p:attrNameLst>
                                          <p:attrName>style.visibility</p:attrName>
                                        </p:attrNameLst>
                                      </p:cBhvr>
                                      <p:to>
                                        <p:strVal val="visible"/>
                                      </p:to>
                                    </p:set>
                                    <p:animEffect transition="in" filter="fade">
                                      <p:cBhvr>
                                        <p:cTn id="42" dur="500"/>
                                        <p:tgtEl>
                                          <p:spTgt spid="462850">
                                            <p:txEl>
                                              <p:pRg st="4" end="4"/>
                                            </p:txEl>
                                          </p:spTgt>
                                        </p:tgtEl>
                                      </p:cBhvr>
                                    </p:animEffect>
                                    <p:anim calcmode="lin" valueType="num">
                                      <p:cBhvr>
                                        <p:cTn id="43" dur="500" fill="hold"/>
                                        <p:tgtEl>
                                          <p:spTgt spid="462850">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462850">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4" presetClass="entr" presetSubtype="0" fill="hold" grpId="0" nodeType="clickEffect">
                                  <p:stCondLst>
                                    <p:cond delay="0"/>
                                  </p:stCondLst>
                                  <p:childTnLst>
                                    <p:set>
                                      <p:cBhvr>
                                        <p:cTn id="48" dur="1" fill="hold">
                                          <p:stCondLst>
                                            <p:cond delay="0"/>
                                          </p:stCondLst>
                                        </p:cTn>
                                        <p:tgtEl>
                                          <p:spTgt spid="462850">
                                            <p:txEl>
                                              <p:pRg st="5" end="5"/>
                                            </p:txEl>
                                          </p:spTgt>
                                        </p:tgtEl>
                                        <p:attrNameLst>
                                          <p:attrName>style.visibility</p:attrName>
                                        </p:attrNameLst>
                                      </p:cBhvr>
                                      <p:to>
                                        <p:strVal val="visible"/>
                                      </p:to>
                                    </p:set>
                                    <p:animEffect transition="in" filter="fade">
                                      <p:cBhvr>
                                        <p:cTn id="49" dur="500"/>
                                        <p:tgtEl>
                                          <p:spTgt spid="462850">
                                            <p:txEl>
                                              <p:pRg st="5" end="5"/>
                                            </p:txEl>
                                          </p:spTgt>
                                        </p:tgtEl>
                                      </p:cBhvr>
                                    </p:animEffect>
                                    <p:anim calcmode="lin" valueType="num">
                                      <p:cBhvr>
                                        <p:cTn id="50" dur="500" fill="hold"/>
                                        <p:tgtEl>
                                          <p:spTgt spid="462850">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462850">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4" presetClass="entr" presetSubtype="0" fill="hold" grpId="0" nodeType="clickEffect">
                                  <p:stCondLst>
                                    <p:cond delay="0"/>
                                  </p:stCondLst>
                                  <p:childTnLst>
                                    <p:set>
                                      <p:cBhvr>
                                        <p:cTn id="55" dur="1" fill="hold">
                                          <p:stCondLst>
                                            <p:cond delay="0"/>
                                          </p:stCondLst>
                                        </p:cTn>
                                        <p:tgtEl>
                                          <p:spTgt spid="462850">
                                            <p:txEl>
                                              <p:pRg st="6" end="6"/>
                                            </p:txEl>
                                          </p:spTgt>
                                        </p:tgtEl>
                                        <p:attrNameLst>
                                          <p:attrName>style.visibility</p:attrName>
                                        </p:attrNameLst>
                                      </p:cBhvr>
                                      <p:to>
                                        <p:strVal val="visible"/>
                                      </p:to>
                                    </p:set>
                                    <p:animEffect transition="in" filter="fade">
                                      <p:cBhvr>
                                        <p:cTn id="56" dur="500"/>
                                        <p:tgtEl>
                                          <p:spTgt spid="462850">
                                            <p:txEl>
                                              <p:pRg st="6" end="6"/>
                                            </p:txEl>
                                          </p:spTgt>
                                        </p:tgtEl>
                                      </p:cBhvr>
                                    </p:animEffect>
                                    <p:anim calcmode="lin" valueType="num">
                                      <p:cBhvr>
                                        <p:cTn id="57" dur="500" fill="hold"/>
                                        <p:tgtEl>
                                          <p:spTgt spid="462850">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462850">
                                            <p:txEl>
                                              <p:pRg st="6" end="6"/>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0" grpId="0" build="p" bldLvl="3"/>
      <p:bldP spid="46285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5" name="Rectangle 3"/>
          <p:cNvSpPr>
            <a:spLocks noGrp="1" noChangeArrowheads="1"/>
          </p:cNvSpPr>
          <p:nvPr>
            <p:ph idx="1"/>
          </p:nvPr>
        </p:nvSpPr>
        <p:spPr/>
        <p:txBody>
          <a:bodyPr>
            <a:normAutofit fontScale="92500" lnSpcReduction="20000"/>
          </a:bodyPr>
          <a:lstStyle/>
          <a:p>
            <a:pPr eaLnBrk="1" hangingPunct="1">
              <a:defRPr/>
            </a:pPr>
            <a:r>
              <a:rPr lang="en-US" i="1" dirty="0">
                <a:latin typeface="Tahoma" charset="0"/>
                <a:cs typeface="+mn-cs"/>
              </a:rPr>
              <a:t>Blood</a:t>
            </a:r>
            <a:endParaRPr lang="en-US" dirty="0">
              <a:latin typeface="Tahoma" charset="0"/>
              <a:cs typeface="+mn-cs"/>
            </a:endParaRPr>
          </a:p>
          <a:p>
            <a:pPr lvl="1" eaLnBrk="1" hangingPunct="1">
              <a:defRPr/>
            </a:pPr>
            <a:r>
              <a:rPr lang="en-US" dirty="0">
                <a:latin typeface="Tahoma" charset="0"/>
              </a:rPr>
              <a:t>liquid matrix called plasma</a:t>
            </a:r>
          </a:p>
          <a:p>
            <a:pPr lvl="1" eaLnBrk="1" hangingPunct="1">
              <a:defRPr/>
            </a:pPr>
            <a:r>
              <a:rPr lang="en-US" dirty="0">
                <a:latin typeface="Tahoma" charset="0"/>
              </a:rPr>
              <a:t>Cell types:</a:t>
            </a:r>
          </a:p>
          <a:p>
            <a:pPr lvl="2">
              <a:defRPr/>
            </a:pPr>
            <a:r>
              <a:rPr lang="en-US" dirty="0">
                <a:solidFill>
                  <a:srgbClr val="0070C0"/>
                </a:solidFill>
                <a:latin typeface="Tahoma" charset="0"/>
              </a:rPr>
              <a:t>Red blood cells (erythrocytes) </a:t>
            </a:r>
            <a:r>
              <a:rPr lang="en-US" dirty="0">
                <a:latin typeface="Tahoma" charset="0"/>
              </a:rPr>
              <a:t>– Oxygen transport</a:t>
            </a:r>
          </a:p>
          <a:p>
            <a:pPr lvl="2">
              <a:defRPr/>
            </a:pPr>
            <a:r>
              <a:rPr lang="en-US" dirty="0">
                <a:solidFill>
                  <a:srgbClr val="0070C0"/>
                </a:solidFill>
                <a:latin typeface="Tahoma" charset="0"/>
              </a:rPr>
              <a:t>White blood cells (leukocytes) </a:t>
            </a:r>
            <a:r>
              <a:rPr lang="en-US" dirty="0">
                <a:latin typeface="Tahoma" charset="0"/>
              </a:rPr>
              <a:t>– Immune response </a:t>
            </a:r>
          </a:p>
          <a:p>
            <a:pPr lvl="2">
              <a:defRPr/>
            </a:pPr>
            <a:r>
              <a:rPr lang="en-US" dirty="0">
                <a:solidFill>
                  <a:srgbClr val="0070C0"/>
                </a:solidFill>
                <a:latin typeface="Tahoma" charset="0"/>
              </a:rPr>
              <a:t>Platelets (thrombocytes) </a:t>
            </a:r>
            <a:r>
              <a:rPr lang="en-US" dirty="0">
                <a:latin typeface="Tahoma" charset="0"/>
              </a:rPr>
              <a:t>– blood clotting</a:t>
            </a:r>
          </a:p>
          <a:p>
            <a:pPr lvl="2">
              <a:defRPr/>
            </a:pPr>
            <a:endParaRPr lang="en-US" dirty="0">
              <a:latin typeface="Tahoma" charset="0"/>
            </a:endParaRPr>
          </a:p>
          <a:p>
            <a:pPr lvl="1" eaLnBrk="1" hangingPunct="1">
              <a:defRPr/>
            </a:pPr>
            <a:endParaRPr lang="en-US" dirty="0">
              <a:latin typeface="Tahoma" charset="0"/>
            </a:endParaRPr>
          </a:p>
          <a:p>
            <a:pPr eaLnBrk="1" hangingPunct="1">
              <a:defRPr/>
            </a:pPr>
            <a:r>
              <a:rPr lang="en-US" i="1" dirty="0">
                <a:latin typeface="Tahoma" charset="0"/>
                <a:cs typeface="+mn-cs"/>
              </a:rPr>
              <a:t>Lymph</a:t>
            </a:r>
            <a:r>
              <a:rPr lang="en-US" dirty="0">
                <a:latin typeface="Tahoma" charset="0"/>
                <a:cs typeface="+mn-cs"/>
              </a:rPr>
              <a:t> is interstitial fluid flowing in lymph vessels. </a:t>
            </a:r>
          </a:p>
          <a:p>
            <a:pPr lvl="1" eaLnBrk="1" hangingPunct="1">
              <a:defRPr/>
            </a:pPr>
            <a:r>
              <a:rPr lang="en-US" dirty="0">
                <a:latin typeface="Tahoma" charset="0"/>
              </a:rPr>
              <a:t>Contains less protein than plasma</a:t>
            </a:r>
          </a:p>
          <a:p>
            <a:pPr lvl="1" eaLnBrk="1" hangingPunct="1">
              <a:defRPr/>
            </a:pPr>
            <a:r>
              <a:rPr lang="en-US" dirty="0">
                <a:latin typeface="Tahoma" charset="0"/>
              </a:rPr>
              <a:t>Move cells and substances (</a:t>
            </a:r>
            <a:r>
              <a:rPr lang="en-US" dirty="0" err="1">
                <a:latin typeface="Tahoma" charset="0"/>
              </a:rPr>
              <a:t>eg</a:t>
            </a:r>
            <a:r>
              <a:rPr lang="en-US" dirty="0">
                <a:latin typeface="Tahoma" charset="0"/>
              </a:rPr>
              <a:t>., lipids) from one part of the body to another</a:t>
            </a:r>
          </a:p>
        </p:txBody>
      </p:sp>
      <p:sp>
        <p:nvSpPr>
          <p:cNvPr id="381954" name="Rectangle 2"/>
          <p:cNvSpPr>
            <a:spLocks noGrp="1" noChangeArrowheads="1"/>
          </p:cNvSpPr>
          <p:nvPr>
            <p:ph type="title"/>
          </p:nvPr>
        </p:nvSpPr>
        <p:spPr/>
        <p:txBody>
          <a:bodyPr/>
          <a:lstStyle/>
          <a:p>
            <a:pPr eaLnBrk="1" hangingPunct="1">
              <a:defRPr/>
            </a:pPr>
            <a:r>
              <a:rPr lang="en-US">
                <a:latin typeface="Tahoma" charset="0"/>
                <a:cs typeface="+mj-cs"/>
              </a:rPr>
              <a:t>IV. Liquid connective tissue</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9" name="Rectangle 3"/>
          <p:cNvSpPr>
            <a:spLocks noGrp="1" noChangeArrowheads="1"/>
          </p:cNvSpPr>
          <p:nvPr>
            <p:ph idx="1"/>
          </p:nvPr>
        </p:nvSpPr>
        <p:spPr>
          <a:xfrm>
            <a:off x="381000" y="2362200"/>
            <a:ext cx="8229600" cy="4114800"/>
          </a:xfrm>
        </p:spPr>
        <p:txBody>
          <a:bodyPr>
            <a:normAutofit lnSpcReduction="10000"/>
          </a:bodyPr>
          <a:lstStyle/>
          <a:p>
            <a:pPr eaLnBrk="1" hangingPunct="1">
              <a:buFont typeface="Wingdings" charset="0"/>
              <a:buNone/>
              <a:defRPr/>
            </a:pPr>
            <a:r>
              <a:rPr lang="en-US" sz="1800" dirty="0">
                <a:latin typeface="Tahoma" panose="020B0604030504040204" pitchFamily="34" charset="0"/>
                <a:ea typeface="Tahoma" panose="020B0604030504040204" pitchFamily="34" charset="0"/>
                <a:cs typeface="Tahoma" panose="020B0604030504040204" pitchFamily="34" charset="0"/>
              </a:rPr>
              <a:t>Membranes are flat sheets of pliable tissue that cover or line a part of the body.</a:t>
            </a:r>
          </a:p>
          <a:p>
            <a:pPr eaLnBrk="1" hangingPunct="1">
              <a:defRPr/>
            </a:pPr>
            <a:endParaRPr lang="en-US" sz="1800" dirty="0">
              <a:latin typeface="Tahoma" panose="020B0604030504040204" pitchFamily="34" charset="0"/>
              <a:ea typeface="Tahoma" panose="020B0604030504040204" pitchFamily="34" charset="0"/>
              <a:cs typeface="Tahoma" panose="020B0604030504040204" pitchFamily="34" charset="0"/>
            </a:endParaRPr>
          </a:p>
          <a:p>
            <a:pPr marL="0" indent="0" eaLnBrk="1" hangingPunct="1">
              <a:buNone/>
              <a:defRPr/>
            </a:pPr>
            <a:r>
              <a:rPr lang="en-US" sz="1800" dirty="0">
                <a:latin typeface="Tahoma" panose="020B0604030504040204" pitchFamily="34" charset="0"/>
                <a:ea typeface="Tahoma" panose="020B0604030504040204" pitchFamily="34" charset="0"/>
                <a:cs typeface="Tahoma" panose="020B0604030504040204" pitchFamily="34" charset="0"/>
              </a:rPr>
              <a:t>Epithelial membranes include </a:t>
            </a:r>
          </a:p>
          <a:p>
            <a:pPr lvl="1">
              <a:defRPr/>
            </a:pPr>
            <a:r>
              <a:rPr lang="en-US" sz="1800" b="1" dirty="0">
                <a:latin typeface="Tahoma" panose="020B0604030504040204" pitchFamily="34" charset="0"/>
                <a:ea typeface="Tahoma" panose="020B0604030504040204" pitchFamily="34" charset="0"/>
                <a:cs typeface="Tahoma" panose="020B0604030504040204" pitchFamily="34" charset="0"/>
              </a:rPr>
              <a:t>Mucous membranes </a:t>
            </a:r>
            <a:r>
              <a:rPr lang="en-US" sz="1800" dirty="0">
                <a:latin typeface="Tahoma" panose="020B0604030504040204" pitchFamily="34" charset="0"/>
                <a:ea typeface="Tahoma" panose="020B0604030504040204" pitchFamily="34" charset="0"/>
                <a:cs typeface="Tahoma" panose="020B0604030504040204" pitchFamily="34" charset="0"/>
              </a:rPr>
              <a:t>- line cavities that open to the exterior (e.g. mouth, stomach, vagina, urethra)</a:t>
            </a:r>
          </a:p>
          <a:p>
            <a:pPr lvl="1">
              <a:defRPr/>
            </a:pPr>
            <a:r>
              <a:rPr lang="en-US" sz="1800" b="1" dirty="0">
                <a:latin typeface="Tahoma" panose="020B0604030504040204" pitchFamily="34" charset="0"/>
                <a:ea typeface="Tahoma" panose="020B0604030504040204" pitchFamily="34" charset="0"/>
                <a:cs typeface="Tahoma" panose="020B0604030504040204" pitchFamily="34" charset="0"/>
              </a:rPr>
              <a:t>Serous membranes (serosa) </a:t>
            </a:r>
            <a:r>
              <a:rPr lang="en-US" sz="1800" dirty="0">
                <a:latin typeface="Tahoma" panose="020B0604030504040204" pitchFamily="34" charset="0"/>
                <a:ea typeface="Tahoma" panose="020B0604030504040204" pitchFamily="34" charset="0"/>
                <a:cs typeface="Tahoma" panose="020B0604030504040204" pitchFamily="34" charset="0"/>
              </a:rPr>
              <a:t>- Lines a body cavity that does not open to the outside such as chest or abdominal cavity</a:t>
            </a:r>
          </a:p>
          <a:p>
            <a:pPr marL="777240" lvl="2" indent="0">
              <a:buNone/>
              <a:defRPr/>
            </a:pPr>
            <a:r>
              <a:rPr lang="en-US" sz="1800" dirty="0">
                <a:latin typeface="Tahoma" panose="020B0604030504040204" pitchFamily="34" charset="0"/>
                <a:ea typeface="Tahoma" panose="020B0604030504040204" pitchFamily="34" charset="0"/>
                <a:cs typeface="Tahoma" panose="020B0604030504040204" pitchFamily="34" charset="0"/>
              </a:rPr>
              <a:t> - Examples: pleura, peritoneum and pericardium</a:t>
            </a:r>
          </a:p>
          <a:p>
            <a:pPr marL="777240" lvl="2" indent="0">
              <a:buNone/>
              <a:defRPr/>
            </a:pPr>
            <a:r>
              <a:rPr lang="en-US" sz="1800" dirty="0">
                <a:latin typeface="Tahoma" panose="020B0604030504040204" pitchFamily="34" charset="0"/>
                <a:ea typeface="Tahoma" panose="020B0604030504040204" pitchFamily="34" charset="0"/>
                <a:cs typeface="Tahoma" panose="020B0604030504040204" pitchFamily="34" charset="0"/>
              </a:rPr>
              <a:t>Serous membrane is a thin, double-layered membrane that has two layers:</a:t>
            </a:r>
          </a:p>
          <a:p>
            <a:pPr marL="777240" lvl="2" indent="0">
              <a:buNone/>
              <a:defRPr/>
            </a:pPr>
            <a:r>
              <a:rPr lang="en-US" sz="1800" dirty="0">
                <a:latin typeface="Tahoma" panose="020B0604030504040204" pitchFamily="34" charset="0"/>
                <a:ea typeface="Tahoma" panose="020B0604030504040204" pitchFamily="34" charset="0"/>
                <a:cs typeface="Tahoma" panose="020B0604030504040204" pitchFamily="34" charset="0"/>
              </a:rPr>
              <a:t> - Parietal layer (membrane) – lines the cavity walls</a:t>
            </a:r>
          </a:p>
          <a:p>
            <a:pPr marL="777240" lvl="2" indent="0">
              <a:buNone/>
              <a:defRPr/>
            </a:pPr>
            <a:r>
              <a:rPr lang="en-US" sz="1800" dirty="0">
                <a:latin typeface="Tahoma" panose="020B0604030504040204" pitchFamily="34" charset="0"/>
                <a:ea typeface="Tahoma" panose="020B0604030504040204" pitchFamily="34" charset="0"/>
                <a:cs typeface="Tahoma" panose="020B0604030504040204" pitchFamily="34" charset="0"/>
              </a:rPr>
              <a:t> - Visceral layer (membrane) – covers the organs</a:t>
            </a:r>
            <a:endParaRPr lang="en-US" sz="1800" b="1" dirty="0">
              <a:latin typeface="Tahoma" charset="0"/>
            </a:endParaRPr>
          </a:p>
          <a:p>
            <a:pPr lvl="2">
              <a:defRPr/>
            </a:pPr>
            <a:r>
              <a:rPr lang="en-US" sz="1800" b="1" dirty="0">
                <a:latin typeface="Tahoma" charset="0"/>
              </a:rPr>
              <a:t>Cutaneous membrane </a:t>
            </a:r>
            <a:r>
              <a:rPr lang="en-US" sz="1800" dirty="0">
                <a:latin typeface="Tahoma" charset="0"/>
              </a:rPr>
              <a:t>– skin (epidermis and dermis)</a:t>
            </a:r>
            <a:endParaRPr lang="en-US" sz="1800" dirty="0">
              <a:latin typeface="Tahoma" panose="020B0604030504040204" pitchFamily="34" charset="0"/>
              <a:ea typeface="Tahoma" panose="020B0604030504040204" pitchFamily="34" charset="0"/>
              <a:cs typeface="Tahoma" panose="020B0604030504040204" pitchFamily="34" charset="0"/>
            </a:endParaRPr>
          </a:p>
          <a:p>
            <a:pPr lvl="2">
              <a:defRPr/>
            </a:pPr>
            <a:endParaRPr lang="en-US" dirty="0">
              <a:latin typeface="Tahoma" charset="0"/>
            </a:endParaRPr>
          </a:p>
        </p:txBody>
      </p:sp>
      <p:sp>
        <p:nvSpPr>
          <p:cNvPr id="382978" name="Rectangle 2"/>
          <p:cNvSpPr>
            <a:spLocks noGrp="1" noChangeArrowheads="1"/>
          </p:cNvSpPr>
          <p:nvPr>
            <p:ph type="title"/>
          </p:nvPr>
        </p:nvSpPr>
        <p:spPr>
          <a:xfrm>
            <a:off x="457200" y="381000"/>
            <a:ext cx="8229600" cy="762000"/>
          </a:xfrm>
        </p:spPr>
        <p:txBody>
          <a:bodyPr/>
          <a:lstStyle/>
          <a:p>
            <a:pPr eaLnBrk="1" hangingPunct="1">
              <a:defRPr/>
            </a:pPr>
            <a:r>
              <a:rPr lang="en-US" dirty="0">
                <a:latin typeface="Tahoma" charset="0"/>
                <a:cs typeface="+mj-cs"/>
              </a:rPr>
              <a:t>MEMBRANES</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2F37F-E9E3-2176-AC1F-1C3BB460C0BD}"/>
            </a:ext>
          </a:extLst>
        </p:cNvPr>
        <p:cNvGrpSpPr/>
        <p:nvPr/>
      </p:nvGrpSpPr>
      <p:grpSpPr>
        <a:xfrm>
          <a:off x="0" y="0"/>
          <a:ext cx="0" cy="0"/>
          <a:chOff x="0" y="0"/>
          <a:chExt cx="0" cy="0"/>
        </a:xfrm>
      </p:grpSpPr>
      <p:sp>
        <p:nvSpPr>
          <p:cNvPr id="382979" name="Rectangle 3">
            <a:extLst>
              <a:ext uri="{FF2B5EF4-FFF2-40B4-BE49-F238E27FC236}">
                <a16:creationId xmlns:a16="http://schemas.microsoft.com/office/drawing/2014/main" id="{10DFAE84-5DD5-E0B9-AD99-3F14830BC7F5}"/>
              </a:ext>
            </a:extLst>
          </p:cNvPr>
          <p:cNvSpPr>
            <a:spLocks noGrp="1" noChangeArrowheads="1"/>
          </p:cNvSpPr>
          <p:nvPr>
            <p:ph idx="1"/>
          </p:nvPr>
        </p:nvSpPr>
        <p:spPr>
          <a:xfrm>
            <a:off x="381000" y="2362200"/>
            <a:ext cx="8229600" cy="4114800"/>
          </a:xfrm>
        </p:spPr>
        <p:txBody>
          <a:bodyPr>
            <a:normAutofit/>
          </a:bodyPr>
          <a:lstStyle/>
          <a:p>
            <a:pPr marL="0" indent="0">
              <a:buNone/>
              <a:defRPr/>
            </a:pPr>
            <a:r>
              <a:rPr lang="en-US" dirty="0">
                <a:latin typeface="Tahoma" panose="020B0604030504040204" pitchFamily="34" charset="0"/>
                <a:ea typeface="Tahoma" panose="020B0604030504040204" pitchFamily="34" charset="0"/>
                <a:cs typeface="Tahoma" panose="020B0604030504040204" pitchFamily="34" charset="0"/>
              </a:rPr>
              <a:t>Connective tissue membranes include: </a:t>
            </a:r>
            <a:endParaRPr lang="en-US" b="1" dirty="0">
              <a:latin typeface="Tahoma" charset="0"/>
              <a:cs typeface="+mn-cs"/>
            </a:endParaRPr>
          </a:p>
          <a:p>
            <a:pPr lvl="1">
              <a:defRPr/>
            </a:pPr>
            <a:r>
              <a:rPr lang="en-US" sz="2000" b="1" dirty="0">
                <a:latin typeface="Tahoma" charset="0"/>
                <a:cs typeface="+mn-cs"/>
              </a:rPr>
              <a:t>Synovial membranes - </a:t>
            </a:r>
            <a:r>
              <a:rPr lang="en-US" sz="2000" dirty="0">
                <a:latin typeface="Tahoma" charset="0"/>
                <a:cs typeface="+mn-cs"/>
              </a:rPr>
              <a:t>line joints and contain only connective tissue (no epithelial tissue).</a:t>
            </a:r>
          </a:p>
        </p:txBody>
      </p:sp>
      <p:sp>
        <p:nvSpPr>
          <p:cNvPr id="382978" name="Rectangle 2">
            <a:extLst>
              <a:ext uri="{FF2B5EF4-FFF2-40B4-BE49-F238E27FC236}">
                <a16:creationId xmlns:a16="http://schemas.microsoft.com/office/drawing/2014/main" id="{C1366587-DC75-0F2C-2F77-41AA66880D56}"/>
              </a:ext>
            </a:extLst>
          </p:cNvPr>
          <p:cNvSpPr>
            <a:spLocks noGrp="1" noChangeArrowheads="1"/>
          </p:cNvSpPr>
          <p:nvPr>
            <p:ph type="title"/>
          </p:nvPr>
        </p:nvSpPr>
        <p:spPr>
          <a:xfrm>
            <a:off x="457200" y="381000"/>
            <a:ext cx="8229600" cy="762000"/>
          </a:xfrm>
        </p:spPr>
        <p:txBody>
          <a:bodyPr/>
          <a:lstStyle/>
          <a:p>
            <a:pPr eaLnBrk="1" hangingPunct="1">
              <a:defRPr/>
            </a:pPr>
            <a:r>
              <a:rPr lang="en-US" dirty="0">
                <a:latin typeface="Tahoma" charset="0"/>
                <a:cs typeface="+mj-cs"/>
              </a:rPr>
              <a:t>MEMBRANES</a:t>
            </a:r>
          </a:p>
        </p:txBody>
      </p:sp>
    </p:spTree>
    <p:extLst>
      <p:ext uri="{BB962C8B-B14F-4D97-AF65-F5344CB8AC3E}">
        <p14:creationId xmlns:p14="http://schemas.microsoft.com/office/powerpoint/2010/main" val="9667321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1" name="Rectangle 3"/>
          <p:cNvSpPr>
            <a:spLocks noGrp="1" noChangeArrowheads="1"/>
          </p:cNvSpPr>
          <p:nvPr>
            <p:ph idx="1"/>
          </p:nvPr>
        </p:nvSpPr>
        <p:spPr>
          <a:xfrm>
            <a:off x="304800" y="2362199"/>
            <a:ext cx="8686800" cy="4164367"/>
          </a:xfrm>
        </p:spPr>
        <p:txBody>
          <a:bodyPr>
            <a:normAutofit fontScale="70000" lnSpcReduction="20000"/>
          </a:bodyPr>
          <a:lstStyle/>
          <a:p>
            <a:pPr eaLnBrk="1" hangingPunct="1">
              <a:buFont typeface="Wingdings" pitchFamily="2" charset="2"/>
              <a:buChar char="n"/>
              <a:defRPr/>
            </a:pPr>
            <a:r>
              <a:rPr lang="en-US" dirty="0">
                <a:ea typeface="+mn-ea"/>
                <a:cs typeface="+mn-cs"/>
              </a:rPr>
              <a:t>consists of fibers (cells) that are modified for contraction (provide motion, maintenance of posture, and heat.)</a:t>
            </a:r>
            <a:br>
              <a:rPr lang="en-US" dirty="0">
                <a:ea typeface="+mn-ea"/>
                <a:cs typeface="+mn-cs"/>
              </a:rPr>
            </a:br>
            <a:endParaRPr lang="en-US" dirty="0">
              <a:ea typeface="+mn-ea"/>
              <a:cs typeface="+mn-cs"/>
            </a:endParaRPr>
          </a:p>
          <a:p>
            <a:pPr eaLnBrk="1" hangingPunct="1">
              <a:buFont typeface="Wingdings" pitchFamily="2" charset="2"/>
              <a:buChar char="n"/>
              <a:defRPr/>
            </a:pPr>
            <a:r>
              <a:rPr lang="en-US" dirty="0"/>
              <a:t>T</a:t>
            </a:r>
            <a:r>
              <a:rPr lang="en-US" dirty="0">
                <a:ea typeface="+mn-ea"/>
                <a:cs typeface="+mn-cs"/>
              </a:rPr>
              <a:t>hree types.</a:t>
            </a:r>
          </a:p>
          <a:p>
            <a:pPr marL="868680" lvl="1" indent="-457200" eaLnBrk="1" hangingPunct="1">
              <a:buFont typeface="+mj-lt"/>
              <a:buAutoNum type="arabicPeriod"/>
              <a:defRPr/>
            </a:pPr>
            <a:r>
              <a:rPr lang="en-US" b="1" dirty="0">
                <a:solidFill>
                  <a:srgbClr val="0070C0"/>
                </a:solidFill>
              </a:rPr>
              <a:t>Skeletal muscle </a:t>
            </a:r>
          </a:p>
          <a:p>
            <a:pPr lvl="2">
              <a:defRPr/>
            </a:pPr>
            <a:r>
              <a:rPr lang="en-US" dirty="0"/>
              <a:t>Cells are long cylinders with many peripheral nuclei</a:t>
            </a:r>
          </a:p>
          <a:p>
            <a:pPr lvl="2">
              <a:defRPr/>
            </a:pPr>
            <a:r>
              <a:rPr lang="en-US" dirty="0"/>
              <a:t> Visible light and dark banding (looks striated)</a:t>
            </a:r>
          </a:p>
          <a:p>
            <a:pPr lvl="2">
              <a:defRPr/>
            </a:pPr>
            <a:r>
              <a:rPr lang="en-US" dirty="0"/>
              <a:t> Voluntary (conscious control)</a:t>
            </a:r>
          </a:p>
          <a:p>
            <a:pPr marL="1234440" lvl="2" indent="-457200">
              <a:buFont typeface="+mj-lt"/>
              <a:buAutoNum type="arabicPeriod"/>
              <a:defRPr/>
            </a:pPr>
            <a:endParaRPr lang="en-US" dirty="0"/>
          </a:p>
          <a:p>
            <a:pPr marL="868680" lvl="1" indent="-457200" eaLnBrk="1" hangingPunct="1">
              <a:buFont typeface="+mj-lt"/>
              <a:buAutoNum type="arabicPeriod"/>
              <a:defRPr/>
            </a:pPr>
            <a:r>
              <a:rPr lang="en-US" b="1" dirty="0">
                <a:solidFill>
                  <a:srgbClr val="0070C0"/>
                </a:solidFill>
              </a:rPr>
              <a:t>Cardiac muscle </a:t>
            </a:r>
          </a:p>
          <a:p>
            <a:pPr lvl="2">
              <a:defRPr/>
            </a:pPr>
            <a:r>
              <a:rPr lang="en-US" dirty="0"/>
              <a:t>Cells are branched with one central nucleus</a:t>
            </a:r>
          </a:p>
          <a:p>
            <a:pPr lvl="2">
              <a:defRPr/>
            </a:pPr>
            <a:r>
              <a:rPr lang="en-US" dirty="0"/>
              <a:t>Involuntary and striated</a:t>
            </a:r>
          </a:p>
          <a:p>
            <a:pPr lvl="2">
              <a:defRPr/>
            </a:pPr>
            <a:r>
              <a:rPr lang="en-US" dirty="0"/>
              <a:t>intercalated discs contain desmosomes and gap junctions</a:t>
            </a:r>
          </a:p>
          <a:p>
            <a:pPr marL="1234440" lvl="2" indent="-457200">
              <a:buFont typeface="+mj-lt"/>
              <a:buAutoNum type="arabicPeriod"/>
              <a:defRPr/>
            </a:pPr>
            <a:endParaRPr lang="en-US" dirty="0"/>
          </a:p>
          <a:p>
            <a:pPr marL="868680" lvl="1" indent="-457200" eaLnBrk="1" hangingPunct="1">
              <a:buFont typeface="+mj-lt"/>
              <a:buAutoNum type="arabicPeriod" startAt="3"/>
              <a:defRPr/>
            </a:pPr>
            <a:r>
              <a:rPr lang="en-US" b="1" dirty="0">
                <a:solidFill>
                  <a:srgbClr val="0070C0"/>
                </a:solidFill>
              </a:rPr>
              <a:t>Smooth muscle</a:t>
            </a:r>
          </a:p>
          <a:p>
            <a:pPr lvl="2">
              <a:defRPr/>
            </a:pPr>
            <a:r>
              <a:rPr lang="en-US" sz="2100" dirty="0"/>
              <a:t>Spindle shaped cells with a single central nuclei </a:t>
            </a:r>
          </a:p>
          <a:p>
            <a:pPr lvl="2">
              <a:defRPr/>
            </a:pPr>
            <a:r>
              <a:rPr lang="en-US" sz="2100" dirty="0"/>
              <a:t>Walls of hollow organs (blood vessels, GI tract, bladder)</a:t>
            </a:r>
          </a:p>
          <a:p>
            <a:pPr lvl="2">
              <a:defRPr/>
            </a:pPr>
            <a:r>
              <a:rPr lang="en-US" sz="2100" dirty="0"/>
              <a:t>Involuntary </a:t>
            </a:r>
            <a:r>
              <a:rPr lang="en-US" sz="2200" dirty="0"/>
              <a:t>and nonstriated </a:t>
            </a:r>
          </a:p>
          <a:p>
            <a:pPr marL="411480" lvl="1" indent="0" eaLnBrk="1" hangingPunct="1">
              <a:buNone/>
              <a:defRPr/>
            </a:pPr>
            <a:endParaRPr lang="en-US" dirty="0"/>
          </a:p>
        </p:txBody>
      </p:sp>
      <p:sp>
        <p:nvSpPr>
          <p:cNvPr id="386050" name="Rectangle 2"/>
          <p:cNvSpPr>
            <a:spLocks noGrp="1" noChangeArrowheads="1"/>
          </p:cNvSpPr>
          <p:nvPr>
            <p:ph type="title"/>
          </p:nvPr>
        </p:nvSpPr>
        <p:spPr>
          <a:xfrm>
            <a:off x="228600" y="-76200"/>
            <a:ext cx="8686800" cy="1143000"/>
          </a:xfrm>
        </p:spPr>
        <p:txBody>
          <a:bodyPr/>
          <a:lstStyle/>
          <a:p>
            <a:pPr eaLnBrk="1" hangingPunct="1">
              <a:defRPr/>
            </a:pPr>
            <a:r>
              <a:rPr lang="en-US">
                <a:latin typeface="Tahoma" charset="0"/>
                <a:cs typeface="+mj-cs"/>
              </a:rPr>
              <a:t>MUSCLE TISSUE</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5" name="Rectangle 3"/>
          <p:cNvSpPr>
            <a:spLocks noGrp="1" noChangeArrowheads="1"/>
          </p:cNvSpPr>
          <p:nvPr>
            <p:ph idx="1"/>
          </p:nvPr>
        </p:nvSpPr>
        <p:spPr/>
        <p:txBody>
          <a:bodyPr/>
          <a:lstStyle/>
          <a:p>
            <a:pPr eaLnBrk="1" hangingPunct="1">
              <a:defRPr/>
            </a:pPr>
            <a:r>
              <a:rPr lang="en-US" sz="3600" dirty="0">
                <a:latin typeface="Tahoma" charset="0"/>
                <a:cs typeface="+mn-cs"/>
              </a:rPr>
              <a:t>The nervous system is composed of only two principal kinds of cells: </a:t>
            </a:r>
          </a:p>
          <a:p>
            <a:pPr marL="925830" lvl="1" indent="-514350" eaLnBrk="1" hangingPunct="1">
              <a:buFont typeface="+mj-lt"/>
              <a:buAutoNum type="arabicPeriod"/>
              <a:defRPr/>
            </a:pPr>
            <a:r>
              <a:rPr lang="en-US" sz="3200" dirty="0">
                <a:latin typeface="Tahoma" charset="0"/>
              </a:rPr>
              <a:t>neurons - nerve cells</a:t>
            </a:r>
          </a:p>
          <a:p>
            <a:pPr marL="925830" lvl="1" indent="-514350" eaLnBrk="1" hangingPunct="1">
              <a:buFont typeface="+mj-lt"/>
              <a:buAutoNum type="arabicPeriod"/>
              <a:defRPr/>
            </a:pPr>
            <a:r>
              <a:rPr lang="en-US" sz="3200" dirty="0">
                <a:latin typeface="Tahoma" charset="0"/>
              </a:rPr>
              <a:t>neuroglia - protective and supporting cells</a:t>
            </a:r>
          </a:p>
        </p:txBody>
      </p:sp>
      <p:sp>
        <p:nvSpPr>
          <p:cNvPr id="387074" name="Rectangle 2"/>
          <p:cNvSpPr>
            <a:spLocks noGrp="1" noChangeArrowheads="1"/>
          </p:cNvSpPr>
          <p:nvPr>
            <p:ph type="title"/>
          </p:nvPr>
        </p:nvSpPr>
        <p:spPr>
          <a:xfrm>
            <a:off x="457200" y="152400"/>
            <a:ext cx="8229600" cy="838200"/>
          </a:xfrm>
        </p:spPr>
        <p:txBody>
          <a:bodyPr/>
          <a:lstStyle/>
          <a:p>
            <a:pPr eaLnBrk="1" hangingPunct="1">
              <a:defRPr/>
            </a:pPr>
            <a:r>
              <a:rPr lang="en-US">
                <a:latin typeface="Tahoma" charset="0"/>
                <a:cs typeface="+mj-cs"/>
              </a:rPr>
              <a:t>NERVOUS TISSUE</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457200" y="152400"/>
            <a:ext cx="8229600" cy="838200"/>
          </a:xfrm>
        </p:spPr>
        <p:txBody>
          <a:bodyPr/>
          <a:lstStyle/>
          <a:p>
            <a:pPr eaLnBrk="1" hangingPunct="1">
              <a:defRPr/>
            </a:pPr>
            <a:r>
              <a:rPr lang="en-US">
                <a:latin typeface="Tahoma" charset="0"/>
                <a:cs typeface="+mj-cs"/>
              </a:rPr>
              <a:t> Nerve Tissue</a:t>
            </a:r>
          </a:p>
        </p:txBody>
      </p:sp>
      <p:sp>
        <p:nvSpPr>
          <p:cNvPr id="478211" name="Rectangle 3"/>
          <p:cNvSpPr>
            <a:spLocks noGrp="1" noChangeArrowheads="1"/>
          </p:cNvSpPr>
          <p:nvPr>
            <p:ph type="body" sz="half" idx="2"/>
          </p:nvPr>
        </p:nvSpPr>
        <p:spPr>
          <a:xfrm>
            <a:off x="228600" y="3581400"/>
            <a:ext cx="8915400" cy="2362200"/>
          </a:xfrm>
        </p:spPr>
        <p:txBody>
          <a:bodyPr/>
          <a:lstStyle/>
          <a:p>
            <a:pPr eaLnBrk="1" hangingPunct="1">
              <a:buFont typeface="Wingdings" charset="0"/>
              <a:buNone/>
              <a:defRPr/>
            </a:pPr>
            <a:r>
              <a:rPr lang="en-US">
                <a:latin typeface="Tahoma" charset="0"/>
                <a:cs typeface="+mn-cs"/>
              </a:rPr>
              <a:t>Nerve cell structure</a:t>
            </a:r>
          </a:p>
          <a:p>
            <a:pPr eaLnBrk="1" hangingPunct="1">
              <a:defRPr/>
            </a:pPr>
            <a:r>
              <a:rPr lang="en-US">
                <a:latin typeface="Tahoma" charset="0"/>
                <a:cs typeface="+mn-cs"/>
              </a:rPr>
              <a:t>nucleus &amp;  long cell processes conduct nerve signals</a:t>
            </a:r>
          </a:p>
          <a:p>
            <a:pPr lvl="1" eaLnBrk="1" hangingPunct="1">
              <a:defRPr/>
            </a:pPr>
            <a:r>
              <a:rPr lang="en-US">
                <a:latin typeface="Tahoma" charset="0"/>
              </a:rPr>
              <a:t>dendrite(s) --- signal travels toward the cell body </a:t>
            </a:r>
          </a:p>
          <a:p>
            <a:pPr lvl="1" eaLnBrk="1" hangingPunct="1">
              <a:defRPr/>
            </a:pPr>
            <a:r>
              <a:rPr lang="en-US">
                <a:latin typeface="Tahoma" charset="0"/>
              </a:rPr>
              <a:t>axon ---- signal travels away from cell body</a:t>
            </a:r>
          </a:p>
        </p:txBody>
      </p:sp>
      <p:pic>
        <p:nvPicPr>
          <p:cNvPr id="140292" name="Picture 4" descr="w0113-n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9144000" cy="254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fade/>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Hardcover.thmx</Template>
  <TotalTime>19904</TotalTime>
  <Words>1457</Words>
  <Application>Microsoft Macintosh PowerPoint</Application>
  <PresentationFormat>On-screen Show (4:3)</PresentationFormat>
  <Paragraphs>242</Paragraphs>
  <Slides>26</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Book Antiqua</vt:lpstr>
      <vt:lpstr>Tahoma</vt:lpstr>
      <vt:lpstr>Wingdings</vt:lpstr>
      <vt:lpstr>Hardcover</vt:lpstr>
      <vt:lpstr>Chapter 4 </vt:lpstr>
      <vt:lpstr>INTRODUCTION</vt:lpstr>
      <vt:lpstr>BASIC TISSUE TYPES</vt:lpstr>
      <vt:lpstr>EPITHELIAL TISSUES</vt:lpstr>
      <vt:lpstr> Epithelial Tissue -- General Features</vt:lpstr>
      <vt:lpstr>Basement Membrane</vt:lpstr>
      <vt:lpstr>Epithelial Tissue either</vt:lpstr>
      <vt:lpstr>Specific Types of Simple Epithelium</vt:lpstr>
      <vt:lpstr>Specific Types of Multi-layered Epithelium</vt:lpstr>
      <vt:lpstr>Glandular Epithelium </vt:lpstr>
      <vt:lpstr>Exocrine Glands</vt:lpstr>
      <vt:lpstr>Exocrine Glands – Functional Classification</vt:lpstr>
      <vt:lpstr>Connective Tissue</vt:lpstr>
      <vt:lpstr> Connective Tissues – General Features</vt:lpstr>
      <vt:lpstr>Types of Mature Connective Tissue</vt:lpstr>
      <vt:lpstr>I. Proper Connective Tissue </vt:lpstr>
      <vt:lpstr>I. Proper Connective Tissue </vt:lpstr>
      <vt:lpstr>II.  Cartilage</vt:lpstr>
      <vt:lpstr>Growth &amp; Repair of Cartilage</vt:lpstr>
      <vt:lpstr>III. Bone (Osseous) Tissue</vt:lpstr>
      <vt:lpstr>IV. Liquid connective tissue</vt:lpstr>
      <vt:lpstr>MEMBRANES</vt:lpstr>
      <vt:lpstr>MEMBRANES</vt:lpstr>
      <vt:lpstr>MUSCLE TISSUE</vt:lpstr>
      <vt:lpstr>NERVOUS TISSUE</vt:lpstr>
      <vt:lpstr> Nerve Tissue</vt:lpstr>
    </vt:vector>
  </TitlesOfParts>
  <Company>Don O. Dactylus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Woobit</dc:creator>
  <cp:lastModifiedBy>arezou.mobramaein@cgc.edu</cp:lastModifiedBy>
  <cp:revision>61</cp:revision>
  <dcterms:modified xsi:type="dcterms:W3CDTF">2026-01-10T19:29:46Z</dcterms:modified>
</cp:coreProperties>
</file>