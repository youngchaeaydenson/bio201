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7" r:id="rId2"/>
    <p:sldId id="258" r:id="rId3"/>
    <p:sldId id="259" r:id="rId4"/>
    <p:sldId id="260" r:id="rId5"/>
    <p:sldId id="261" r:id="rId6"/>
    <p:sldId id="262" r:id="rId7"/>
    <p:sldId id="264"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7407"/>
  </p:normalViewPr>
  <p:slideViewPr>
    <p:cSldViewPr snapToGrid="0" snapToObjects="1">
      <p:cViewPr varScale="1">
        <p:scale>
          <a:sx n="79" d="100"/>
          <a:sy n="79" d="100"/>
        </p:scale>
        <p:origin x="18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6FA49B-984A-1A4C-9009-F673BF7CC36F}"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860A28-3A01-D14D-B930-233FD4AF1A05}" type="slidenum">
              <a:rPr lang="en-US" smtClean="0"/>
              <a:t>‹#›</a:t>
            </a:fld>
            <a:endParaRPr lang="en-US"/>
          </a:p>
        </p:txBody>
      </p:sp>
    </p:spTree>
    <p:extLst>
      <p:ext uri="{BB962C8B-B14F-4D97-AF65-F5344CB8AC3E}">
        <p14:creationId xmlns:p14="http://schemas.microsoft.com/office/powerpoint/2010/main" val="867814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link.springer.com/chapter/10.1007/978-3-319-60361-2_38#chapter-info" TargetMode="External"/><Relationship Id="rId3" Type="http://schemas.openxmlformats.org/officeDocument/2006/relationships/hyperlink" Target="https://link.springer.com/book/10.1007/978-3-319-60361-2" TargetMode="External"/><Relationship Id="rId7" Type="http://schemas.openxmlformats.org/officeDocument/2006/relationships/hyperlink" Target="https://link.springer.com/chapter/10.1007/978-3-319-60361-2_38#auth-Karina-Gritsenko"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link.springer.com/chapter/10.1007/978-3-319-60361-2_38#auth-Karthik-Kura" TargetMode="External"/><Relationship Id="rId5" Type="http://schemas.openxmlformats.org/officeDocument/2006/relationships/hyperlink" Target="https://link.springer.com/chapter/10.1007/978-3-319-60361-2_38#auth-Vijay-Babu" TargetMode="External"/><Relationship Id="rId4" Type="http://schemas.openxmlformats.org/officeDocument/2006/relationships/hyperlink" Target="https://link.springer.com/chapter/10.1007/978-3-319-60361-2_38#citeas" TargetMode="External"/><Relationship Id="rId9" Type="http://schemas.openxmlformats.org/officeDocument/2006/relationships/hyperlink" Target="http://citations.springer.com/item?doi=10.1007/978-3-319-60361-2_38"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3115A994-AA55-BF47-86A2-EE4FF558C958}" type="slidenum">
              <a:rPr lang="en-US" altLang="en-US" sz="1200">
                <a:solidFill>
                  <a:schemeClr val="tx1"/>
                </a:solidFill>
              </a:rPr>
              <a:pPr/>
              <a:t>1</a:t>
            </a:fld>
            <a:endParaRPr lang="en-US" altLang="en-US" sz="1200">
              <a:solidFill>
                <a:schemeClr val="tx1"/>
              </a:solidFill>
            </a:endParaRPr>
          </a:p>
        </p:txBody>
      </p:sp>
      <p:sp>
        <p:nvSpPr>
          <p:cNvPr id="157698" name="Rectangle 2"/>
          <p:cNvSpPr>
            <a:spLocks noGrp="1" noRot="1" noChangeAspect="1" noChangeArrowheads="1" noTextEdit="1"/>
          </p:cNvSpPr>
          <p:nvPr>
            <p:ph type="sldImg"/>
          </p:nvPr>
        </p:nvSpPr>
        <p:spPr>
          <a:solidFill>
            <a:srgbClr val="FFFFFF"/>
          </a:solidFill>
          <a:ln/>
        </p:spPr>
      </p:sp>
      <p:sp>
        <p:nvSpPr>
          <p:cNvPr id="15769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charset="0"/>
              <a:ea typeface="ＭＳ Ｐゴシック" charset="-128"/>
            </a:endParaRPr>
          </a:p>
        </p:txBody>
      </p:sp>
    </p:spTree>
    <p:extLst>
      <p:ext uri="{BB962C8B-B14F-4D97-AF65-F5344CB8AC3E}">
        <p14:creationId xmlns:p14="http://schemas.microsoft.com/office/powerpoint/2010/main" val="1669661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56034290-AAAF-FA47-822A-A0A74C482908}" type="slidenum">
              <a:rPr lang="en-US" altLang="en-US" sz="1200">
                <a:solidFill>
                  <a:schemeClr val="tx1"/>
                </a:solidFill>
              </a:rPr>
              <a:pPr/>
              <a:t>2</a:t>
            </a:fld>
            <a:endParaRPr lang="en-US" altLang="en-US" sz="1200">
              <a:solidFill>
                <a:schemeClr val="tx1"/>
              </a:solidFill>
            </a:endParaRPr>
          </a:p>
        </p:txBody>
      </p:sp>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Times" charset="0"/>
              <a:ea typeface="ＭＳ Ｐゴシック" charset="-128"/>
            </a:endParaRPr>
          </a:p>
        </p:txBody>
      </p:sp>
    </p:spTree>
    <p:extLst>
      <p:ext uri="{BB962C8B-B14F-4D97-AF65-F5344CB8AC3E}">
        <p14:creationId xmlns:p14="http://schemas.microsoft.com/office/powerpoint/2010/main" val="827514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Slide Image Placeholder 1"/>
          <p:cNvSpPr>
            <a:spLocks noGrp="1" noRot="1" noChangeAspect="1" noTextEdit="1"/>
          </p:cNvSpPr>
          <p:nvPr>
            <p:ph type="sldImg"/>
          </p:nvPr>
        </p:nvSpPr>
        <p:spPr>
          <a:ln/>
        </p:spPr>
      </p:sp>
      <p:sp>
        <p:nvSpPr>
          <p:cNvPr id="16179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Times" charset="0"/>
              <a:ea typeface="ＭＳ Ｐゴシック" charset="-128"/>
            </a:endParaRPr>
          </a:p>
        </p:txBody>
      </p:sp>
      <p:sp>
        <p:nvSpPr>
          <p:cNvPr id="16179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99AA1EF2-F11E-FD40-AADA-6157474B4CC4}" type="slidenum">
              <a:rPr lang="en-US" altLang="en-US" sz="1200">
                <a:solidFill>
                  <a:schemeClr val="tx1"/>
                </a:solidFill>
              </a:rPr>
              <a:pPr/>
              <a:t>3</a:t>
            </a:fld>
            <a:endParaRPr lang="en-US" altLang="en-US" sz="1200">
              <a:solidFill>
                <a:schemeClr val="tx1"/>
              </a:solidFill>
            </a:endParaRPr>
          </a:p>
        </p:txBody>
      </p:sp>
    </p:spTree>
    <p:extLst>
      <p:ext uri="{BB962C8B-B14F-4D97-AF65-F5344CB8AC3E}">
        <p14:creationId xmlns:p14="http://schemas.microsoft.com/office/powerpoint/2010/main" val="1927224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5B9C5E63-7298-D249-BB83-147A27910C95}" type="slidenum">
              <a:rPr lang="en-US" altLang="en-US" sz="1200">
                <a:solidFill>
                  <a:schemeClr val="tx1"/>
                </a:solidFill>
              </a:rPr>
              <a:pPr/>
              <a:t>4</a:t>
            </a:fld>
            <a:endParaRPr lang="en-US" altLang="en-US" sz="1200">
              <a:solidFill>
                <a:schemeClr val="tx1"/>
              </a:solidFill>
            </a:endParaRPr>
          </a:p>
        </p:txBody>
      </p:sp>
      <p:sp>
        <p:nvSpPr>
          <p:cNvPr id="163842" name="Rectangle 2"/>
          <p:cNvSpPr>
            <a:spLocks noGrp="1" noRot="1" noChangeAspect="1" noChangeArrowheads="1" noTextEdit="1"/>
          </p:cNvSpPr>
          <p:nvPr>
            <p:ph type="sldImg"/>
          </p:nvPr>
        </p:nvSpPr>
        <p:spPr>
          <a:ln/>
        </p:spPr>
      </p:sp>
      <p:sp>
        <p:nvSpPr>
          <p:cNvPr id="1638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Times" charset="0"/>
              <a:ea typeface="ＭＳ Ｐゴシック" charset="-128"/>
            </a:endParaRPr>
          </a:p>
        </p:txBody>
      </p:sp>
    </p:spTree>
    <p:extLst>
      <p:ext uri="{BB962C8B-B14F-4D97-AF65-F5344CB8AC3E}">
        <p14:creationId xmlns:p14="http://schemas.microsoft.com/office/powerpoint/2010/main" val="2079010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Slide Image Placeholder 1"/>
          <p:cNvSpPr>
            <a:spLocks noGrp="1" noRot="1" noChangeAspect="1" noTextEdit="1"/>
          </p:cNvSpPr>
          <p:nvPr>
            <p:ph type="sldImg"/>
          </p:nvPr>
        </p:nvSpPr>
        <p:spPr>
          <a:ln/>
        </p:spPr>
      </p:sp>
      <p:sp>
        <p:nvSpPr>
          <p:cNvPr id="16589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Times" charset="0"/>
              <a:ea typeface="ＭＳ Ｐゴシック" charset="-128"/>
            </a:endParaRPr>
          </a:p>
        </p:txBody>
      </p:sp>
      <p:sp>
        <p:nvSpPr>
          <p:cNvPr id="16589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F2CF5C95-EAC1-5B4E-A0E9-CFB2AE3B9C7D}" type="slidenum">
              <a:rPr lang="en-US" altLang="en-US" sz="1200">
                <a:solidFill>
                  <a:schemeClr val="tx1"/>
                </a:solidFill>
              </a:rPr>
              <a:pPr/>
              <a:t>5</a:t>
            </a:fld>
            <a:endParaRPr lang="en-US" altLang="en-US" sz="1200">
              <a:solidFill>
                <a:schemeClr val="tx1"/>
              </a:solidFill>
            </a:endParaRPr>
          </a:p>
        </p:txBody>
      </p:sp>
    </p:spTree>
    <p:extLst>
      <p:ext uri="{BB962C8B-B14F-4D97-AF65-F5344CB8AC3E}">
        <p14:creationId xmlns:p14="http://schemas.microsoft.com/office/powerpoint/2010/main" val="1904514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Slide Image Placeholder 1"/>
          <p:cNvSpPr>
            <a:spLocks noGrp="1" noRot="1" noChangeAspect="1" noTextEdit="1"/>
          </p:cNvSpPr>
          <p:nvPr>
            <p:ph type="sldImg"/>
          </p:nvPr>
        </p:nvSpPr>
        <p:spPr>
          <a:ln/>
        </p:spPr>
      </p:sp>
      <p:sp>
        <p:nvSpPr>
          <p:cNvPr id="1679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latin typeface="Times" charset="0"/>
              <a:ea typeface="ＭＳ Ｐゴシック" charset="-128"/>
            </a:endParaRPr>
          </a:p>
        </p:txBody>
      </p:sp>
      <p:sp>
        <p:nvSpPr>
          <p:cNvPr id="1679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8B457CF8-7260-3E47-BB7D-F0DAE0304C35}" type="slidenum">
              <a:rPr lang="en-US" altLang="en-US" sz="1200">
                <a:solidFill>
                  <a:schemeClr val="tx1"/>
                </a:solidFill>
              </a:rPr>
              <a:pPr/>
              <a:t>6</a:t>
            </a:fld>
            <a:endParaRPr lang="en-US" altLang="en-US" sz="1200">
              <a:solidFill>
                <a:schemeClr val="tx1"/>
              </a:solidFill>
            </a:endParaRPr>
          </a:p>
        </p:txBody>
      </p:sp>
    </p:spTree>
    <p:extLst>
      <p:ext uri="{BB962C8B-B14F-4D97-AF65-F5344CB8AC3E}">
        <p14:creationId xmlns:p14="http://schemas.microsoft.com/office/powerpoint/2010/main" val="196817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D06A3818-895E-244A-B9BA-60B1D79570D3}" type="slidenum">
              <a:rPr lang="en-US" altLang="en-US" sz="1200">
                <a:solidFill>
                  <a:schemeClr val="tx1"/>
                </a:solidFill>
              </a:rPr>
              <a:pPr/>
              <a:t>7</a:t>
            </a:fld>
            <a:endParaRPr lang="en-US" altLang="en-US" sz="1200">
              <a:solidFill>
                <a:schemeClr val="tx1"/>
              </a:solidFill>
            </a:endParaRPr>
          </a:p>
        </p:txBody>
      </p:sp>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Times" charset="0"/>
              <a:ea typeface="ＭＳ Ｐゴシック" charset="-128"/>
            </a:endParaRPr>
          </a:p>
        </p:txBody>
      </p:sp>
    </p:spTree>
    <p:extLst>
      <p:ext uri="{BB962C8B-B14F-4D97-AF65-F5344CB8AC3E}">
        <p14:creationId xmlns:p14="http://schemas.microsoft.com/office/powerpoint/2010/main" val="2955748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C40F6EA5-C30E-C54C-B199-CCFD34F5A988}" type="slidenum">
              <a:rPr lang="en-US" altLang="en-US" sz="1200">
                <a:solidFill>
                  <a:schemeClr val="tx1"/>
                </a:solidFill>
              </a:rPr>
              <a:pPr/>
              <a:t>8</a:t>
            </a:fld>
            <a:endParaRPr lang="en-US" altLang="en-US" sz="1200">
              <a:solidFill>
                <a:schemeClr val="tx1"/>
              </a:solidFill>
            </a:endParaRPr>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Times" charset="0"/>
              <a:ea typeface="ＭＳ Ｐゴシック" charset="-128"/>
            </a:endParaRPr>
          </a:p>
        </p:txBody>
      </p:sp>
    </p:spTree>
    <p:extLst>
      <p:ext uri="{BB962C8B-B14F-4D97-AF65-F5344CB8AC3E}">
        <p14:creationId xmlns:p14="http://schemas.microsoft.com/office/powerpoint/2010/main" val="2662382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1" dirty="0">
                <a:effectLst/>
                <a:latin typeface="-apple-system"/>
                <a:hlinkClick r:id="rId3"/>
              </a:rPr>
            </a:br>
            <a:r>
              <a:rPr lang="en-US" b="1" dirty="0">
                <a:effectLst/>
                <a:latin typeface="-apple-system"/>
                <a:hlinkClick r:id="rId3"/>
              </a:rPr>
              <a:t>Essentials of Interventional Techniques in Managing Chronic Pain</a:t>
            </a:r>
            <a:r>
              <a:rPr lang="en-US" dirty="0">
                <a:effectLst/>
                <a:latin typeface="-apple-system"/>
              </a:rPr>
              <a:t> pp 595–607</a:t>
            </a:r>
            <a:r>
              <a:rPr lang="en-US" dirty="0">
                <a:effectLst/>
                <a:latin typeface="-apple-system"/>
                <a:hlinkClick r:id="rId4"/>
              </a:rPr>
              <a:t>Cite as</a:t>
            </a:r>
            <a:endParaRPr lang="en-US" dirty="0">
              <a:effectLst/>
              <a:latin typeface="-apple-system"/>
            </a:endParaRPr>
          </a:p>
          <a:p>
            <a:r>
              <a:rPr lang="en-US" b="0" i="0" dirty="0">
                <a:effectLst/>
                <a:latin typeface="Georgia" panose="02040502050405020303" pitchFamily="18" charset="0"/>
              </a:rPr>
              <a:t>Celiac Plexus Blocks and Splanchnic Nerve Blocks</a:t>
            </a:r>
          </a:p>
          <a:p>
            <a:pPr>
              <a:buFont typeface="Arial" panose="020B0604020202020204" pitchFamily="34" charset="0"/>
              <a:buChar char="•"/>
            </a:pPr>
            <a:r>
              <a:rPr lang="en-US" dirty="0">
                <a:solidFill>
                  <a:srgbClr val="004B83"/>
                </a:solidFill>
                <a:effectLst/>
                <a:latin typeface="-apple-system"/>
                <a:hlinkClick r:id="rId5"/>
              </a:rPr>
              <a:t>Vijay Babu</a:t>
            </a:r>
            <a:r>
              <a:rPr lang="en-US" dirty="0">
                <a:effectLst/>
                <a:latin typeface="-apple-system"/>
              </a:rPr>
              <a:t>, </a:t>
            </a:r>
          </a:p>
          <a:p>
            <a:pPr>
              <a:buFont typeface="Arial" panose="020B0604020202020204" pitchFamily="34" charset="0"/>
              <a:buChar char="•"/>
            </a:pPr>
            <a:r>
              <a:rPr lang="en-US" dirty="0">
                <a:solidFill>
                  <a:srgbClr val="004B83"/>
                </a:solidFill>
                <a:effectLst/>
                <a:latin typeface="-apple-system"/>
                <a:hlinkClick r:id="rId6"/>
              </a:rPr>
              <a:t>Karthik Kura</a:t>
            </a:r>
            <a:r>
              <a:rPr lang="en-US" dirty="0">
                <a:effectLst/>
                <a:latin typeface="-apple-system"/>
              </a:rPr>
              <a:t> &amp; </a:t>
            </a:r>
          </a:p>
          <a:p>
            <a:pPr>
              <a:buFont typeface="Arial" panose="020B0604020202020204" pitchFamily="34" charset="0"/>
              <a:buChar char="•"/>
            </a:pPr>
            <a:r>
              <a:rPr lang="en-US" dirty="0">
                <a:solidFill>
                  <a:srgbClr val="004B83"/>
                </a:solidFill>
                <a:effectLst/>
                <a:latin typeface="-apple-system"/>
                <a:hlinkClick r:id="rId7"/>
              </a:rPr>
              <a:t>Karina Gritsenko</a:t>
            </a:r>
            <a:r>
              <a:rPr lang="en-US" dirty="0">
                <a:effectLst/>
                <a:latin typeface="-apple-system"/>
              </a:rPr>
              <a:t> </a:t>
            </a:r>
          </a:p>
          <a:p>
            <a:pPr>
              <a:buFont typeface="Arial" panose="020B0604020202020204" pitchFamily="34" charset="0"/>
              <a:buChar char="•"/>
            </a:pPr>
            <a:r>
              <a:rPr lang="en-US" dirty="0">
                <a:solidFill>
                  <a:srgbClr val="6F6F6F"/>
                </a:solidFill>
                <a:effectLst/>
                <a:latin typeface="-apple-system"/>
              </a:rPr>
              <a:t>Chapter</a:t>
            </a:r>
          </a:p>
          <a:p>
            <a:pPr>
              <a:buFont typeface="Arial" panose="020B0604020202020204" pitchFamily="34" charset="0"/>
              <a:buChar char="•"/>
            </a:pPr>
            <a:r>
              <a:rPr lang="en-US" dirty="0">
                <a:solidFill>
                  <a:srgbClr val="004B83"/>
                </a:solidFill>
                <a:effectLst/>
                <a:latin typeface="-apple-system"/>
                <a:hlinkClick r:id="rId8"/>
              </a:rPr>
              <a:t>First Online: 05 January 2018</a:t>
            </a:r>
            <a:endParaRPr lang="en-US" dirty="0">
              <a:solidFill>
                <a:srgbClr val="6F6F6F"/>
              </a:solidFill>
              <a:effectLst/>
              <a:latin typeface="-apple-system"/>
            </a:endParaRPr>
          </a:p>
          <a:p>
            <a:pPr>
              <a:buFont typeface="Arial" panose="020B0604020202020204" pitchFamily="34" charset="0"/>
              <a:buChar char="•"/>
            </a:pPr>
            <a:r>
              <a:rPr lang="en-US" b="1" dirty="0">
                <a:effectLst/>
                <a:latin typeface="-apple-system"/>
              </a:rPr>
              <a:t>2883 </a:t>
            </a:r>
            <a:r>
              <a:rPr lang="en-US" b="0" i="0" dirty="0">
                <a:solidFill>
                  <a:srgbClr val="626262"/>
                </a:solidFill>
                <a:effectLst/>
                <a:latin typeface="-apple-system"/>
              </a:rPr>
              <a:t>Accesses</a:t>
            </a:r>
            <a:endParaRPr lang="en-US" b="1" dirty="0">
              <a:effectLst/>
              <a:latin typeface="-apple-system"/>
            </a:endParaRPr>
          </a:p>
          <a:p>
            <a:pPr>
              <a:buFont typeface="Arial" panose="020B0604020202020204" pitchFamily="34" charset="0"/>
              <a:buChar char="•"/>
            </a:pPr>
            <a:r>
              <a:rPr lang="en-US" b="1" dirty="0">
                <a:effectLst/>
                <a:latin typeface="-apple-system"/>
              </a:rPr>
              <a:t>1 </a:t>
            </a:r>
            <a:r>
              <a:rPr lang="en-US" b="0" i="0" dirty="0">
                <a:solidFill>
                  <a:srgbClr val="626262"/>
                </a:solidFill>
                <a:effectLst/>
                <a:latin typeface="-apple-system"/>
                <a:hlinkClick r:id="rId9" tooltip="Visit Springer Citations for full citation details"/>
              </a:rPr>
              <a:t>Citations</a:t>
            </a:r>
            <a:endParaRPr lang="en-US" b="1" dirty="0">
              <a:effectLst/>
              <a:latin typeface="-apple-system"/>
            </a:endParaRPr>
          </a:p>
          <a:p>
            <a:r>
              <a:rPr lang="en-US" b="0" i="0" dirty="0">
                <a:effectLst/>
                <a:latin typeface="Georgia" panose="02040502050405020303" pitchFamily="18" charset="0"/>
              </a:rPr>
              <a:t>Abstract</a:t>
            </a:r>
          </a:p>
          <a:p>
            <a:r>
              <a:rPr lang="en-US" dirty="0">
                <a:effectLst/>
              </a:rPr>
              <a:t>Nerve blocks of the celiac axis are a valuable tool for the comfort and pain relief of patients with acute and chronic pain generated from the abdominal viscera. Sources most commonly include abdominal cancers and primarily pancreatic cancer. A local anesthetic or neurolytic solution is used to temporarily or permanently block the celiac plexus nerves from transmitting pain signals from the abdomen to the brain. Understanding the anatomy, pathophysiology, and effect/side effect profile of this block is necessary for performing the block. Though performing this block has been described with and without various forms of imaging, two mainstream techniques using fluoroscopic guidance, </a:t>
            </a:r>
            <a:r>
              <a:rPr lang="en-US" dirty="0" err="1">
                <a:effectLst/>
              </a:rPr>
              <a:t>transcrural</a:t>
            </a:r>
            <a:r>
              <a:rPr lang="en-US" dirty="0">
                <a:effectLst/>
              </a:rPr>
              <a:t> and </a:t>
            </a:r>
            <a:r>
              <a:rPr lang="en-US" dirty="0" err="1">
                <a:effectLst/>
              </a:rPr>
              <a:t>retrocrural</a:t>
            </a:r>
            <a:r>
              <a:rPr lang="en-US" dirty="0">
                <a:effectLst/>
              </a:rPr>
              <a:t>, are discussed and explained in detail.</a:t>
            </a:r>
          </a:p>
          <a:p>
            <a:endParaRPr lang="en-US" dirty="0"/>
          </a:p>
        </p:txBody>
      </p:sp>
      <p:sp>
        <p:nvSpPr>
          <p:cNvPr id="4" name="Slide Number Placeholder 3"/>
          <p:cNvSpPr>
            <a:spLocks noGrp="1"/>
          </p:cNvSpPr>
          <p:nvPr>
            <p:ph type="sldNum" sz="quarter" idx="5"/>
          </p:nvPr>
        </p:nvSpPr>
        <p:spPr/>
        <p:txBody>
          <a:bodyPr/>
          <a:lstStyle/>
          <a:p>
            <a:fld id="{2B860A28-3A01-D14D-B930-233FD4AF1A05}" type="slidenum">
              <a:rPr lang="en-US" smtClean="0"/>
              <a:t>9</a:t>
            </a:fld>
            <a:endParaRPr lang="en-US"/>
          </a:p>
        </p:txBody>
      </p:sp>
    </p:spTree>
    <p:extLst>
      <p:ext uri="{BB962C8B-B14F-4D97-AF65-F5344CB8AC3E}">
        <p14:creationId xmlns:p14="http://schemas.microsoft.com/office/powerpoint/2010/main" val="1298411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A35366C7-00B6-CC46-9976-9D994B179447}" type="slidenum">
              <a:rPr lang="en-US" altLang="en-US" sz="1200">
                <a:solidFill>
                  <a:schemeClr val="tx1"/>
                </a:solidFill>
              </a:rPr>
              <a:pPr/>
              <a:t>10</a:t>
            </a:fld>
            <a:endParaRPr lang="en-US" altLang="en-US" sz="1200">
              <a:solidFill>
                <a:schemeClr val="tx1"/>
              </a:solidFill>
            </a:endParaRPr>
          </a:p>
        </p:txBody>
      </p:sp>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charset="0"/>
                <a:ea typeface="ＭＳ Ｐゴシック" charset="-128"/>
              </a:rPr>
              <a:t>15_01</a:t>
            </a:r>
          </a:p>
        </p:txBody>
      </p:sp>
    </p:spTree>
    <p:extLst>
      <p:ext uri="{BB962C8B-B14F-4D97-AF65-F5344CB8AC3E}">
        <p14:creationId xmlns:p14="http://schemas.microsoft.com/office/powerpoint/2010/main" val="754184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39D5559-D6A3-5E40-9649-5FBDDDCD79A2}"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405336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9D5559-D6A3-5E40-9649-5FBDDDCD79A2}"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338226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D5559-D6A3-5E40-9649-5FBDDDCD79A2}"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182126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39D5559-D6A3-5E40-9649-5FBDDDCD79A2}"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835703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39D5559-D6A3-5E40-9649-5FBDDDCD79A2}" type="datetimeFigureOut">
              <a:rPr lang="en-US" smtClean="0"/>
              <a:t>2/17/26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1128160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39D5559-D6A3-5E40-9649-5FBDDDCD79A2}" type="datetimeFigureOut">
              <a:rPr lang="en-US" smtClean="0"/>
              <a:t>2/17/26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861345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9D5559-D6A3-5E40-9649-5FBDDDCD79A2}" type="datetimeFigureOut">
              <a:rPr lang="en-US" smtClean="0"/>
              <a:t>2/17/26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443680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9D5559-D6A3-5E40-9649-5FBDDDCD79A2}"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94651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9D5559-D6A3-5E40-9649-5FBDDDCD79A2}"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1674802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9D5559-D6A3-5E40-9649-5FBDDDCD79A2}"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1345490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9D5559-D6A3-5E40-9649-5FBDDDCD79A2}"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4BBC-0839-3641-BAD8-8CB9D9C1443B}" type="slidenum">
              <a:rPr lang="en-US" smtClean="0"/>
              <a:t>‹#›</a:t>
            </a:fld>
            <a:endParaRPr lang="en-US"/>
          </a:p>
        </p:txBody>
      </p:sp>
    </p:spTree>
    <p:extLst>
      <p:ext uri="{BB962C8B-B14F-4D97-AF65-F5344CB8AC3E}">
        <p14:creationId xmlns:p14="http://schemas.microsoft.com/office/powerpoint/2010/main" val="647912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9D5559-D6A3-5E40-9649-5FBDDDCD79A2}" type="datetimeFigureOut">
              <a:rPr lang="en-US" smtClean="0"/>
              <a:t>2/17/26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624BBC-0839-3641-BAD8-8CB9D9C1443B}" type="slidenum">
              <a:rPr lang="en-US" smtClean="0"/>
              <a:t>‹#›</a:t>
            </a:fld>
            <a:endParaRPr lang="en-US"/>
          </a:p>
        </p:txBody>
      </p:sp>
    </p:spTree>
    <p:extLst>
      <p:ext uri="{BB962C8B-B14F-4D97-AF65-F5344CB8AC3E}">
        <p14:creationId xmlns:p14="http://schemas.microsoft.com/office/powerpoint/2010/main" val="640551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3"/>
          <p:cNvSpPr>
            <a:spLocks noGrp="1" noChangeArrowheads="1"/>
          </p:cNvSpPr>
          <p:nvPr/>
        </p:nvSpPr>
        <p:spPr bwMode="auto">
          <a:xfrm>
            <a:off x="1951038" y="1085850"/>
            <a:ext cx="8153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pPr algn="ctr"/>
            <a:r>
              <a:rPr lang="en-US" altLang="en-US" sz="3200" dirty="0">
                <a:solidFill>
                  <a:schemeClr val="tx2"/>
                </a:solidFill>
                <a:latin typeface="Arial" charset="0"/>
              </a:rPr>
              <a:t>The Autonomic</a:t>
            </a:r>
          </a:p>
          <a:p>
            <a:pPr algn="ctr"/>
            <a:r>
              <a:rPr lang="en-US" altLang="en-US" sz="3200" dirty="0">
                <a:solidFill>
                  <a:schemeClr val="tx2"/>
                </a:solidFill>
                <a:latin typeface="Arial" charset="0"/>
              </a:rPr>
              <a:t>Nervous System</a:t>
            </a:r>
          </a:p>
        </p:txBody>
      </p:sp>
      <p:sp>
        <p:nvSpPr>
          <p:cNvPr id="156675" name="Line 6"/>
          <p:cNvSpPr>
            <a:spLocks noChangeShapeType="1"/>
          </p:cNvSpPr>
          <p:nvPr/>
        </p:nvSpPr>
        <p:spPr bwMode="auto">
          <a:xfrm>
            <a:off x="2157413" y="381000"/>
            <a:ext cx="78803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6676" name="Line 7"/>
          <p:cNvSpPr>
            <a:spLocks noChangeShapeType="1"/>
          </p:cNvSpPr>
          <p:nvPr/>
        </p:nvSpPr>
        <p:spPr bwMode="auto">
          <a:xfrm>
            <a:off x="2157413" y="3962400"/>
            <a:ext cx="78803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1026" name="Picture 2" descr="https://fearmastery.files.wordpress.com/2011/12/fle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7" y="3119437"/>
            <a:ext cx="4097622" cy="32813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s-media-cache-ak0.pinimg.com/236x/00/a5/2f/00a52f60a16d3c1d3311231ab3dfb236.jpg"/>
          <p:cNvPicPr>
            <a:picLocks noChangeAspect="1" noChangeArrowheads="1"/>
          </p:cNvPicPr>
          <p:nvPr/>
        </p:nvPicPr>
        <p:blipFill rotWithShape="1">
          <a:blip r:embed="rId4">
            <a:extLst>
              <a:ext uri="{28A0092B-C50C-407E-A947-70E740481C1C}">
                <a14:useLocalDpi xmlns:a14="http://schemas.microsoft.com/office/drawing/2010/main" val="0"/>
              </a:ext>
            </a:extLst>
          </a:blip>
          <a:srcRect b="16964"/>
          <a:stretch/>
        </p:blipFill>
        <p:spPr bwMode="auto">
          <a:xfrm>
            <a:off x="7437649" y="3314699"/>
            <a:ext cx="4343869" cy="2995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384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A8949250-937D-3544-878B-D827E4FCB61D}" type="slidenum">
              <a:rPr lang="en-US" altLang="en-US" sz="1200">
                <a:solidFill>
                  <a:srgbClr val="898989"/>
                </a:solidFill>
              </a:rPr>
              <a:pPr/>
              <a:t>2</a:t>
            </a:fld>
            <a:endParaRPr lang="en-US" altLang="en-US" sz="1200">
              <a:solidFill>
                <a:srgbClr val="898989"/>
              </a:solidFill>
            </a:endParaRPr>
          </a:p>
        </p:txBody>
      </p:sp>
      <p:pic>
        <p:nvPicPr>
          <p:cNvPr id="158723"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68437" y="115523"/>
            <a:ext cx="8562975" cy="657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4" name="Text Box 3"/>
          <p:cNvSpPr txBox="1">
            <a:spLocks noChangeArrowheads="1"/>
          </p:cNvSpPr>
          <p:nvPr/>
        </p:nvSpPr>
        <p:spPr bwMode="auto">
          <a:xfrm>
            <a:off x="2913063" y="619125"/>
            <a:ext cx="703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Brain</a:t>
            </a:r>
          </a:p>
        </p:txBody>
      </p:sp>
      <p:sp>
        <p:nvSpPr>
          <p:cNvPr id="158725" name="Text Box 4"/>
          <p:cNvSpPr txBox="1">
            <a:spLocks noChangeArrowheads="1"/>
          </p:cNvSpPr>
          <p:nvPr/>
        </p:nvSpPr>
        <p:spPr bwMode="auto">
          <a:xfrm>
            <a:off x="4668839" y="250825"/>
            <a:ext cx="88036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Central</a:t>
            </a:r>
          </a:p>
          <a:p>
            <a:r>
              <a:rPr lang="en-US" altLang="en-US" sz="1600" b="1">
                <a:solidFill>
                  <a:schemeClr val="folHlink"/>
                </a:solidFill>
              </a:rPr>
              <a:t>nervous</a:t>
            </a:r>
          </a:p>
          <a:p>
            <a:r>
              <a:rPr lang="en-US" altLang="en-US" sz="1600" b="1">
                <a:solidFill>
                  <a:schemeClr val="folHlink"/>
                </a:solidFill>
              </a:rPr>
              <a:t>system</a:t>
            </a:r>
          </a:p>
          <a:p>
            <a:r>
              <a:rPr lang="en-US" altLang="en-US" sz="1600" b="1">
                <a:solidFill>
                  <a:schemeClr val="folHlink"/>
                </a:solidFill>
              </a:rPr>
              <a:t>(CNS)</a:t>
            </a:r>
          </a:p>
        </p:txBody>
      </p:sp>
      <p:sp>
        <p:nvSpPr>
          <p:cNvPr id="158726" name="Text Box 5"/>
          <p:cNvSpPr txBox="1">
            <a:spLocks noChangeArrowheads="1"/>
          </p:cNvSpPr>
          <p:nvPr/>
        </p:nvSpPr>
        <p:spPr bwMode="auto">
          <a:xfrm>
            <a:off x="6613525" y="504826"/>
            <a:ext cx="7441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Spinal</a:t>
            </a:r>
          </a:p>
          <a:p>
            <a:r>
              <a:rPr lang="en-US" altLang="en-US" sz="1600" b="1">
                <a:solidFill>
                  <a:schemeClr val="folHlink"/>
                </a:solidFill>
              </a:rPr>
              <a:t>cord</a:t>
            </a:r>
          </a:p>
        </p:txBody>
      </p:sp>
      <p:sp>
        <p:nvSpPr>
          <p:cNvPr id="158727" name="Text Box 6"/>
          <p:cNvSpPr txBox="1">
            <a:spLocks noChangeArrowheads="1"/>
          </p:cNvSpPr>
          <p:nvPr/>
        </p:nvSpPr>
        <p:spPr bwMode="auto">
          <a:xfrm>
            <a:off x="4554538" y="1965325"/>
            <a:ext cx="112082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Peripheral</a:t>
            </a:r>
          </a:p>
          <a:p>
            <a:r>
              <a:rPr lang="en-US" altLang="en-US" sz="1600" b="1">
                <a:solidFill>
                  <a:schemeClr val="folHlink"/>
                </a:solidFill>
              </a:rPr>
              <a:t>nervous</a:t>
            </a:r>
          </a:p>
          <a:p>
            <a:r>
              <a:rPr lang="en-US" altLang="en-US" sz="1600" b="1">
                <a:solidFill>
                  <a:schemeClr val="folHlink"/>
                </a:solidFill>
              </a:rPr>
              <a:t>system</a:t>
            </a:r>
          </a:p>
          <a:p>
            <a:r>
              <a:rPr lang="en-US" altLang="en-US" sz="1600" b="1">
                <a:solidFill>
                  <a:schemeClr val="folHlink"/>
                </a:solidFill>
              </a:rPr>
              <a:t>(PNS)</a:t>
            </a:r>
          </a:p>
        </p:txBody>
      </p:sp>
      <p:sp>
        <p:nvSpPr>
          <p:cNvPr id="158728" name="Text Box 7"/>
          <p:cNvSpPr txBox="1">
            <a:spLocks noChangeArrowheads="1"/>
          </p:cNvSpPr>
          <p:nvPr/>
        </p:nvSpPr>
        <p:spPr bwMode="auto">
          <a:xfrm>
            <a:off x="2603500" y="2219326"/>
            <a:ext cx="9233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Afferent</a:t>
            </a:r>
          </a:p>
          <a:p>
            <a:r>
              <a:rPr lang="en-US" altLang="en-US" sz="1600" b="1">
                <a:solidFill>
                  <a:schemeClr val="folHlink"/>
                </a:solidFill>
              </a:rPr>
              <a:t>division</a:t>
            </a:r>
          </a:p>
        </p:txBody>
      </p:sp>
      <p:sp>
        <p:nvSpPr>
          <p:cNvPr id="158729" name="Text Box 8"/>
          <p:cNvSpPr txBox="1">
            <a:spLocks noChangeArrowheads="1"/>
          </p:cNvSpPr>
          <p:nvPr/>
        </p:nvSpPr>
        <p:spPr bwMode="auto">
          <a:xfrm>
            <a:off x="6724651" y="2219326"/>
            <a:ext cx="912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Efferent</a:t>
            </a:r>
          </a:p>
          <a:p>
            <a:r>
              <a:rPr lang="en-US" altLang="en-US" sz="1600" b="1">
                <a:solidFill>
                  <a:schemeClr val="folHlink"/>
                </a:solidFill>
              </a:rPr>
              <a:t>division</a:t>
            </a:r>
          </a:p>
        </p:txBody>
      </p:sp>
      <p:sp>
        <p:nvSpPr>
          <p:cNvPr id="158730" name="Text Box 9"/>
          <p:cNvSpPr txBox="1">
            <a:spLocks noChangeArrowheads="1"/>
          </p:cNvSpPr>
          <p:nvPr/>
        </p:nvSpPr>
        <p:spPr bwMode="auto">
          <a:xfrm>
            <a:off x="1744664" y="3362326"/>
            <a:ext cx="8803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Sensory</a:t>
            </a:r>
          </a:p>
          <a:p>
            <a:r>
              <a:rPr lang="en-US" altLang="en-US" sz="1600" b="1">
                <a:solidFill>
                  <a:schemeClr val="folHlink"/>
                </a:solidFill>
              </a:rPr>
              <a:t>stimuli</a:t>
            </a:r>
          </a:p>
        </p:txBody>
      </p:sp>
      <p:sp>
        <p:nvSpPr>
          <p:cNvPr id="158731" name="Text Box 10"/>
          <p:cNvSpPr txBox="1">
            <a:spLocks noChangeArrowheads="1"/>
          </p:cNvSpPr>
          <p:nvPr/>
        </p:nvSpPr>
        <p:spPr bwMode="auto">
          <a:xfrm>
            <a:off x="3444875" y="3375026"/>
            <a:ext cx="8970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Visceral</a:t>
            </a:r>
          </a:p>
          <a:p>
            <a:r>
              <a:rPr lang="en-US" altLang="en-US" sz="1600" b="1">
                <a:solidFill>
                  <a:schemeClr val="folHlink"/>
                </a:solidFill>
              </a:rPr>
              <a:t>stimuli</a:t>
            </a:r>
          </a:p>
        </p:txBody>
      </p:sp>
      <p:sp>
        <p:nvSpPr>
          <p:cNvPr id="158732" name="Text Box 11"/>
          <p:cNvSpPr txBox="1">
            <a:spLocks noChangeArrowheads="1"/>
          </p:cNvSpPr>
          <p:nvPr/>
        </p:nvSpPr>
        <p:spPr bwMode="auto">
          <a:xfrm>
            <a:off x="5154613" y="3376613"/>
            <a:ext cx="13580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400" b="1">
                <a:solidFill>
                  <a:schemeClr val="folHlink"/>
                </a:solidFill>
              </a:rPr>
              <a:t>Somatic</a:t>
            </a:r>
          </a:p>
          <a:p>
            <a:r>
              <a:rPr lang="en-US" altLang="en-US" sz="1400" b="1">
                <a:solidFill>
                  <a:schemeClr val="folHlink"/>
                </a:solidFill>
              </a:rPr>
              <a:t>nervous system</a:t>
            </a:r>
          </a:p>
        </p:txBody>
      </p:sp>
      <p:sp>
        <p:nvSpPr>
          <p:cNvPr id="158733" name="Text Box 12"/>
          <p:cNvSpPr txBox="1">
            <a:spLocks noChangeArrowheads="1"/>
          </p:cNvSpPr>
          <p:nvPr/>
        </p:nvSpPr>
        <p:spPr bwMode="auto">
          <a:xfrm>
            <a:off x="7696200" y="3376613"/>
            <a:ext cx="13580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400" b="1">
                <a:solidFill>
                  <a:schemeClr val="folHlink"/>
                </a:solidFill>
              </a:rPr>
              <a:t>Autonomic</a:t>
            </a:r>
          </a:p>
          <a:p>
            <a:r>
              <a:rPr lang="en-US" altLang="en-US" sz="1400" b="1">
                <a:solidFill>
                  <a:schemeClr val="folHlink"/>
                </a:solidFill>
              </a:rPr>
              <a:t>nervous system</a:t>
            </a:r>
          </a:p>
        </p:txBody>
      </p:sp>
      <p:sp>
        <p:nvSpPr>
          <p:cNvPr id="158734" name="Text Box 13"/>
          <p:cNvSpPr txBox="1">
            <a:spLocks noChangeArrowheads="1"/>
          </p:cNvSpPr>
          <p:nvPr/>
        </p:nvSpPr>
        <p:spPr bwMode="auto">
          <a:xfrm>
            <a:off x="5451475" y="4403726"/>
            <a:ext cx="8881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Motor </a:t>
            </a:r>
          </a:p>
          <a:p>
            <a:r>
              <a:rPr lang="en-US" altLang="en-US" sz="1600" b="1">
                <a:solidFill>
                  <a:schemeClr val="folHlink"/>
                </a:solidFill>
              </a:rPr>
              <a:t>neurons</a:t>
            </a:r>
          </a:p>
        </p:txBody>
      </p:sp>
      <p:sp>
        <p:nvSpPr>
          <p:cNvPr id="158735" name="Text Box 14"/>
          <p:cNvSpPr txBox="1">
            <a:spLocks noChangeArrowheads="1"/>
          </p:cNvSpPr>
          <p:nvPr/>
        </p:nvSpPr>
        <p:spPr bwMode="auto">
          <a:xfrm>
            <a:off x="6858000" y="4430713"/>
            <a:ext cx="13580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400" b="1">
                <a:solidFill>
                  <a:schemeClr val="folHlink"/>
                </a:solidFill>
              </a:rPr>
              <a:t>Sympathetic</a:t>
            </a:r>
          </a:p>
          <a:p>
            <a:r>
              <a:rPr lang="en-US" altLang="en-US" sz="1400" b="1">
                <a:solidFill>
                  <a:schemeClr val="folHlink"/>
                </a:solidFill>
              </a:rPr>
              <a:t>nervous system</a:t>
            </a:r>
          </a:p>
        </p:txBody>
      </p:sp>
      <p:sp>
        <p:nvSpPr>
          <p:cNvPr id="158736" name="Text Box 15"/>
          <p:cNvSpPr txBox="1">
            <a:spLocks noChangeArrowheads="1"/>
          </p:cNvSpPr>
          <p:nvPr/>
        </p:nvSpPr>
        <p:spPr bwMode="auto">
          <a:xfrm>
            <a:off x="8558213" y="4454526"/>
            <a:ext cx="139012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300" b="1">
                <a:solidFill>
                  <a:schemeClr val="folHlink"/>
                </a:solidFill>
              </a:rPr>
              <a:t>Parasympathetic</a:t>
            </a:r>
          </a:p>
          <a:p>
            <a:r>
              <a:rPr lang="en-US" altLang="en-US" sz="1300" b="1">
                <a:solidFill>
                  <a:schemeClr val="folHlink"/>
                </a:solidFill>
              </a:rPr>
              <a:t>nervous system</a:t>
            </a:r>
          </a:p>
        </p:txBody>
      </p:sp>
      <p:sp>
        <p:nvSpPr>
          <p:cNvPr id="158737" name="Text Box 16"/>
          <p:cNvSpPr txBox="1">
            <a:spLocks noChangeArrowheads="1"/>
          </p:cNvSpPr>
          <p:nvPr/>
        </p:nvSpPr>
        <p:spPr bwMode="auto">
          <a:xfrm>
            <a:off x="6438901" y="5495926"/>
            <a:ext cx="9332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Skeletal </a:t>
            </a:r>
          </a:p>
          <a:p>
            <a:r>
              <a:rPr lang="en-US" altLang="en-US" sz="1600" b="1">
                <a:solidFill>
                  <a:schemeClr val="folHlink"/>
                </a:solidFill>
              </a:rPr>
              <a:t>muscle</a:t>
            </a:r>
          </a:p>
        </p:txBody>
      </p:sp>
      <p:sp>
        <p:nvSpPr>
          <p:cNvPr id="158738" name="Text Box 17"/>
          <p:cNvSpPr txBox="1">
            <a:spLocks noChangeArrowheads="1"/>
          </p:cNvSpPr>
          <p:nvPr/>
        </p:nvSpPr>
        <p:spPr bwMode="auto">
          <a:xfrm>
            <a:off x="7559675" y="5421313"/>
            <a:ext cx="13773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400" b="1">
                <a:solidFill>
                  <a:schemeClr val="folHlink"/>
                </a:solidFill>
              </a:rPr>
              <a:t>Smooth muscle</a:t>
            </a:r>
          </a:p>
          <a:p>
            <a:r>
              <a:rPr lang="en-US" altLang="en-US" sz="1400" b="1">
                <a:solidFill>
                  <a:schemeClr val="folHlink"/>
                </a:solidFill>
              </a:rPr>
              <a:t>Cardiac muscle</a:t>
            </a:r>
          </a:p>
          <a:p>
            <a:r>
              <a:rPr lang="en-US" altLang="en-US" sz="1400" b="1">
                <a:solidFill>
                  <a:schemeClr val="folHlink"/>
                </a:solidFill>
              </a:rPr>
              <a:t>Glands</a:t>
            </a:r>
          </a:p>
        </p:txBody>
      </p:sp>
      <p:sp>
        <p:nvSpPr>
          <p:cNvPr id="158739" name="Text Box 18"/>
          <p:cNvSpPr txBox="1">
            <a:spLocks noChangeArrowheads="1"/>
          </p:cNvSpPr>
          <p:nvPr/>
        </p:nvSpPr>
        <p:spPr bwMode="auto">
          <a:xfrm>
            <a:off x="6794500" y="6100763"/>
            <a:ext cx="1718740" cy="641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pPr>
              <a:lnSpc>
                <a:spcPct val="85000"/>
              </a:lnSpc>
            </a:pPr>
            <a:r>
              <a:rPr lang="en-US" altLang="en-US" sz="1400" b="1">
                <a:solidFill>
                  <a:schemeClr val="folHlink"/>
                </a:solidFill>
              </a:rPr>
              <a:t>Effector organs</a:t>
            </a:r>
          </a:p>
          <a:p>
            <a:pPr>
              <a:lnSpc>
                <a:spcPct val="85000"/>
              </a:lnSpc>
            </a:pPr>
            <a:r>
              <a:rPr lang="en-US" altLang="en-US" sz="1400" b="1">
                <a:solidFill>
                  <a:schemeClr val="folHlink"/>
                </a:solidFill>
              </a:rPr>
              <a:t>(made up of muscle </a:t>
            </a:r>
          </a:p>
          <a:p>
            <a:pPr>
              <a:lnSpc>
                <a:spcPct val="85000"/>
              </a:lnSpc>
            </a:pPr>
            <a:r>
              <a:rPr lang="en-US" altLang="en-US" sz="1400" b="1">
                <a:solidFill>
                  <a:schemeClr val="folHlink"/>
                </a:solidFill>
              </a:rPr>
              <a:t>and gland tissue)</a:t>
            </a:r>
          </a:p>
        </p:txBody>
      </p:sp>
      <p:sp>
        <p:nvSpPr>
          <p:cNvPr id="158740" name="Text Box 19"/>
          <p:cNvSpPr txBox="1">
            <a:spLocks noChangeArrowheads="1"/>
          </p:cNvSpPr>
          <p:nvPr/>
        </p:nvSpPr>
        <p:spPr bwMode="auto">
          <a:xfrm>
            <a:off x="2979738" y="1190626"/>
            <a:ext cx="160306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(Input to CNS</a:t>
            </a:r>
          </a:p>
          <a:p>
            <a:r>
              <a:rPr lang="en-US" altLang="en-US" sz="1600" b="1">
                <a:solidFill>
                  <a:schemeClr val="folHlink"/>
                </a:solidFill>
              </a:rPr>
              <a:t>from periphery)</a:t>
            </a:r>
          </a:p>
        </p:txBody>
      </p:sp>
      <p:sp>
        <p:nvSpPr>
          <p:cNvPr id="158741" name="Text Box 20"/>
          <p:cNvSpPr txBox="1">
            <a:spLocks noChangeArrowheads="1"/>
          </p:cNvSpPr>
          <p:nvPr/>
        </p:nvSpPr>
        <p:spPr bwMode="auto">
          <a:xfrm>
            <a:off x="5749925" y="1190626"/>
            <a:ext cx="18355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r>
              <a:rPr lang="en-US" altLang="en-US" sz="1600" b="1">
                <a:solidFill>
                  <a:schemeClr val="folHlink"/>
                </a:solidFill>
              </a:rPr>
              <a:t>(Output from CNS</a:t>
            </a:r>
          </a:p>
          <a:p>
            <a:r>
              <a:rPr lang="en-US" altLang="en-US" sz="1600" b="1">
                <a:solidFill>
                  <a:schemeClr val="folHlink"/>
                </a:solidFill>
              </a:rPr>
              <a:t>to periphery)</a:t>
            </a:r>
          </a:p>
        </p:txBody>
      </p:sp>
    </p:spTree>
    <p:extLst>
      <p:ext uri="{BB962C8B-B14F-4D97-AF65-F5344CB8AC3E}">
        <p14:creationId xmlns:p14="http://schemas.microsoft.com/office/powerpoint/2010/main" val="835813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Title 1"/>
          <p:cNvSpPr>
            <a:spLocks noGrp="1"/>
          </p:cNvSpPr>
          <p:nvPr>
            <p:ph type="title"/>
          </p:nvPr>
        </p:nvSpPr>
        <p:spPr/>
        <p:txBody>
          <a:bodyPr/>
          <a:lstStyle/>
          <a:p>
            <a:pPr eaLnBrk="1" hangingPunct="1"/>
            <a:r>
              <a:rPr lang="en-US" altLang="en-US" dirty="0">
                <a:latin typeface="Calibri" charset="0"/>
                <a:ea typeface="ＭＳ Ｐゴシック" charset="-128"/>
              </a:rPr>
              <a:t>Autonomic Nervous System Overview</a:t>
            </a:r>
          </a:p>
        </p:txBody>
      </p:sp>
      <p:sp>
        <p:nvSpPr>
          <p:cNvPr id="160770" name="Content Placeholder 2"/>
          <p:cNvSpPr>
            <a:spLocks noGrp="1"/>
          </p:cNvSpPr>
          <p:nvPr>
            <p:ph idx="1"/>
          </p:nvPr>
        </p:nvSpPr>
        <p:spPr>
          <a:xfrm>
            <a:off x="838200" y="1825625"/>
            <a:ext cx="6466242" cy="4351338"/>
          </a:xfrm>
        </p:spPr>
        <p:txBody>
          <a:bodyPr/>
          <a:lstStyle/>
          <a:p>
            <a:pPr eaLnBrk="1" hangingPunct="1"/>
            <a:r>
              <a:rPr lang="en-US" altLang="en-US" dirty="0">
                <a:latin typeface="Calibri" charset="0"/>
                <a:ea typeface="ＭＳ Ｐゴシック" charset="-128"/>
              </a:rPr>
              <a:t>Many sensory neurons are </a:t>
            </a:r>
            <a:r>
              <a:rPr lang="en-US" altLang="en-US" dirty="0" err="1">
                <a:latin typeface="Calibri" charset="0"/>
                <a:ea typeface="ＭＳ Ｐゴシック" charset="-128"/>
              </a:rPr>
              <a:t>interoceptors</a:t>
            </a:r>
            <a:endParaRPr lang="en-US" altLang="en-US" dirty="0">
              <a:latin typeface="Calibri" charset="0"/>
              <a:ea typeface="ＭＳ Ｐゴシック" charset="-128"/>
            </a:endParaRPr>
          </a:p>
          <a:p>
            <a:pPr lvl="1" eaLnBrk="1" hangingPunct="1"/>
            <a:r>
              <a:rPr lang="en-US" altLang="en-US" dirty="0" err="1">
                <a:latin typeface="Calibri" charset="0"/>
                <a:ea typeface="ＭＳ Ｐゴシック" charset="-128"/>
              </a:rPr>
              <a:t>Eg.</a:t>
            </a:r>
            <a:r>
              <a:rPr lang="en-US" altLang="en-US" dirty="0">
                <a:latin typeface="Calibri" charset="0"/>
                <a:ea typeface="ＭＳ Ｐゴシック" charset="-128"/>
              </a:rPr>
              <a:t> chemoreceptors and mechanoreceptors</a:t>
            </a:r>
          </a:p>
          <a:p>
            <a:pPr eaLnBrk="1" hangingPunct="1"/>
            <a:endParaRPr lang="en-US" altLang="en-US" dirty="0">
              <a:latin typeface="Calibri" charset="0"/>
              <a:ea typeface="ＭＳ Ｐゴシック" charset="-128"/>
            </a:endParaRPr>
          </a:p>
          <a:p>
            <a:pPr eaLnBrk="1" hangingPunct="1"/>
            <a:r>
              <a:rPr lang="en-US" altLang="en-US" dirty="0">
                <a:latin typeface="Calibri" charset="0"/>
                <a:ea typeface="ＭＳ Ｐゴシック" charset="-128"/>
              </a:rPr>
              <a:t>Motor neurons regulate visceral activities</a:t>
            </a:r>
          </a:p>
          <a:p>
            <a:pPr eaLnBrk="1" hangingPunct="1"/>
            <a:endParaRPr lang="en-US" altLang="en-US" dirty="0">
              <a:latin typeface="Calibri" charset="0"/>
              <a:ea typeface="ＭＳ Ｐゴシック" charset="-128"/>
            </a:endParaRPr>
          </a:p>
          <a:p>
            <a:pPr eaLnBrk="1" hangingPunct="1"/>
            <a:r>
              <a:rPr lang="en-US" altLang="en-US" dirty="0">
                <a:latin typeface="Calibri" charset="0"/>
                <a:ea typeface="ＭＳ Ｐゴシック" charset="-128"/>
              </a:rPr>
              <a:t>Parasympathetic vs Sympathetic divisions</a:t>
            </a:r>
          </a:p>
        </p:txBody>
      </p:sp>
      <p:pic>
        <p:nvPicPr>
          <p:cNvPr id="2" name="Picture 4">
            <a:extLst>
              <a:ext uri="{FF2B5EF4-FFF2-40B4-BE49-F238E27FC236}">
                <a16:creationId xmlns:a16="http://schemas.microsoft.com/office/drawing/2014/main" id="{3C40D613-405B-2ED3-F826-37B41D0B5B0C}"/>
              </a:ext>
            </a:extLst>
          </p:cNvPr>
          <p:cNvPicPr>
            <a:picLocks noChangeAspect="1" noChangeArrowheads="1"/>
          </p:cNvPicPr>
          <p:nvPr/>
        </p:nvPicPr>
        <p:blipFill>
          <a:blip r:embed="rId3">
            <a:lum bright="-22000" contrast="34000"/>
            <a:extLst>
              <a:ext uri="{28A0092B-C50C-407E-A947-70E740481C1C}">
                <a14:useLocalDpi xmlns:a14="http://schemas.microsoft.com/office/drawing/2010/main" val="0"/>
              </a:ext>
            </a:extLst>
          </a:blip>
          <a:srcRect/>
          <a:stretch>
            <a:fillRect/>
          </a:stretch>
        </p:blipFill>
        <p:spPr bwMode="auto">
          <a:xfrm>
            <a:off x="7637017" y="1390839"/>
            <a:ext cx="4196379" cy="4786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5447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1676400" y="228600"/>
            <a:ext cx="7772400" cy="1143000"/>
          </a:xfrm>
        </p:spPr>
        <p:txBody>
          <a:bodyPr rtlCol="0">
            <a:normAutofit/>
          </a:bodyPr>
          <a:lstStyle/>
          <a:p>
            <a:pPr>
              <a:defRPr/>
            </a:pPr>
            <a:r>
              <a:rPr lang="en-US" sz="3600" dirty="0">
                <a:latin typeface="Helvetica" pitchFamily="1" charset="0"/>
              </a:rPr>
              <a:t>General Anatomy of the Autonomic Nervous System</a:t>
            </a:r>
          </a:p>
        </p:txBody>
      </p:sp>
      <p:sp>
        <p:nvSpPr>
          <p:cNvPr id="76803" name="Rectangle 3"/>
          <p:cNvSpPr>
            <a:spLocks noGrp="1" noChangeArrowheads="1"/>
          </p:cNvSpPr>
          <p:nvPr>
            <p:ph idx="1"/>
          </p:nvPr>
        </p:nvSpPr>
        <p:spPr>
          <a:xfrm>
            <a:off x="398033" y="1676400"/>
            <a:ext cx="5697967" cy="5181600"/>
          </a:xfrm>
        </p:spPr>
        <p:txBody>
          <a:bodyPr>
            <a:normAutofit/>
          </a:bodyPr>
          <a:lstStyle/>
          <a:p>
            <a:pPr marL="36576" indent="0">
              <a:buNone/>
              <a:defRPr/>
            </a:pPr>
            <a:r>
              <a:rPr lang="en-US" sz="2400" dirty="0"/>
              <a:t>The ANS controls the involuntary responses of visceral organs and maintains homeostasis. </a:t>
            </a:r>
          </a:p>
          <a:p>
            <a:pPr marL="36576" indent="0">
              <a:buNone/>
              <a:defRPr/>
            </a:pPr>
            <a:endParaRPr lang="en-US" sz="2400" dirty="0"/>
          </a:p>
          <a:p>
            <a:pPr marL="36576" indent="0">
              <a:buNone/>
              <a:defRPr/>
            </a:pPr>
            <a:r>
              <a:rPr lang="en-US" sz="2400" dirty="0"/>
              <a:t>The visceral organs receive </a:t>
            </a:r>
            <a:r>
              <a:rPr lang="en-US" sz="2400" b="1" dirty="0"/>
              <a:t>dual innervation</a:t>
            </a:r>
            <a:r>
              <a:rPr lang="en-US" sz="2400" dirty="0"/>
              <a:t>.  They are signaled by both subdivisions of the ANS.  </a:t>
            </a:r>
          </a:p>
          <a:p>
            <a:pPr marL="36576" indent="0">
              <a:buNone/>
              <a:defRPr/>
            </a:pPr>
            <a:endParaRPr lang="en-US" sz="2400" dirty="0"/>
          </a:p>
          <a:p>
            <a:pPr marL="36576" indent="0">
              <a:buNone/>
              <a:defRPr/>
            </a:pPr>
            <a:r>
              <a:rPr lang="en-US" sz="2400" dirty="0"/>
              <a:t>Usually both subdivisions are active in controlling the activity of an internal organ.  This ongoing activity is called sympathetic or parasympathetic tone activity.</a:t>
            </a:r>
          </a:p>
        </p:txBody>
      </p:sp>
      <p:sp>
        <p:nvSpPr>
          <p:cNvPr id="16282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36818B81-A27B-AC46-BF5C-DD6D9C43BA8C}" type="slidenum">
              <a:rPr lang="en-US" altLang="en-US" sz="1200">
                <a:solidFill>
                  <a:srgbClr val="898989"/>
                </a:solidFill>
              </a:rPr>
              <a:pPr/>
              <a:t>4</a:t>
            </a:fld>
            <a:endParaRPr lang="en-US" altLang="en-US" sz="1200">
              <a:solidFill>
                <a:srgbClr val="898989"/>
              </a:solidFill>
            </a:endParaRPr>
          </a:p>
        </p:txBody>
      </p:sp>
      <p:pic>
        <p:nvPicPr>
          <p:cNvPr id="162821" name="Picture 4"/>
          <p:cNvPicPr>
            <a:picLocks noChangeAspect="1" noChangeArrowheads="1"/>
          </p:cNvPicPr>
          <p:nvPr/>
        </p:nvPicPr>
        <p:blipFill>
          <a:blip r:embed="rId3">
            <a:lum bright="-22000" contrast="34000"/>
            <a:extLst>
              <a:ext uri="{28A0092B-C50C-407E-A947-70E740481C1C}">
                <a14:useLocalDpi xmlns:a14="http://schemas.microsoft.com/office/drawing/2010/main" val="0"/>
              </a:ext>
            </a:extLst>
          </a:blip>
          <a:srcRect/>
          <a:stretch>
            <a:fillRect/>
          </a:stretch>
        </p:blipFill>
        <p:spPr bwMode="auto">
          <a:xfrm>
            <a:off x="6831105" y="1676400"/>
            <a:ext cx="4196379" cy="4786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349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altLang="en-US" sz="3600">
                <a:latin typeface="Calibri" charset="0"/>
                <a:ea typeface="ＭＳ Ｐゴシック" charset="-128"/>
              </a:rPr>
              <a:t>Autonomic Nervous System – Sympathetic Division Physiology</a:t>
            </a:r>
          </a:p>
        </p:txBody>
      </p:sp>
      <p:sp>
        <p:nvSpPr>
          <p:cNvPr id="164866" name="Content Placeholder 2"/>
          <p:cNvSpPr>
            <a:spLocks noGrp="1"/>
          </p:cNvSpPr>
          <p:nvPr>
            <p:ph idx="1"/>
          </p:nvPr>
        </p:nvSpPr>
        <p:spPr>
          <a:xfrm>
            <a:off x="1673226" y="1600201"/>
            <a:ext cx="4422775" cy="4525963"/>
          </a:xfrm>
        </p:spPr>
        <p:txBody>
          <a:bodyPr/>
          <a:lstStyle/>
          <a:p>
            <a:pPr eaLnBrk="1" hangingPunct="1"/>
            <a:r>
              <a:rPr lang="en-US" altLang="en-US">
                <a:latin typeface="Calibri" charset="0"/>
                <a:ea typeface="ＭＳ Ｐゴシック" charset="-128"/>
              </a:rPr>
              <a:t>Fight or Flight response:</a:t>
            </a:r>
          </a:p>
          <a:p>
            <a:pPr lvl="1" eaLnBrk="1" hangingPunct="1"/>
            <a:r>
              <a:rPr lang="en-US" altLang="en-US">
                <a:latin typeface="Helvetica" charset="0"/>
                <a:ea typeface="ＭＳ Ｐゴシック" charset="-128"/>
              </a:rPr>
              <a:t>pupils of the eye dilate</a:t>
            </a:r>
          </a:p>
          <a:p>
            <a:pPr lvl="1" eaLnBrk="1" hangingPunct="1"/>
            <a:r>
              <a:rPr lang="en-US" altLang="en-US">
                <a:latin typeface="Helvetica" charset="0"/>
                <a:ea typeface="ＭＳ Ｐゴシック" charset="-128"/>
              </a:rPr>
              <a:t>sweating is promoted – galvanic skin response</a:t>
            </a:r>
          </a:p>
          <a:p>
            <a:pPr lvl="1" eaLnBrk="1" hangingPunct="1"/>
            <a:r>
              <a:rPr lang="en-US" altLang="en-US">
                <a:latin typeface="Helvetica" charset="0"/>
                <a:ea typeface="ＭＳ Ｐゴシック" charset="-128"/>
              </a:rPr>
              <a:t>heart rate increase</a:t>
            </a:r>
          </a:p>
          <a:p>
            <a:pPr lvl="1" eaLnBrk="1" hangingPunct="1"/>
            <a:r>
              <a:rPr lang="en-US" altLang="en-US">
                <a:latin typeface="Helvetica" charset="0"/>
                <a:ea typeface="ＭＳ Ｐゴシック" charset="-128"/>
              </a:rPr>
              <a:t>bronchioles dilate</a:t>
            </a:r>
          </a:p>
          <a:p>
            <a:pPr lvl="1" eaLnBrk="1" hangingPunct="1"/>
            <a:r>
              <a:rPr lang="en-US" altLang="en-US">
                <a:latin typeface="Helvetica" charset="0"/>
                <a:ea typeface="ＭＳ Ｐゴシック" charset="-128"/>
              </a:rPr>
              <a:t>motility for digestion is inhibited</a:t>
            </a:r>
          </a:p>
          <a:p>
            <a:pPr lvl="1" eaLnBrk="1" hangingPunct="1"/>
            <a:r>
              <a:rPr lang="en-US" altLang="en-US">
                <a:latin typeface="Helvetica" charset="0"/>
                <a:ea typeface="ＭＳ Ｐゴシック" charset="-128"/>
              </a:rPr>
              <a:t>liver: conversion of glycogen into glucose</a:t>
            </a:r>
          </a:p>
          <a:p>
            <a:pPr lvl="1" eaLnBrk="1" hangingPunct="1"/>
            <a:r>
              <a:rPr lang="en-US" altLang="en-US">
                <a:latin typeface="Helvetica" charset="0"/>
                <a:ea typeface="ＭＳ Ｐゴシック" charset="-128"/>
              </a:rPr>
              <a:t>urination is inhibited</a:t>
            </a:r>
          </a:p>
          <a:p>
            <a:pPr eaLnBrk="1" hangingPunct="1"/>
            <a:endParaRPr lang="en-US" altLang="en-US">
              <a:latin typeface="Calibri" charset="0"/>
              <a:ea typeface="ＭＳ Ｐゴシック" charset="-128"/>
            </a:endParaRPr>
          </a:p>
        </p:txBody>
      </p:sp>
      <p:pic>
        <p:nvPicPr>
          <p:cNvPr id="164867"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48388" y="2435225"/>
            <a:ext cx="43751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254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normAutofit/>
          </a:bodyPr>
          <a:lstStyle/>
          <a:p>
            <a:pPr eaLnBrk="1" hangingPunct="1">
              <a:defRPr/>
            </a:pPr>
            <a:r>
              <a:rPr lang="en-US" altLang="en-US" sz="3600">
                <a:latin typeface="Calibri" charset="0"/>
                <a:ea typeface="ＭＳ Ｐゴシック" charset="-128"/>
              </a:rPr>
              <a:t>Autonomic Nervous System – Parasympathetic Division Physiology</a:t>
            </a:r>
          </a:p>
        </p:txBody>
      </p:sp>
      <p:sp>
        <p:nvSpPr>
          <p:cNvPr id="166914" name="Content Placeholder 2"/>
          <p:cNvSpPr>
            <a:spLocks noGrp="1"/>
          </p:cNvSpPr>
          <p:nvPr>
            <p:ph idx="1"/>
          </p:nvPr>
        </p:nvSpPr>
        <p:spPr/>
        <p:txBody>
          <a:bodyPr/>
          <a:lstStyle/>
          <a:p>
            <a:pPr eaLnBrk="1" hangingPunct="1"/>
            <a:r>
              <a:rPr lang="en-US" altLang="en-US">
                <a:latin typeface="Calibri" charset="0"/>
                <a:ea typeface="ＭＳ Ｐゴシック" charset="-128"/>
              </a:rPr>
              <a:t>Dominant during rest</a:t>
            </a:r>
          </a:p>
          <a:p>
            <a:pPr eaLnBrk="1" hangingPunct="1"/>
            <a:r>
              <a:rPr lang="en-US" altLang="en-US">
                <a:latin typeface="Calibri" charset="0"/>
                <a:ea typeface="ＭＳ Ｐゴシック" charset="-128"/>
              </a:rPr>
              <a:t>Promotes:</a:t>
            </a:r>
          </a:p>
          <a:p>
            <a:pPr lvl="1" eaLnBrk="1" hangingPunct="1"/>
            <a:r>
              <a:rPr lang="en-US" altLang="en-US">
                <a:latin typeface="Calibri" charset="0"/>
                <a:ea typeface="ＭＳ Ｐゴシック" charset="-128"/>
              </a:rPr>
              <a:t>Digestion</a:t>
            </a:r>
          </a:p>
          <a:p>
            <a:pPr lvl="1" eaLnBrk="1" hangingPunct="1"/>
            <a:r>
              <a:rPr lang="en-US" altLang="en-US">
                <a:latin typeface="Calibri" charset="0"/>
                <a:ea typeface="ＭＳ Ｐゴシック" charset="-128"/>
              </a:rPr>
              <a:t>Decrease in heart rate</a:t>
            </a:r>
          </a:p>
          <a:p>
            <a:pPr lvl="1" eaLnBrk="1" hangingPunct="1"/>
            <a:r>
              <a:rPr lang="en-US" altLang="en-US">
                <a:latin typeface="Calibri" charset="0"/>
                <a:ea typeface="ＭＳ Ｐゴシック" charset="-128"/>
              </a:rPr>
              <a:t>Decrease in bronchiole size</a:t>
            </a:r>
          </a:p>
          <a:p>
            <a:pPr lvl="1" eaLnBrk="1" hangingPunct="1"/>
            <a:r>
              <a:rPr lang="en-US" altLang="en-US">
                <a:latin typeface="Calibri" charset="0"/>
                <a:ea typeface="ＭＳ Ｐゴシック" charset="-128"/>
              </a:rPr>
              <a:t>Other maintenance activities:</a:t>
            </a:r>
          </a:p>
          <a:p>
            <a:pPr lvl="2" eaLnBrk="1" hangingPunct="1"/>
            <a:r>
              <a:rPr lang="en-US" altLang="en-US">
                <a:latin typeface="Calibri" charset="0"/>
                <a:ea typeface="ＭＳ Ｐゴシック" charset="-128"/>
              </a:rPr>
              <a:t>Defecation</a:t>
            </a:r>
          </a:p>
          <a:p>
            <a:pPr lvl="2" eaLnBrk="1" hangingPunct="1"/>
            <a:r>
              <a:rPr lang="en-US" altLang="en-US">
                <a:latin typeface="Calibri" charset="0"/>
                <a:ea typeface="ＭＳ Ｐゴシック" charset="-128"/>
              </a:rPr>
              <a:t>Micturition</a:t>
            </a:r>
          </a:p>
        </p:txBody>
      </p:sp>
      <p:pic>
        <p:nvPicPr>
          <p:cNvPr id="16691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84989" y="2300289"/>
            <a:ext cx="3722687"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3627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p:cNvSpPr>
            <a:spLocks noGrp="1" noChangeArrowheads="1"/>
          </p:cNvSpPr>
          <p:nvPr>
            <p:ph type="title"/>
          </p:nvPr>
        </p:nvSpPr>
        <p:spPr>
          <a:xfrm>
            <a:off x="215153" y="152400"/>
            <a:ext cx="10951285" cy="1143000"/>
          </a:xfrm>
        </p:spPr>
        <p:txBody>
          <a:bodyPr>
            <a:normAutofit fontScale="90000"/>
          </a:bodyPr>
          <a:lstStyle/>
          <a:p>
            <a:pPr eaLnBrk="1" hangingPunct="1"/>
            <a:r>
              <a:rPr lang="en-US" sz="4400" dirty="0">
                <a:latin typeface="Helvetica" pitchFamily="1" charset="0"/>
              </a:rPr>
              <a:t>General Anatomy of the Autonomic Nervous System – Sympathetic System</a:t>
            </a:r>
            <a:endParaRPr lang="en-US" altLang="en-US" dirty="0">
              <a:latin typeface="Helvetica" charset="0"/>
              <a:ea typeface="ＭＳ Ｐゴシック" charset="-128"/>
            </a:endParaRPr>
          </a:p>
        </p:txBody>
      </p:sp>
      <p:sp>
        <p:nvSpPr>
          <p:cNvPr id="1027" name="Rectangle 3"/>
          <p:cNvSpPr>
            <a:spLocks noGrp="1" noChangeArrowheads="1"/>
          </p:cNvSpPr>
          <p:nvPr>
            <p:ph idx="1"/>
          </p:nvPr>
        </p:nvSpPr>
        <p:spPr>
          <a:xfrm>
            <a:off x="215153" y="2140772"/>
            <a:ext cx="5060111" cy="4412428"/>
          </a:xfrm>
        </p:spPr>
        <p:txBody>
          <a:bodyPr>
            <a:normAutofit/>
          </a:bodyPr>
          <a:lstStyle/>
          <a:p>
            <a:pPr eaLnBrk="1" hangingPunct="1"/>
            <a:r>
              <a:rPr lang="en-US" altLang="en-US" dirty="0">
                <a:latin typeface="Helvetica" charset="0"/>
                <a:ea typeface="ＭＳ Ｐゴシック" charset="-128"/>
              </a:rPr>
              <a:t>Sympathetic </a:t>
            </a:r>
          </a:p>
          <a:p>
            <a:pPr lvl="1" eaLnBrk="1" hangingPunct="1"/>
            <a:r>
              <a:rPr lang="en-US" altLang="en-US" dirty="0">
                <a:latin typeface="Helvetica" charset="0"/>
                <a:ea typeface="ＭＳ Ｐゴシック" charset="-128"/>
              </a:rPr>
              <a:t>nerve fibers originate from thoracic and lumbar levels of the spinal cord.  </a:t>
            </a:r>
          </a:p>
          <a:p>
            <a:pPr lvl="1" eaLnBrk="1" hangingPunct="1"/>
            <a:r>
              <a:rPr lang="en-US" altLang="en-US" dirty="0">
                <a:latin typeface="Helvetica" charset="0"/>
                <a:ea typeface="ＭＳ Ｐゴシック" charset="-128"/>
              </a:rPr>
              <a:t>preganglionic fibers are short/postganglionic fibers are long</a:t>
            </a:r>
          </a:p>
          <a:p>
            <a:pPr lvl="1" eaLnBrk="1" hangingPunct="1"/>
            <a:r>
              <a:rPr lang="en-US" altLang="en-US" dirty="0">
                <a:latin typeface="Helvetica" charset="0"/>
                <a:ea typeface="ＭＳ Ｐゴシック" charset="-128"/>
              </a:rPr>
              <a:t>sympathetic chain ganglia near spinal cord </a:t>
            </a:r>
          </a:p>
        </p:txBody>
      </p:sp>
      <p:sp>
        <p:nvSpPr>
          <p:cNvPr id="16998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DFB8CD96-1B34-AA45-AB6B-F2B7391954AC}" type="slidenum">
              <a:rPr lang="en-US" altLang="en-US" sz="1200">
                <a:solidFill>
                  <a:srgbClr val="898989"/>
                </a:solidFill>
              </a:rPr>
              <a:pPr/>
              <a:t>7</a:t>
            </a:fld>
            <a:endParaRPr lang="en-US" altLang="en-US" sz="1200">
              <a:solidFill>
                <a:srgbClr val="898989"/>
              </a:solidFill>
            </a:endParaRPr>
          </a:p>
        </p:txBody>
      </p:sp>
      <p:pic>
        <p:nvPicPr>
          <p:cNvPr id="169989" name="Picture 3" descr="15_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4557" y="1295400"/>
            <a:ext cx="4114800" cy="513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9530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idx="1"/>
          </p:nvPr>
        </p:nvSpPr>
        <p:spPr>
          <a:xfrm>
            <a:off x="439272" y="1872989"/>
            <a:ext cx="5434478" cy="3623534"/>
          </a:xfrm>
        </p:spPr>
        <p:txBody>
          <a:bodyPr/>
          <a:lstStyle/>
          <a:p>
            <a:pPr eaLnBrk="1" hangingPunct="1"/>
            <a:r>
              <a:rPr lang="en-US" altLang="en-US" dirty="0">
                <a:latin typeface="Helvetica" charset="0"/>
                <a:ea typeface="ＭＳ Ｐゴシック" charset="-128"/>
              </a:rPr>
              <a:t>Parasympathetic </a:t>
            </a:r>
          </a:p>
          <a:p>
            <a:pPr lvl="1" eaLnBrk="1" hangingPunct="1"/>
            <a:r>
              <a:rPr lang="en-US" altLang="en-US" dirty="0">
                <a:latin typeface="Helvetica" charset="0"/>
                <a:ea typeface="ＭＳ Ｐゴシック" charset="-128"/>
              </a:rPr>
              <a:t>nerve fibers originate from cranial and sacral levels</a:t>
            </a:r>
          </a:p>
          <a:p>
            <a:pPr lvl="1" eaLnBrk="1" hangingPunct="1"/>
            <a:r>
              <a:rPr lang="en-US" altLang="en-US" dirty="0">
                <a:latin typeface="Helvetica" charset="0"/>
                <a:ea typeface="ＭＳ Ｐゴシック" charset="-128"/>
              </a:rPr>
              <a:t>preganglionic fibers are long/postganglionic fibers are short</a:t>
            </a:r>
          </a:p>
          <a:p>
            <a:pPr lvl="1" eaLnBrk="1" hangingPunct="1"/>
            <a:r>
              <a:rPr lang="en-US" altLang="en-US" dirty="0">
                <a:latin typeface="Helvetica" charset="0"/>
                <a:ea typeface="ＭＳ Ｐゴシック" charset="-128"/>
              </a:rPr>
              <a:t>terminal ganglia near effector organs.</a:t>
            </a:r>
          </a:p>
        </p:txBody>
      </p:sp>
      <p:sp>
        <p:nvSpPr>
          <p:cNvPr id="17203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a:solidFill>
                  <a:schemeClr val="bg1"/>
                </a:solidFill>
                <a:latin typeface="Times" charset="0"/>
                <a:ea typeface="ＭＳ Ｐゴシック" charset="-128"/>
              </a:defRPr>
            </a:lvl1pPr>
            <a:lvl2pPr marL="742950" indent="-285750">
              <a:defRPr sz="800">
                <a:solidFill>
                  <a:schemeClr val="bg1"/>
                </a:solidFill>
                <a:latin typeface="Times" charset="0"/>
                <a:ea typeface="ＭＳ Ｐゴシック" charset="-128"/>
              </a:defRPr>
            </a:lvl2pPr>
            <a:lvl3pPr marL="1143000" indent="-228600">
              <a:defRPr sz="800">
                <a:solidFill>
                  <a:schemeClr val="bg1"/>
                </a:solidFill>
                <a:latin typeface="Times" charset="0"/>
                <a:ea typeface="ＭＳ Ｐゴシック" charset="-128"/>
              </a:defRPr>
            </a:lvl3pPr>
            <a:lvl4pPr marL="1600200" indent="-228600">
              <a:defRPr sz="800">
                <a:solidFill>
                  <a:schemeClr val="bg1"/>
                </a:solidFill>
                <a:latin typeface="Times" charset="0"/>
                <a:ea typeface="ＭＳ Ｐゴシック" charset="-128"/>
              </a:defRPr>
            </a:lvl4pPr>
            <a:lvl5pPr marL="2057400" indent="-228600">
              <a:defRPr sz="800">
                <a:solidFill>
                  <a:schemeClr val="bg1"/>
                </a:solidFill>
                <a:latin typeface="Times" charset="0"/>
                <a:ea typeface="ＭＳ Ｐゴシック" charset="-128"/>
              </a:defRPr>
            </a:lvl5pPr>
            <a:lvl6pPr marL="2514600" indent="-228600" eaLnBrk="0" fontAlgn="base" hangingPunct="0">
              <a:spcBef>
                <a:spcPct val="0"/>
              </a:spcBef>
              <a:spcAft>
                <a:spcPct val="0"/>
              </a:spcAft>
              <a:defRPr sz="800">
                <a:solidFill>
                  <a:schemeClr val="bg1"/>
                </a:solidFill>
                <a:latin typeface="Times" charset="0"/>
                <a:ea typeface="ＭＳ Ｐゴシック" charset="-128"/>
              </a:defRPr>
            </a:lvl6pPr>
            <a:lvl7pPr marL="2971800" indent="-228600" eaLnBrk="0" fontAlgn="base" hangingPunct="0">
              <a:spcBef>
                <a:spcPct val="0"/>
              </a:spcBef>
              <a:spcAft>
                <a:spcPct val="0"/>
              </a:spcAft>
              <a:defRPr sz="800">
                <a:solidFill>
                  <a:schemeClr val="bg1"/>
                </a:solidFill>
                <a:latin typeface="Times" charset="0"/>
                <a:ea typeface="ＭＳ Ｐゴシック" charset="-128"/>
              </a:defRPr>
            </a:lvl7pPr>
            <a:lvl8pPr marL="3429000" indent="-228600" eaLnBrk="0" fontAlgn="base" hangingPunct="0">
              <a:spcBef>
                <a:spcPct val="0"/>
              </a:spcBef>
              <a:spcAft>
                <a:spcPct val="0"/>
              </a:spcAft>
              <a:defRPr sz="800">
                <a:solidFill>
                  <a:schemeClr val="bg1"/>
                </a:solidFill>
                <a:latin typeface="Times" charset="0"/>
                <a:ea typeface="ＭＳ Ｐゴシック" charset="-128"/>
              </a:defRPr>
            </a:lvl8pPr>
            <a:lvl9pPr marL="3886200" indent="-228600" eaLnBrk="0" fontAlgn="base" hangingPunct="0">
              <a:spcBef>
                <a:spcPct val="0"/>
              </a:spcBef>
              <a:spcAft>
                <a:spcPct val="0"/>
              </a:spcAft>
              <a:defRPr sz="800">
                <a:solidFill>
                  <a:schemeClr val="bg1"/>
                </a:solidFill>
                <a:latin typeface="Times" charset="0"/>
                <a:ea typeface="ＭＳ Ｐゴシック" charset="-128"/>
              </a:defRPr>
            </a:lvl9pPr>
          </a:lstStyle>
          <a:p>
            <a:fld id="{13A08A22-0017-0D4C-A783-6456054AB3C4}" type="slidenum">
              <a:rPr lang="en-US" altLang="en-US" sz="1200">
                <a:solidFill>
                  <a:srgbClr val="898989"/>
                </a:solidFill>
              </a:rPr>
              <a:pPr/>
              <a:t>8</a:t>
            </a:fld>
            <a:endParaRPr lang="en-US" altLang="en-US" sz="1200">
              <a:solidFill>
                <a:srgbClr val="898989"/>
              </a:solidFill>
            </a:endParaRPr>
          </a:p>
        </p:txBody>
      </p:sp>
      <p:pic>
        <p:nvPicPr>
          <p:cNvPr id="172037" name="Picture 3" descr="15_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347" y="1418851"/>
            <a:ext cx="4016139" cy="4814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B7E2A83E-5A87-95AF-E6DB-FEF2DB455821}"/>
              </a:ext>
            </a:extLst>
          </p:cNvPr>
          <p:cNvSpPr txBox="1">
            <a:spLocks noChangeArrowheads="1"/>
          </p:cNvSpPr>
          <p:nvPr/>
        </p:nvSpPr>
        <p:spPr>
          <a:xfrm>
            <a:off x="215153" y="152400"/>
            <a:ext cx="10951285" cy="1143000"/>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Helvetica" pitchFamily="1" charset="0"/>
              </a:rPr>
              <a:t>General Anatomy of the Autonomic Nervous System – Parasympathetic System</a:t>
            </a:r>
            <a:endParaRPr lang="en-US" altLang="en-US" dirty="0">
              <a:latin typeface="Helvetica" charset="0"/>
              <a:ea typeface="ＭＳ Ｐゴシック" charset="-128"/>
            </a:endParaRPr>
          </a:p>
        </p:txBody>
      </p:sp>
    </p:spTree>
    <p:extLst>
      <p:ext uri="{BB962C8B-B14F-4D97-AF65-F5344CB8AC3E}">
        <p14:creationId xmlns:p14="http://schemas.microsoft.com/office/powerpoint/2010/main" val="25957320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Title 1"/>
          <p:cNvSpPr>
            <a:spLocks noGrp="1"/>
          </p:cNvSpPr>
          <p:nvPr>
            <p:ph type="title"/>
          </p:nvPr>
        </p:nvSpPr>
        <p:spPr>
          <a:xfrm>
            <a:off x="1981200" y="11113"/>
            <a:ext cx="8229600" cy="1143000"/>
          </a:xfrm>
        </p:spPr>
        <p:txBody>
          <a:bodyPr/>
          <a:lstStyle/>
          <a:p>
            <a:pPr eaLnBrk="1" hangingPunct="1"/>
            <a:r>
              <a:rPr lang="en-US" altLang="en-US">
                <a:latin typeface="Calibri" charset="0"/>
                <a:ea typeface="ＭＳ Ｐゴシック" charset="-128"/>
              </a:rPr>
              <a:t>Autonomic Plexus</a:t>
            </a:r>
          </a:p>
        </p:txBody>
      </p:sp>
      <p:sp>
        <p:nvSpPr>
          <p:cNvPr id="4" name="TextBox 3">
            <a:extLst>
              <a:ext uri="{FF2B5EF4-FFF2-40B4-BE49-F238E27FC236}">
                <a16:creationId xmlns:a16="http://schemas.microsoft.com/office/drawing/2014/main" id="{62B399D0-D1A8-1BA1-77CC-F6E6DD7D9C2D}"/>
              </a:ext>
            </a:extLst>
          </p:cNvPr>
          <p:cNvSpPr txBox="1"/>
          <p:nvPr/>
        </p:nvSpPr>
        <p:spPr>
          <a:xfrm>
            <a:off x="393686" y="1272273"/>
            <a:ext cx="6727875" cy="1477328"/>
          </a:xfrm>
          <a:prstGeom prst="rect">
            <a:avLst/>
          </a:prstGeom>
          <a:noFill/>
        </p:spPr>
        <p:txBody>
          <a:bodyPr wrap="square" rtlCol="0">
            <a:spAutoFit/>
          </a:bodyPr>
          <a:lstStyle/>
          <a:p>
            <a:r>
              <a:rPr lang="en-US" dirty="0"/>
              <a:t>There are several autonomic plexuses each containing both sympathetic and parasympathetic neurons. </a:t>
            </a:r>
          </a:p>
          <a:p>
            <a:endParaRPr lang="en-US" dirty="0"/>
          </a:p>
          <a:p>
            <a:r>
              <a:rPr lang="en-US" b="1" u="sng" dirty="0"/>
              <a:t>Celiac or Solar plexus </a:t>
            </a:r>
            <a:r>
              <a:rPr lang="en-US" dirty="0"/>
              <a:t>– near the celiac trunk. This is the largest and provides innervation to multiple abdominal and pelvic organs</a:t>
            </a:r>
          </a:p>
        </p:txBody>
      </p:sp>
      <p:pic>
        <p:nvPicPr>
          <p:cNvPr id="1026" name="Picture 2" descr="Sympathetic Blocks: Celiac Plexus Nerve Block and Neurolysis | SpringerLink">
            <a:extLst>
              <a:ext uri="{FF2B5EF4-FFF2-40B4-BE49-F238E27FC236}">
                <a16:creationId xmlns:a16="http://schemas.microsoft.com/office/drawing/2014/main" id="{0706D1FE-EC7D-84A1-2C81-E3BC5583F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009" y="1366788"/>
            <a:ext cx="3584587" cy="3652221"/>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3" descr="15_05">
            <a:extLst>
              <a:ext uri="{FF2B5EF4-FFF2-40B4-BE49-F238E27FC236}">
                <a16:creationId xmlns:a16="http://schemas.microsoft.com/office/drawing/2014/main" id="{353ED8E5-3EC3-E6C8-5BD2-8DD13FC5FA2E}"/>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t="21758" b="21758"/>
          <a:stretch>
            <a:fillRect/>
          </a:stretch>
        </p:blipFill>
        <p:spPr>
          <a:xfrm>
            <a:off x="548639" y="2979869"/>
            <a:ext cx="6224653" cy="3552096"/>
          </a:xfrm>
          <a:noFill/>
        </p:spPr>
      </p:pic>
    </p:spTree>
    <p:extLst>
      <p:ext uri="{BB962C8B-B14F-4D97-AF65-F5344CB8AC3E}">
        <p14:creationId xmlns:p14="http://schemas.microsoft.com/office/powerpoint/2010/main" val="170739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3" descr="15_01"/>
          <p:cNvPicPr>
            <a:picLocks noChangeAspect="1" noChangeArrowheads="1"/>
          </p:cNvPicPr>
          <p:nvPr/>
        </p:nvPicPr>
        <p:blipFill>
          <a:blip r:embed="rId3">
            <a:extLst>
              <a:ext uri="{28A0092B-C50C-407E-A947-70E740481C1C}">
                <a14:useLocalDpi xmlns:a14="http://schemas.microsoft.com/office/drawing/2010/main" val="0"/>
              </a:ext>
            </a:extLst>
          </a:blip>
          <a:srcRect t="23392" b="5412"/>
          <a:stretch>
            <a:fillRect/>
          </a:stretch>
        </p:blipFill>
        <p:spPr bwMode="auto">
          <a:xfrm>
            <a:off x="2280621" y="1405157"/>
            <a:ext cx="5802613" cy="4838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1AB626C2-2F84-5D4B-A6FE-5C69A2399A06}"/>
              </a:ext>
            </a:extLst>
          </p:cNvPr>
          <p:cNvSpPr txBox="1">
            <a:spLocks noChangeArrowheads="1"/>
          </p:cNvSpPr>
          <p:nvPr/>
        </p:nvSpPr>
        <p:spPr>
          <a:xfrm>
            <a:off x="215153" y="152400"/>
            <a:ext cx="10951285" cy="1143000"/>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Helvetica" pitchFamily="1" charset="0"/>
              </a:rPr>
              <a:t>General Anatomy of the Autonomic Nervous System – Neurotransmitters</a:t>
            </a:r>
            <a:endParaRPr lang="en-US" altLang="en-US" dirty="0">
              <a:latin typeface="Helvetica" charset="0"/>
              <a:ea typeface="ＭＳ Ｐゴシック" charset="-128"/>
            </a:endParaRPr>
          </a:p>
        </p:txBody>
      </p:sp>
    </p:spTree>
    <p:extLst>
      <p:ext uri="{BB962C8B-B14F-4D97-AF65-F5344CB8AC3E}">
        <p14:creationId xmlns:p14="http://schemas.microsoft.com/office/powerpoint/2010/main" val="1194085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526</Words>
  <Application>Microsoft Macintosh PowerPoint</Application>
  <PresentationFormat>Widescreen</PresentationFormat>
  <Paragraphs>115</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-apple-system</vt:lpstr>
      <vt:lpstr>Arial</vt:lpstr>
      <vt:lpstr>Calibri</vt:lpstr>
      <vt:lpstr>Calibri Light</vt:lpstr>
      <vt:lpstr>Georgia</vt:lpstr>
      <vt:lpstr>Helvetica</vt:lpstr>
      <vt:lpstr>Times</vt:lpstr>
      <vt:lpstr>Office Theme</vt:lpstr>
      <vt:lpstr>PowerPoint Presentation</vt:lpstr>
      <vt:lpstr>PowerPoint Presentation</vt:lpstr>
      <vt:lpstr>Autonomic Nervous System Overview</vt:lpstr>
      <vt:lpstr>General Anatomy of the Autonomic Nervous System</vt:lpstr>
      <vt:lpstr>Autonomic Nervous System – Sympathetic Division Physiology</vt:lpstr>
      <vt:lpstr>Autonomic Nervous System – Parasympathetic Division Physiology</vt:lpstr>
      <vt:lpstr>General Anatomy of the Autonomic Nervous System – Sympathetic System</vt:lpstr>
      <vt:lpstr>PowerPoint Presentation</vt:lpstr>
      <vt:lpstr>Autonomic Plexus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Liz Csikar</dc:creator>
  <cp:lastModifiedBy>arezou.mobramaein@cgc.edu</cp:lastModifiedBy>
  <cp:revision>4</cp:revision>
  <dcterms:created xsi:type="dcterms:W3CDTF">2016-01-25T20:59:26Z</dcterms:created>
  <dcterms:modified xsi:type="dcterms:W3CDTF">2026-02-18T05:07:29Z</dcterms:modified>
</cp:coreProperties>
</file>